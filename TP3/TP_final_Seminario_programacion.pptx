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7" r:id="rId4"/>
    <p:sldId id="258" r:id="rId5"/>
    <p:sldId id="268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167BE-E3AE-4464-AF9A-166C597769E2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7445A-1E50-484B-95BB-C22C56705CC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052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8F386-1C5F-49D5-874B-0B8EDC0DC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A320CC-5833-40CD-A2BE-61B76C483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B49CEC-5F16-490A-B0A8-B8140CF8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00EBC7-7453-477C-B3E0-EE02B43D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93DDDA-22A4-4C05-B29F-56624E69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162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A9B17-D92F-4D24-8A78-E321E714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726C1-5529-4108-AF20-163840735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8EB093-C8BE-4296-8867-6ED146462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6CACB0-795C-41DC-9007-A67390D4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8FDD55-CABE-4FA1-B434-DE253618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062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C66EE-ECEE-455C-A52B-425E1A17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226F51-63E6-4E6C-920D-18D19C842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82D7F-4D37-4259-A2CA-CB681CE2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97C142-530B-40E0-8DB8-E3DC4B827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5C4ECF-EEF3-4820-AF49-C4AA7B8E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966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29725-F5F0-4A6E-9D3C-624AA92B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F5BCC7-7BF9-4950-93FD-5F05182B4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E2FC53-328E-4B15-8A0E-1368E1C7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EFCD4-8D8D-4158-93EE-4A5A9436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232741-3C49-4686-BF1F-745730C2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BC11EB-1A97-4DB7-B43C-ED65E85A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937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B2F39-9A34-4D36-84BC-8A857C56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A32826-B9F5-4470-BB03-01743DE3B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970C66-7D9F-43E0-A94C-38582CEFD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8E3F4D-9ECB-449A-8A21-F7601DD93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C02CC3-60D0-4591-A948-74AE8AE2D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295131-BAE7-48B3-89E5-7D700B45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8522FF-2DB8-4D1B-8F23-F19CDCF2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29B3C4-30F4-4933-BDDA-FF1CB9C3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207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10F60-ED08-4FC2-A351-4B0340EE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6DEEE4-A613-4761-AC35-2224B491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5E274D-5917-454E-88E5-B7DF5821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68ECB-D504-41ED-8BF5-FD21218F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386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3ABD50-C638-475A-B2F3-AD53DEEE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8EDDF6-8777-46A7-87F8-1D134120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CC1335-B94A-4631-85E3-36094A69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586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2FD93-DCB0-4CF6-A0F1-9F2D2F70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4442F-23C5-4021-B11E-74F085A7E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7B6E6C-4541-4351-8621-68B8BC0AC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4B3102-0CA3-4351-B524-3BD1C96D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A9A74C-48DC-4BC1-A3A4-EE482B95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AB76E-50A7-4E40-BA7F-110FF9C8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189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2D57F-752D-44D5-AC36-DB797DFB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4456C6-5959-42FB-985E-93F89BD98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574762-2509-4ED7-8475-B92E5253E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F0FF-4393-4FDF-80B7-017AE0EC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DBC2F4-8F2E-4ACF-8746-9E301E5A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259AC-5402-4375-AFBC-80CFE22E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620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3224B-3DB0-46A9-8D7F-7BE4EC16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80A00F-53C5-43EB-B937-A5E3040E6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8FD66-8469-48C9-A76F-B1034C0A6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B04969-B5BA-4CC0-B175-BB138754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D4B36-5C48-44FB-8C47-15F0A158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071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4B523D-D3D8-483C-90E4-6A91F1AE5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32B968-9E07-4A31-87CC-8057725FE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1DB91A-BC33-4640-8C60-0111253C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823624-9AFC-4D81-BF29-02251EDC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27C388-0F81-4A32-B4E5-D2ABE04A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2338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10437D5-C91A-8781-BB15-12648BEEBE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4812" y="1588"/>
            <a:ext cx="7923228" cy="4411266"/>
          </a:xfrm>
          <a:custGeom>
            <a:avLst/>
            <a:gdLst>
              <a:gd name="connsiteX0" fmla="*/ 364186 w 7923228"/>
              <a:gd name="connsiteY0" fmla="*/ 0 h 4411266"/>
              <a:gd name="connsiteX1" fmla="*/ 7559042 w 7923228"/>
              <a:gd name="connsiteY1" fmla="*/ 0 h 4411266"/>
              <a:gd name="connsiteX2" fmla="*/ 7863720 w 7923228"/>
              <a:gd name="connsiteY2" fmla="*/ 304800 h 4411266"/>
              <a:gd name="connsiteX3" fmla="*/ 7863720 w 7923228"/>
              <a:gd name="connsiteY3" fmla="*/ 592138 h 4411266"/>
              <a:gd name="connsiteX4" fmla="*/ 4106019 w 7923228"/>
              <a:gd name="connsiteY4" fmla="*/ 4352926 h 4411266"/>
              <a:gd name="connsiteX5" fmla="*/ 3818796 w 7923228"/>
              <a:gd name="connsiteY5" fmla="*/ 4352926 h 4411266"/>
              <a:gd name="connsiteX6" fmla="*/ 59508 w 7923228"/>
              <a:gd name="connsiteY6" fmla="*/ 592138 h 4411266"/>
              <a:gd name="connsiteX7" fmla="*/ 59508 w 7923228"/>
              <a:gd name="connsiteY7" fmla="*/ 304800 h 441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3228" h="4411266">
                <a:moveTo>
                  <a:pt x="364186" y="0"/>
                </a:moveTo>
                <a:cubicBezTo>
                  <a:pt x="364186" y="0"/>
                  <a:pt x="364186" y="0"/>
                  <a:pt x="7559042" y="0"/>
                </a:cubicBezTo>
                <a:cubicBezTo>
                  <a:pt x="7559042" y="0"/>
                  <a:pt x="7559042" y="0"/>
                  <a:pt x="7863720" y="304800"/>
                </a:cubicBezTo>
                <a:cubicBezTo>
                  <a:pt x="7943064" y="384175"/>
                  <a:pt x="7943064" y="512763"/>
                  <a:pt x="7863720" y="592138"/>
                </a:cubicBezTo>
                <a:cubicBezTo>
                  <a:pt x="7863720" y="592138"/>
                  <a:pt x="7863720" y="592138"/>
                  <a:pt x="4106019" y="4352926"/>
                </a:cubicBezTo>
                <a:cubicBezTo>
                  <a:pt x="4026676" y="4430713"/>
                  <a:pt x="3898139" y="4430713"/>
                  <a:pt x="3818796" y="4352926"/>
                </a:cubicBezTo>
                <a:cubicBezTo>
                  <a:pt x="3818796" y="4352926"/>
                  <a:pt x="3818796" y="4352926"/>
                  <a:pt x="59508" y="592138"/>
                </a:cubicBezTo>
                <a:cubicBezTo>
                  <a:pt x="-19836" y="512763"/>
                  <a:pt x="-19836" y="384175"/>
                  <a:pt x="59508" y="30480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8FF24CF-860F-12B0-1778-4D151BF04B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0953" y="2529407"/>
            <a:ext cx="1176850" cy="1179474"/>
          </a:xfrm>
          <a:custGeom>
            <a:avLst/>
            <a:gdLst>
              <a:gd name="connsiteX0" fmla="*/ 588425 w 1176850"/>
              <a:gd name="connsiteY0" fmla="*/ 0 h 1179474"/>
              <a:gd name="connsiteX1" fmla="*/ 1176850 w 1176850"/>
              <a:gd name="connsiteY1" fmla="*/ 589737 h 1179474"/>
              <a:gd name="connsiteX2" fmla="*/ 588425 w 1176850"/>
              <a:gd name="connsiteY2" fmla="*/ 1179474 h 1179474"/>
              <a:gd name="connsiteX3" fmla="*/ 0 w 1176850"/>
              <a:gd name="connsiteY3" fmla="*/ 589737 h 1179474"/>
              <a:gd name="connsiteX4" fmla="*/ 588425 w 1176850"/>
              <a:gd name="connsiteY4" fmla="*/ 0 h 117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850" h="1179474">
                <a:moveTo>
                  <a:pt x="588425" y="0"/>
                </a:moveTo>
                <a:cubicBezTo>
                  <a:pt x="913403" y="0"/>
                  <a:pt x="1176850" y="264034"/>
                  <a:pt x="1176850" y="589737"/>
                </a:cubicBezTo>
                <a:cubicBezTo>
                  <a:pt x="1176850" y="915440"/>
                  <a:pt x="913403" y="1179474"/>
                  <a:pt x="588425" y="1179474"/>
                </a:cubicBezTo>
                <a:cubicBezTo>
                  <a:pt x="263447" y="1179474"/>
                  <a:pt x="0" y="915440"/>
                  <a:pt x="0" y="589737"/>
                </a:cubicBezTo>
                <a:cubicBezTo>
                  <a:pt x="0" y="264034"/>
                  <a:pt x="263447" y="0"/>
                  <a:pt x="58842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12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031C53-9549-4521-938F-B28EB0D4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E58E12-2C81-4576-851D-08D29BE20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1A2D9E-6620-41CC-9C62-A32F6948C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14DC2-195A-4CFA-A4F5-72114CE69064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7EA88-4960-406B-928D-EADB1C851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69CB1C-2256-4C4D-80D1-DD68F4872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52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hyperlink" Target="https://proyectos.inei.gob.pe/microdatos/" TargetMode="External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2C5CD4C-318D-475F-A6EC-B1E3AF9C03C1}"/>
              </a:ext>
            </a:extLst>
          </p:cNvPr>
          <p:cNvSpPr/>
          <p:nvPr/>
        </p:nvSpPr>
        <p:spPr>
          <a:xfrm>
            <a:off x="0" y="0"/>
            <a:ext cx="407227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05914" y="2700797"/>
            <a:ext cx="6574466" cy="1028744"/>
          </a:xfrm>
        </p:spPr>
        <p:txBody>
          <a:bodyPr>
            <a:noAutofit/>
          </a:bodyPr>
          <a:lstStyle/>
          <a:p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POBREZA ENERGÉTICA EN EL PERÚ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9F56883-4923-494D-B092-C8B5A9C1E546}"/>
              </a:ext>
            </a:extLst>
          </p:cNvPr>
          <p:cNvSpPr txBox="1">
            <a:spLocks/>
          </p:cNvSpPr>
          <p:nvPr/>
        </p:nvSpPr>
        <p:spPr>
          <a:xfrm>
            <a:off x="5681332" y="4916476"/>
            <a:ext cx="4876800" cy="10398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Autores: 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Gonzalo Pasiche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Luciano Altamirano</a:t>
            </a:r>
          </a:p>
          <a:p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Profesora: 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Noelia Romero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A56DA0-F451-4B86-ACF9-C36D913885A8}"/>
              </a:ext>
            </a:extLst>
          </p:cNvPr>
          <p:cNvSpPr txBox="1">
            <a:spLocks/>
          </p:cNvSpPr>
          <p:nvPr/>
        </p:nvSpPr>
        <p:spPr>
          <a:xfrm>
            <a:off x="7612911" y="5956336"/>
            <a:ext cx="1038447" cy="5623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D53E388-69F9-42A1-8132-5B932A8AC1C2}"/>
              </a:ext>
            </a:extLst>
          </p:cNvPr>
          <p:cNvSpPr txBox="1">
            <a:spLocks/>
          </p:cNvSpPr>
          <p:nvPr/>
        </p:nvSpPr>
        <p:spPr>
          <a:xfrm>
            <a:off x="147084" y="4031352"/>
            <a:ext cx="3778102" cy="18617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 DE BUENOS AIRES</a:t>
            </a:r>
          </a:p>
          <a:p>
            <a:endParaRPr lang="es-E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 de Ciencias Económicas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DC57820-F706-45CC-AFD9-278D2322C904}"/>
              </a:ext>
            </a:extLst>
          </p:cNvPr>
          <p:cNvSpPr txBox="1">
            <a:spLocks/>
          </p:cNvSpPr>
          <p:nvPr/>
        </p:nvSpPr>
        <p:spPr>
          <a:xfrm>
            <a:off x="5706140" y="1054723"/>
            <a:ext cx="4876800" cy="708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 de modelo de aprendizaje no supervisado</a:t>
            </a:r>
          </a:p>
          <a:p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Seminario de Taller de Programación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95DCB4B-90EA-45AC-9966-901AE91D738D}"/>
              </a:ext>
            </a:extLst>
          </p:cNvPr>
          <p:cNvCxnSpPr/>
          <p:nvPr/>
        </p:nvCxnSpPr>
        <p:spPr>
          <a:xfrm>
            <a:off x="4563139" y="2254767"/>
            <a:ext cx="7060019" cy="0"/>
          </a:xfrm>
          <a:prstGeom prst="line">
            <a:avLst/>
          </a:prstGeom>
          <a:ln w="28575">
            <a:solidFill>
              <a:srgbClr val="6E1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254773F-07FA-482F-B865-A51063E62C1E}"/>
              </a:ext>
            </a:extLst>
          </p:cNvPr>
          <p:cNvCxnSpPr/>
          <p:nvPr/>
        </p:nvCxnSpPr>
        <p:spPr>
          <a:xfrm>
            <a:off x="4563138" y="4078091"/>
            <a:ext cx="7060019" cy="0"/>
          </a:xfrm>
          <a:prstGeom prst="line">
            <a:avLst/>
          </a:prstGeom>
          <a:ln w="28575">
            <a:solidFill>
              <a:srgbClr val="6E1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EEA3F073-1668-4F76-BC75-B2894594D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59" y="875882"/>
            <a:ext cx="1645958" cy="195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3CD0A85-C9FC-4813-A5C3-202D820A2EEF}"/>
              </a:ext>
            </a:extLst>
          </p:cNvPr>
          <p:cNvSpPr/>
          <p:nvPr/>
        </p:nvSpPr>
        <p:spPr>
          <a:xfrm>
            <a:off x="1312967" y="1494618"/>
            <a:ext cx="3014778" cy="1010180"/>
          </a:xfrm>
          <a:prstGeom prst="roundRect">
            <a:avLst/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PE" sz="2400" b="1">
                <a:solidFill>
                  <a:srgbClr val="000000"/>
                </a:solidFill>
                <a:latin typeface="Times New Roman"/>
                <a:ea typeface="Aptos" panose="020B0004020202020204"/>
                <a:cs typeface="Times New Roman"/>
              </a:rPr>
              <a:t>¿Qué es la pobreza energética?</a:t>
            </a:r>
            <a:endParaRPr lang="es-PE" sz="24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D1A88D0-AED2-41B3-9F30-20442BC43D39}"/>
              </a:ext>
            </a:extLst>
          </p:cNvPr>
          <p:cNvSpPr/>
          <p:nvPr/>
        </p:nvSpPr>
        <p:spPr>
          <a:xfrm>
            <a:off x="7120270" y="1494618"/>
            <a:ext cx="4278582" cy="791381"/>
          </a:xfrm>
          <a:prstGeom prst="roundRect">
            <a:avLst/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¿Por qué es importante?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DCC1B24-F22B-426E-B64C-B8B5E254C052}"/>
              </a:ext>
            </a:extLst>
          </p:cNvPr>
          <p:cNvSpPr txBox="1"/>
          <p:nvPr/>
        </p:nvSpPr>
        <p:spPr>
          <a:xfrm>
            <a:off x="6804588" y="2579139"/>
            <a:ext cx="4778310" cy="40164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Constituye una medición novedosa en el contexto latinoamericano</a:t>
            </a:r>
          </a:p>
          <a:p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Visibiliza a una población que, en la actualidad, a pesar de sufrir privaciones, no es identificada de forma precisa.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Sirve de insumo base para el diseño de políticas públicas energéticas más eficientes.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Permite evaluar la efectividad de las políticas energéticas en el tiempo.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Fortalece la investigación y la literatura económico-energética.</a:t>
            </a:r>
            <a:endParaRPr lang="es-PE" sz="1700" dirty="0">
              <a:latin typeface="Times New Roman"/>
              <a:cs typeface="Times New Roman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053AD61-B596-4081-BB3B-B9E679A9B9C2}"/>
              </a:ext>
            </a:extLst>
          </p:cNvPr>
          <p:cNvGrpSpPr/>
          <p:nvPr/>
        </p:nvGrpSpPr>
        <p:grpSpPr>
          <a:xfrm>
            <a:off x="-1" y="0"/>
            <a:ext cx="12192001" cy="1084521"/>
            <a:chOff x="-1" y="0"/>
            <a:chExt cx="12192001" cy="1084521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BE25EA2-91D2-447D-A0D0-FF1E4F163AE7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Título 1">
              <a:extLst>
                <a:ext uri="{FF2B5EF4-FFF2-40B4-BE49-F238E27FC236}">
                  <a16:creationId xmlns:a16="http://schemas.microsoft.com/office/drawing/2014/main" id="{B6715AE7-72A6-46FC-88D6-8705CA33A2AE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83110"/>
              <a:ext cx="7556741" cy="78015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E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Marco teórico e importancia</a:t>
              </a:r>
              <a:endParaRPr lang="es-E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98F81BB-B360-4A0A-A2BD-51761ABF1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0AA42E9E-162A-4FAD-AFB6-6A49D4403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045CF476-A615-41B4-996B-401E58A9D759}"/>
              </a:ext>
            </a:extLst>
          </p:cNvPr>
          <p:cNvGrpSpPr/>
          <p:nvPr/>
        </p:nvGrpSpPr>
        <p:grpSpPr>
          <a:xfrm>
            <a:off x="180672" y="3030801"/>
            <a:ext cx="6007955" cy="2849716"/>
            <a:chOff x="180672" y="3030801"/>
            <a:chExt cx="6007955" cy="2849716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CE08C67-1DCD-4BBB-B666-737C8E5AA43D}"/>
                </a:ext>
              </a:extLst>
            </p:cNvPr>
            <p:cNvSpPr txBox="1"/>
            <p:nvPr/>
          </p:nvSpPr>
          <p:spPr>
            <a:xfrm>
              <a:off x="180672" y="3030801"/>
              <a:ext cx="2639684" cy="206210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600" i="1" dirty="0">
                  <a:latin typeface="Times New Roman"/>
                  <a:cs typeface="Times New Roman"/>
                </a:rPr>
                <a:t>“Privación del acceso a servicios modernos de energía, como el uso de combustibles limpios para cocinar como electricidad, gas licuado de petróleo o gas natural, además del acceso de energía eléctrica”</a:t>
              </a:r>
              <a:endParaRPr lang="es-PE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6FEAF700-04B3-45D3-980C-B5BEE3F7812B}"/>
                </a:ext>
              </a:extLst>
            </p:cNvPr>
            <p:cNvSpPr txBox="1"/>
            <p:nvPr/>
          </p:nvSpPr>
          <p:spPr>
            <a:xfrm>
              <a:off x="290659" y="5357297"/>
              <a:ext cx="275230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Nussbaumer</a:t>
              </a:r>
              <a:r>
                <a:rPr lang="es-E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s-E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Bazilian</a:t>
              </a:r>
              <a:r>
                <a:rPr lang="es-E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 Modi (2012) </a:t>
              </a:r>
              <a:endParaRPr lang="es-P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680F6255-20A2-420E-A879-16E9636B39AF}"/>
                </a:ext>
              </a:extLst>
            </p:cNvPr>
            <p:cNvSpPr txBox="1"/>
            <p:nvPr/>
          </p:nvSpPr>
          <p:spPr>
            <a:xfrm>
              <a:off x="3173849" y="3030801"/>
              <a:ext cx="3014778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600" i="1" dirty="0">
                  <a:latin typeface="Times New Roman"/>
                  <a:cs typeface="Times New Roman"/>
                </a:rPr>
                <a:t>“Forma de privación referida a la incapacidad de un hogar para acceder a servicios energéticos adecuados, como iluminación, calefacción, refrigeración, cocción y uso de electrodomésticos, de manera segura y asequible”</a:t>
              </a:r>
              <a:endParaRPr lang="es-PE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1AB2E342-2F01-4391-9FCA-F429DA3865D8}"/>
                </a:ext>
              </a:extLst>
            </p:cNvPr>
            <p:cNvSpPr txBox="1"/>
            <p:nvPr/>
          </p:nvSpPr>
          <p:spPr>
            <a:xfrm>
              <a:off x="3343691" y="5357297"/>
              <a:ext cx="27523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Boardman (1991)</a:t>
              </a:r>
              <a:endParaRPr lang="es-P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639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DBDE5BF-0FB1-44CF-AD62-AC627881FFF4}"/>
              </a:ext>
            </a:extLst>
          </p:cNvPr>
          <p:cNvSpPr/>
          <p:nvPr/>
        </p:nvSpPr>
        <p:spPr>
          <a:xfrm>
            <a:off x="10419907" y="2454740"/>
            <a:ext cx="1371601" cy="383120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No acceso</a:t>
            </a:r>
            <a:endParaRPr lang="es-PE" sz="1400" dirty="0">
              <a:solidFill>
                <a:schemeClr val="tx1"/>
              </a:solidFill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D15D7EE-0D09-4632-9E1D-3DA656BE88F4}"/>
              </a:ext>
            </a:extLst>
          </p:cNvPr>
          <p:cNvGrpSpPr/>
          <p:nvPr/>
        </p:nvGrpSpPr>
        <p:grpSpPr>
          <a:xfrm>
            <a:off x="0" y="0"/>
            <a:ext cx="12192000" cy="1084521"/>
            <a:chOff x="0" y="0"/>
            <a:chExt cx="12192000" cy="108452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54667A6-4E96-4BB9-88A8-692DCC9ADE3D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12C077DD-4EF8-44FC-AC6F-CA700CB56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4B454262-16E7-4978-88A9-B2861C092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sp>
        <p:nvSpPr>
          <p:cNvPr id="38" name="Título 1">
            <a:extLst>
              <a:ext uri="{FF2B5EF4-FFF2-40B4-BE49-F238E27FC236}">
                <a16:creationId xmlns:a16="http://schemas.microsoft.com/office/drawing/2014/main" id="{21B19C38-C430-4676-B62B-D26346921ED7}"/>
              </a:ext>
            </a:extLst>
          </p:cNvPr>
          <p:cNvSpPr txBox="1">
            <a:spLocks/>
          </p:cNvSpPr>
          <p:nvPr/>
        </p:nvSpPr>
        <p:spPr>
          <a:xfrm>
            <a:off x="-108815" y="70458"/>
            <a:ext cx="7556741" cy="7801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Marco teórico e importancia</a:t>
            </a:r>
            <a:endParaRPr lang="es-E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23688ED1-F371-4FB7-8878-39165A480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188" y="3743171"/>
            <a:ext cx="5968470" cy="3044371"/>
          </a:xfrm>
          <a:prstGeom prst="rect">
            <a:avLst/>
          </a:prstGeom>
        </p:spPr>
      </p:pic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875DED1E-82B1-460C-A0B3-EE18D3351F61}"/>
              </a:ext>
            </a:extLst>
          </p:cNvPr>
          <p:cNvSpPr/>
          <p:nvPr/>
        </p:nvSpPr>
        <p:spPr>
          <a:xfrm>
            <a:off x="10456745" y="3106628"/>
            <a:ext cx="1371601" cy="369090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No propiedad</a:t>
            </a:r>
            <a:endParaRPr lang="es-PE" sz="1400" dirty="0">
              <a:solidFill>
                <a:schemeClr val="tx1"/>
              </a:solidFill>
            </a:endParaRPr>
          </a:p>
        </p:txBody>
      </p:sp>
      <p:grpSp>
        <p:nvGrpSpPr>
          <p:cNvPr id="75" name="Grupo 74">
            <a:extLst>
              <a:ext uri="{FF2B5EF4-FFF2-40B4-BE49-F238E27FC236}">
                <a16:creationId xmlns:a16="http://schemas.microsoft.com/office/drawing/2014/main" id="{6244AB88-B63D-45EE-9807-CAAD46D2AA38}"/>
              </a:ext>
            </a:extLst>
          </p:cNvPr>
          <p:cNvGrpSpPr/>
          <p:nvPr/>
        </p:nvGrpSpPr>
        <p:grpSpPr>
          <a:xfrm>
            <a:off x="179583" y="1098384"/>
            <a:ext cx="11463594" cy="2515436"/>
            <a:chOff x="179583" y="1098384"/>
            <a:chExt cx="11463594" cy="2515436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4B3C134C-F0B3-48BD-A11E-B65CDF8F3C08}"/>
                </a:ext>
              </a:extLst>
            </p:cNvPr>
            <p:cNvSpPr/>
            <p:nvPr/>
          </p:nvSpPr>
          <p:spPr>
            <a:xfrm>
              <a:off x="316207" y="2209781"/>
              <a:ext cx="1984400" cy="721748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Sabina </a:t>
              </a:r>
              <a:r>
                <a:rPr lang="es-PE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Alkire</a:t>
              </a:r>
              <a:r>
                <a:rPr lang="es-PE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 y James Foster</a:t>
              </a:r>
              <a:endParaRPr lang="es-PE" dirty="0">
                <a:solidFill>
                  <a:schemeClr val="tx1"/>
                </a:solidFill>
              </a:endParaRP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C2DB8267-8C98-430F-B6C8-68BB80F58BD3}"/>
                </a:ext>
              </a:extLst>
            </p:cNvPr>
            <p:cNvSpPr/>
            <p:nvPr/>
          </p:nvSpPr>
          <p:spPr>
            <a:xfrm>
              <a:off x="8744775" y="1493736"/>
              <a:ext cx="1121963" cy="788820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GLP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GN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Electricidad</a:t>
              </a:r>
              <a:endParaRPr lang="es-PE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76132900-1506-4148-8D4C-707D4107ABCC}"/>
                </a:ext>
              </a:extLst>
            </p:cNvPr>
            <p:cNvSpPr/>
            <p:nvPr/>
          </p:nvSpPr>
          <p:spPr>
            <a:xfrm>
              <a:off x="10568236" y="1572012"/>
              <a:ext cx="1074941" cy="632268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Carbón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Leña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Bosta</a:t>
              </a:r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1A68FFEB-3506-417D-AA0B-FF212ED855C6}"/>
                </a:ext>
              </a:extLst>
            </p:cNvPr>
            <p:cNvSpPr/>
            <p:nvPr/>
          </p:nvSpPr>
          <p:spPr>
            <a:xfrm>
              <a:off x="179583" y="1479891"/>
              <a:ext cx="2257647" cy="474071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Marco teórico base para el diseño de la medición</a:t>
              </a:r>
              <a:endParaRPr lang="es-PE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678C6F0B-274C-4BA6-B4BA-C705ECEF4E61}"/>
                </a:ext>
              </a:extLst>
            </p:cNvPr>
            <p:cNvSpPr/>
            <p:nvPr/>
          </p:nvSpPr>
          <p:spPr>
            <a:xfrm>
              <a:off x="8619957" y="2369088"/>
              <a:ext cx="1371601" cy="495222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Acceso</a:t>
              </a:r>
              <a:endParaRPr lang="es-PE" dirty="0">
                <a:solidFill>
                  <a:schemeClr val="tx1"/>
                </a:solidFill>
              </a:endParaRPr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86FAD647-FA47-4B9C-84BC-59B4621A6B74}"/>
                </a:ext>
              </a:extLst>
            </p:cNvPr>
            <p:cNvSpPr/>
            <p:nvPr/>
          </p:nvSpPr>
          <p:spPr>
            <a:xfrm>
              <a:off x="3922696" y="2142708"/>
              <a:ext cx="1986735" cy="78882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anose="020B0004020202020204"/>
                </a:rPr>
                <a:t>Dimensiones evaluadas</a:t>
              </a:r>
            </a:p>
          </p:txBody>
        </p:sp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C83A6604-C535-446D-8CCA-B783116557D0}"/>
                </a:ext>
              </a:extLst>
            </p:cNvPr>
            <p:cNvSpPr/>
            <p:nvPr/>
          </p:nvSpPr>
          <p:spPr>
            <a:xfrm>
              <a:off x="6764405" y="1657176"/>
              <a:ext cx="1232281" cy="363427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Cocción</a:t>
              </a:r>
              <a:endPara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72072A41-3CF4-4606-A6C1-9117E2FD5D0B}"/>
                </a:ext>
              </a:extLst>
            </p:cNvPr>
            <p:cNvSpPr/>
            <p:nvPr/>
          </p:nvSpPr>
          <p:spPr>
            <a:xfrm>
              <a:off x="6764405" y="2411544"/>
              <a:ext cx="1338720" cy="363427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Iluminación</a:t>
              </a:r>
              <a:endPara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cxnSp>
          <p:nvCxnSpPr>
            <p:cNvPr id="4" name="Conector: angular 3">
              <a:extLst>
                <a:ext uri="{FF2B5EF4-FFF2-40B4-BE49-F238E27FC236}">
                  <a16:creationId xmlns:a16="http://schemas.microsoft.com/office/drawing/2014/main" id="{9F26DEB6-D8CD-413E-99FD-9071F1634B82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 flipV="1">
              <a:off x="5909431" y="1838890"/>
              <a:ext cx="854974" cy="698229"/>
            </a:xfrm>
            <a:prstGeom prst="bentConnector3">
              <a:avLst/>
            </a:prstGeom>
            <a:ln>
              <a:solidFill>
                <a:srgbClr val="6E171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: angular 22">
              <a:extLst>
                <a:ext uri="{FF2B5EF4-FFF2-40B4-BE49-F238E27FC236}">
                  <a16:creationId xmlns:a16="http://schemas.microsoft.com/office/drawing/2014/main" id="{BDD76F72-1816-4CB5-8CB8-CA0626B92A84}"/>
                </a:ext>
              </a:extLst>
            </p:cNvPr>
            <p:cNvCxnSpPr>
              <a:cxnSpLocks/>
              <a:stCxn id="20" idx="3"/>
              <a:endCxn id="22" idx="1"/>
            </p:cNvCxnSpPr>
            <p:nvPr/>
          </p:nvCxnSpPr>
          <p:spPr>
            <a:xfrm>
              <a:off x="5909431" y="2537119"/>
              <a:ext cx="854974" cy="5613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E171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lecha: a la derecha 32">
              <a:extLst>
                <a:ext uri="{FF2B5EF4-FFF2-40B4-BE49-F238E27FC236}">
                  <a16:creationId xmlns:a16="http://schemas.microsoft.com/office/drawing/2014/main" id="{F579513F-B1FD-4E25-908D-709BBC98DF85}"/>
                </a:ext>
              </a:extLst>
            </p:cNvPr>
            <p:cNvSpPr/>
            <p:nvPr/>
          </p:nvSpPr>
          <p:spPr>
            <a:xfrm>
              <a:off x="2972299" y="2241874"/>
              <a:ext cx="351424" cy="622436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549D9D6B-253A-45D5-9E79-FE7DA7B11CEB}"/>
                </a:ext>
              </a:extLst>
            </p:cNvPr>
            <p:cNvSpPr/>
            <p:nvPr/>
          </p:nvSpPr>
          <p:spPr>
            <a:xfrm>
              <a:off x="6687133" y="3056847"/>
              <a:ext cx="1493264" cy="556973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Electrodomésticos</a:t>
              </a:r>
            </a:p>
            <a:p>
              <a:pPr algn="ctr"/>
              <a:r>
                <a:rPr lang="es-PE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Educación</a:t>
              </a:r>
            </a:p>
            <a:p>
              <a:pPr algn="ctr"/>
              <a:r>
                <a:rPr lang="es-PE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Comunicación</a:t>
              </a:r>
              <a:endParaRPr lang="es-PE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E780EFD9-57F2-4B71-AC16-D27A99CAD6E9}"/>
                </a:ext>
              </a:extLst>
            </p:cNvPr>
            <p:cNvSpPr/>
            <p:nvPr/>
          </p:nvSpPr>
          <p:spPr>
            <a:xfrm>
              <a:off x="8619957" y="3177758"/>
              <a:ext cx="1371601" cy="297960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Propiedad</a:t>
              </a:r>
              <a:endParaRPr lang="es-PE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Conector: angular 46">
              <a:extLst>
                <a:ext uri="{FF2B5EF4-FFF2-40B4-BE49-F238E27FC236}">
                  <a16:creationId xmlns:a16="http://schemas.microsoft.com/office/drawing/2014/main" id="{608AADD3-9997-4E8E-A83C-1228853DFAA9}"/>
                </a:ext>
              </a:extLst>
            </p:cNvPr>
            <p:cNvCxnSpPr>
              <a:cxnSpLocks/>
              <a:stCxn id="20" idx="3"/>
              <a:endCxn id="43" idx="1"/>
            </p:cNvCxnSpPr>
            <p:nvPr/>
          </p:nvCxnSpPr>
          <p:spPr>
            <a:xfrm>
              <a:off x="5909431" y="2537119"/>
              <a:ext cx="777702" cy="798215"/>
            </a:xfrm>
            <a:prstGeom prst="bentConnector3">
              <a:avLst>
                <a:gd name="adj1" fmla="val 53528"/>
              </a:avLst>
            </a:prstGeom>
            <a:ln>
              <a:solidFill>
                <a:srgbClr val="6E171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426482AA-D7CC-49FA-9907-7C13BB75C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98358" y="1098384"/>
              <a:ext cx="385819" cy="385819"/>
            </a:xfrm>
            <a:prstGeom prst="ellipse">
              <a:avLst/>
            </a:prstGeom>
          </p:spPr>
        </p:pic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A6919E0A-E919-478C-B601-DAA6E8B91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17774" y="1125143"/>
              <a:ext cx="356666" cy="356666"/>
            </a:xfrm>
            <a:prstGeom prst="ellipse">
              <a:avLst/>
            </a:prstGeom>
          </p:spPr>
        </p:pic>
        <p:sp>
          <p:nvSpPr>
            <p:cNvPr id="63" name="Flecha: a la derecha 62">
              <a:extLst>
                <a:ext uri="{FF2B5EF4-FFF2-40B4-BE49-F238E27FC236}">
                  <a16:creationId xmlns:a16="http://schemas.microsoft.com/office/drawing/2014/main" id="{DDC253CD-0248-4ACB-8D9C-5AFC5914EE20}"/>
                </a:ext>
              </a:extLst>
            </p:cNvPr>
            <p:cNvSpPr/>
            <p:nvPr/>
          </p:nvSpPr>
          <p:spPr>
            <a:xfrm>
              <a:off x="8337101" y="1662681"/>
              <a:ext cx="360128" cy="297960"/>
            </a:xfrm>
            <a:prstGeom prst="rightArrow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4" name="Flecha: a la derecha 63">
              <a:extLst>
                <a:ext uri="{FF2B5EF4-FFF2-40B4-BE49-F238E27FC236}">
                  <a16:creationId xmlns:a16="http://schemas.microsoft.com/office/drawing/2014/main" id="{C04FA8DD-CBB3-4751-8B14-90F1B0A2380D}"/>
                </a:ext>
              </a:extLst>
            </p:cNvPr>
            <p:cNvSpPr/>
            <p:nvPr/>
          </p:nvSpPr>
          <p:spPr>
            <a:xfrm>
              <a:off x="8337101" y="2444277"/>
              <a:ext cx="360128" cy="297960"/>
            </a:xfrm>
            <a:prstGeom prst="rightArrow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5" name="Flecha: a la derecha 64">
              <a:extLst>
                <a:ext uri="{FF2B5EF4-FFF2-40B4-BE49-F238E27FC236}">
                  <a16:creationId xmlns:a16="http://schemas.microsoft.com/office/drawing/2014/main" id="{DB3F0675-5E73-4BAB-AFC3-F7AB0F2D8579}"/>
                </a:ext>
              </a:extLst>
            </p:cNvPr>
            <p:cNvSpPr/>
            <p:nvPr/>
          </p:nvSpPr>
          <p:spPr>
            <a:xfrm>
              <a:off x="8337101" y="3212095"/>
              <a:ext cx="360128" cy="297960"/>
            </a:xfrm>
            <a:prstGeom prst="rightArrow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2721990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3BF2C3D-B551-4587-932E-42723C35FC4A}"/>
              </a:ext>
            </a:extLst>
          </p:cNvPr>
          <p:cNvGrpSpPr/>
          <p:nvPr/>
        </p:nvGrpSpPr>
        <p:grpSpPr>
          <a:xfrm>
            <a:off x="-1" y="0"/>
            <a:ext cx="12192001" cy="1084521"/>
            <a:chOff x="-1" y="0"/>
            <a:chExt cx="12192001" cy="108452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2265D7A-B1C2-492A-941F-0DDB3639BFBB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3F53F998-16F2-495D-BDA0-E1BDD1903908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83110"/>
              <a:ext cx="7824159" cy="78015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E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Detalles de la base e institución</a:t>
              </a:r>
              <a:endParaRPr lang="es-E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CD474DE-F947-49C4-9579-F9E15FE52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626522A-5017-4ED3-8ECB-6DD1FAAB6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8022DB-2A9B-48CA-A795-A62E4197AFD3}"/>
              </a:ext>
            </a:extLst>
          </p:cNvPr>
          <p:cNvSpPr txBox="1"/>
          <p:nvPr/>
        </p:nvSpPr>
        <p:spPr>
          <a:xfrm>
            <a:off x="197737" y="2669582"/>
            <a:ext cx="2494933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i="1" dirty="0">
                <a:latin typeface="Times New Roman"/>
                <a:cs typeface="Times New Roman"/>
              </a:rPr>
              <a:t>Institución encargada (1990) de encargada de dirigir los sistemas de estadística y datos del Perú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i="1" dirty="0">
                <a:latin typeface="Times New Roman"/>
                <a:cs typeface="Times New Roman"/>
              </a:rPr>
              <a:t>Censos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i="1" dirty="0">
                <a:latin typeface="Times New Roman"/>
                <a:cs typeface="Times New Roman"/>
              </a:rPr>
              <a:t>Encuestas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600" i="1" dirty="0">
              <a:latin typeface="Times New Roman"/>
              <a:cs typeface="Times New Roman"/>
            </a:endParaRPr>
          </a:p>
          <a:p>
            <a:r>
              <a:rPr lang="es-ES" sz="1600" i="1" dirty="0">
                <a:latin typeface="Times New Roman"/>
                <a:cs typeface="Times New Roman"/>
              </a:rPr>
              <a:t>Cuenta con independencia legal para decidir sus metodologías, procesar datos y publicar resultados sin interferencia política externa</a:t>
            </a:r>
            <a:endParaRPr lang="es-PE" sz="1600" i="1" dirty="0">
              <a:latin typeface="Times New Roman"/>
              <a:cs typeface="Times New Roman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DAC5908-1757-4774-A198-18E2B777BED1}"/>
              </a:ext>
            </a:extLst>
          </p:cNvPr>
          <p:cNvGrpSpPr/>
          <p:nvPr/>
        </p:nvGrpSpPr>
        <p:grpSpPr>
          <a:xfrm>
            <a:off x="371534" y="1167631"/>
            <a:ext cx="7219446" cy="1501951"/>
            <a:chOff x="434224" y="1396524"/>
            <a:chExt cx="7219446" cy="1501951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C68430C-661E-4FAA-970D-7AC13EB37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224" y="1396524"/>
              <a:ext cx="1860744" cy="1142498"/>
            </a:xfrm>
            <a:prstGeom prst="rect">
              <a:avLst/>
            </a:prstGeom>
          </p:spPr>
        </p:pic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73AA17E2-20E6-4600-AD50-E32C92DBC94B}"/>
                </a:ext>
              </a:extLst>
            </p:cNvPr>
            <p:cNvSpPr/>
            <p:nvPr/>
          </p:nvSpPr>
          <p:spPr>
            <a:xfrm>
              <a:off x="3263045" y="1907851"/>
              <a:ext cx="427333" cy="750256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61E048D9-27B5-4012-AB64-DB64C9F0BF6D}"/>
                </a:ext>
              </a:extLst>
            </p:cNvPr>
            <p:cNvSpPr/>
            <p:nvPr/>
          </p:nvSpPr>
          <p:spPr>
            <a:xfrm>
              <a:off x="4039712" y="1667483"/>
              <a:ext cx="2056288" cy="1230992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ENAHO</a:t>
              </a:r>
              <a:endPara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Encuesta Nacional de Hogares</a:t>
              </a:r>
              <a:endParaRPr lang="es-PE" sz="16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sp>
          <p:nvSpPr>
            <p:cNvPr id="13" name="Flecha: a la derecha 12">
              <a:extLst>
                <a:ext uri="{FF2B5EF4-FFF2-40B4-BE49-F238E27FC236}">
                  <a16:creationId xmlns:a16="http://schemas.microsoft.com/office/drawing/2014/main" id="{E77490C8-5300-45BA-9F38-5BFED31D961A}"/>
                </a:ext>
              </a:extLst>
            </p:cNvPr>
            <p:cNvSpPr/>
            <p:nvPr/>
          </p:nvSpPr>
          <p:spPr>
            <a:xfrm>
              <a:off x="6754203" y="1907851"/>
              <a:ext cx="427333" cy="750256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D306806C-AC64-4564-AC86-F0A49A881245}"/>
                </a:ext>
              </a:extLst>
            </p:cNvPr>
            <p:cNvSpPr/>
            <p:nvPr/>
          </p:nvSpPr>
          <p:spPr>
            <a:xfrm>
              <a:off x="6282069" y="1412629"/>
              <a:ext cx="1371601" cy="495222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¿Qué tipo de encuesta es?</a:t>
              </a:r>
              <a:endParaRPr lang="es-PE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7A3A8CA6-9962-4E60-B780-F8F91B789AA5}"/>
              </a:ext>
            </a:extLst>
          </p:cNvPr>
          <p:cNvCxnSpPr>
            <a:cxnSpLocks/>
            <a:stCxn id="12" idx="2"/>
            <a:endCxn id="19" idx="1"/>
          </p:cNvCxnSpPr>
          <p:nvPr/>
        </p:nvCxnSpPr>
        <p:spPr>
          <a:xfrm rot="5400000">
            <a:off x="3054186" y="2761448"/>
            <a:ext cx="2042847" cy="1859114"/>
          </a:xfrm>
          <a:prstGeom prst="bentConnector4">
            <a:avLst>
              <a:gd name="adj1" fmla="val 16414"/>
              <a:gd name="adj2" fmla="val 112296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A2D5B5D-2C23-4041-9117-39ECB5AB37F5}"/>
              </a:ext>
            </a:extLst>
          </p:cNvPr>
          <p:cNvSpPr/>
          <p:nvPr/>
        </p:nvSpPr>
        <p:spPr>
          <a:xfrm>
            <a:off x="3146052" y="4254644"/>
            <a:ext cx="1143165" cy="915570"/>
          </a:xfrm>
          <a:prstGeom prst="roundRect">
            <a:avLst>
              <a:gd name="adj" fmla="val 21670"/>
            </a:avLst>
          </a:prstGeom>
          <a:solidFill>
            <a:schemeClr val="accent1">
              <a:lumMod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/>
              </a:rPr>
              <a:t>¿Qué módulos captura?</a:t>
            </a:r>
          </a:p>
        </p:txBody>
      </p:sp>
      <p:sp>
        <p:nvSpPr>
          <p:cNvPr id="29" name="Abrir llave 28">
            <a:extLst>
              <a:ext uri="{FF2B5EF4-FFF2-40B4-BE49-F238E27FC236}">
                <a16:creationId xmlns:a16="http://schemas.microsoft.com/office/drawing/2014/main" id="{B4656489-E80A-4707-961B-101C32E61F03}"/>
              </a:ext>
            </a:extLst>
          </p:cNvPr>
          <p:cNvSpPr/>
          <p:nvPr/>
        </p:nvSpPr>
        <p:spPr>
          <a:xfrm>
            <a:off x="4414649" y="3226528"/>
            <a:ext cx="450649" cy="3174271"/>
          </a:xfrm>
          <a:prstGeom prst="lef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7EC17DA8-C708-4042-9146-489000E213C3}"/>
              </a:ext>
            </a:extLst>
          </p:cNvPr>
          <p:cNvSpPr/>
          <p:nvPr/>
        </p:nvSpPr>
        <p:spPr>
          <a:xfrm>
            <a:off x="7590980" y="1503058"/>
            <a:ext cx="3991918" cy="1102056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Periodicidad anual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Unidad de análisis hogares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Muestreo probabilístico y estratificada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chemeClr val="tx1"/>
                </a:solidFill>
              </a:rPr>
              <a:t>Año 2025, la muestra es de 33,702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chemeClr val="tx1"/>
                </a:solidFill>
              </a:rPr>
              <a:t>Separado en 32 módulos, cada uno respecto a un tema distinto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6B8AF812-8EBB-449F-9EF4-ABC86EF40C01}"/>
              </a:ext>
            </a:extLst>
          </p:cNvPr>
          <p:cNvSpPr/>
          <p:nvPr/>
        </p:nvSpPr>
        <p:spPr>
          <a:xfrm>
            <a:off x="5055266" y="3347298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9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Características del hogar</a:t>
            </a: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27BA98DD-64FD-4620-8A6F-6AE7241A1178}"/>
              </a:ext>
            </a:extLst>
          </p:cNvPr>
          <p:cNvSpPr/>
          <p:nvPr/>
        </p:nvSpPr>
        <p:spPr>
          <a:xfrm>
            <a:off x="5055266" y="4943726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Sumarias</a:t>
            </a:r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9585E58C-6CDB-44BC-B0AB-8D54986A5F21}"/>
              </a:ext>
            </a:extLst>
          </p:cNvPr>
          <p:cNvSpPr/>
          <p:nvPr/>
        </p:nvSpPr>
        <p:spPr>
          <a:xfrm>
            <a:off x="7440298" y="3347298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Salud</a:t>
            </a:r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C0BDDE34-4B28-4AAC-963F-F0EFEF67D033}"/>
              </a:ext>
            </a:extLst>
          </p:cNvPr>
          <p:cNvSpPr/>
          <p:nvPr/>
        </p:nvSpPr>
        <p:spPr>
          <a:xfrm>
            <a:off x="7440298" y="4934433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Empleo e ingresos</a:t>
            </a: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4EDD00F5-BF1D-4049-B034-915F6BCC1223}"/>
              </a:ext>
            </a:extLst>
          </p:cNvPr>
          <p:cNvSpPr/>
          <p:nvPr/>
        </p:nvSpPr>
        <p:spPr>
          <a:xfrm>
            <a:off x="9825330" y="3347298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Educación</a:t>
            </a:r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BC6A9EF1-42C4-4656-A86E-DC5F998EF401}"/>
              </a:ext>
            </a:extLst>
          </p:cNvPr>
          <p:cNvSpPr/>
          <p:nvPr/>
        </p:nvSpPr>
        <p:spPr>
          <a:xfrm>
            <a:off x="9825330" y="4934433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Otros</a:t>
            </a:r>
          </a:p>
          <a:p>
            <a:pPr algn="ctr"/>
            <a:r>
              <a:rPr lang="es-PE" sz="12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(crianza de mascotas, inseguridad, </a:t>
            </a:r>
            <a:r>
              <a:rPr lang="es-PE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etc</a:t>
            </a:r>
            <a:r>
              <a:rPr lang="es-PE" sz="12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)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4079A79-35B0-4B61-A6C2-732AFD89410A}"/>
              </a:ext>
            </a:extLst>
          </p:cNvPr>
          <p:cNvSpPr txBox="1"/>
          <p:nvPr/>
        </p:nvSpPr>
        <p:spPr>
          <a:xfrm>
            <a:off x="8306972" y="6381956"/>
            <a:ext cx="38045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i="1" dirty="0">
                <a:latin typeface="Times New Roman"/>
                <a:cs typeface="Times New Roman"/>
                <a:hlinkClick r:id="rId5"/>
              </a:rPr>
              <a:t>https://proyectos.inei.gob.pe/microdatos/</a:t>
            </a:r>
            <a:r>
              <a:rPr lang="es-PE" sz="1600" i="1" dirty="0">
                <a:latin typeface="Times New Roman"/>
                <a:cs typeface="Times New Roman"/>
              </a:rPr>
              <a:t> 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28A3E191-729E-48F9-B5A1-5DE04A736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8810" y="3979747"/>
            <a:ext cx="534380" cy="534380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A349F58B-48DB-44A0-A928-82A6C7D9F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6609" y="3929869"/>
            <a:ext cx="563666" cy="563666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4859C64B-1114-4D8B-85C1-AAFABAD790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005" y="3929869"/>
            <a:ext cx="462938" cy="462938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F17DF964-7242-407D-9A0F-30340B2FE7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8709" y="5496374"/>
            <a:ext cx="494581" cy="494581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40C15A8E-E97D-4981-A9C8-166020F454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084" y="5613283"/>
            <a:ext cx="436716" cy="43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4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FD7DC9B7-9C25-4D68-968B-DEE735776284}"/>
              </a:ext>
            </a:extLst>
          </p:cNvPr>
          <p:cNvGrpSpPr/>
          <p:nvPr/>
        </p:nvGrpSpPr>
        <p:grpSpPr>
          <a:xfrm>
            <a:off x="-1" y="0"/>
            <a:ext cx="12192001" cy="1084521"/>
            <a:chOff x="-1" y="0"/>
            <a:chExt cx="12192001" cy="108452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116D947-9CAA-4B5A-9F7D-67CF0B846E24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0B060D1B-56B3-4AD2-8D5C-E47440BABA5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83110"/>
              <a:ext cx="7461505" cy="78015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s-E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Pregunta de investigación</a:t>
              </a:r>
              <a:endParaRPr lang="es-E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3FB6AE01-195B-49CF-B0D0-721029F6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53AFE5F-27AF-4AA0-8396-F48CEA637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83F79CC-8AEA-412E-A554-5579F64DD04D}"/>
              </a:ext>
            </a:extLst>
          </p:cNvPr>
          <p:cNvSpPr/>
          <p:nvPr/>
        </p:nvSpPr>
        <p:spPr>
          <a:xfrm>
            <a:off x="2020824" y="1167631"/>
            <a:ext cx="368808" cy="178098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0D837309-2033-48E8-95CC-D310A6ED2C86}"/>
              </a:ext>
            </a:extLst>
          </p:cNvPr>
          <p:cNvGrpSpPr/>
          <p:nvPr/>
        </p:nvGrpSpPr>
        <p:grpSpPr>
          <a:xfrm>
            <a:off x="330643" y="1223020"/>
            <a:ext cx="11039393" cy="5443930"/>
            <a:chOff x="330643" y="1110829"/>
            <a:chExt cx="11039393" cy="544393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B8C9C5F-AB2F-48C5-974A-56EA47E80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77556" y="3414594"/>
              <a:ext cx="792480" cy="792480"/>
            </a:xfrm>
            <a:prstGeom prst="rect">
              <a:avLst/>
            </a:prstGeom>
          </p:spPr>
        </p:pic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CACB6F3E-AEFB-4747-A1FB-4DDB1FC66425}"/>
                </a:ext>
              </a:extLst>
            </p:cNvPr>
            <p:cNvSpPr/>
            <p:nvPr/>
          </p:nvSpPr>
          <p:spPr>
            <a:xfrm>
              <a:off x="330643" y="2014953"/>
              <a:ext cx="1371601" cy="343312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es-PE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Situación actual</a:t>
              </a:r>
              <a:endParaRPr lang="es-PE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456B56DC-AC75-42F8-9936-81F92E7B3AD8}"/>
                </a:ext>
              </a:extLst>
            </p:cNvPr>
            <p:cNvSpPr txBox="1"/>
            <p:nvPr/>
          </p:nvSpPr>
          <p:spPr>
            <a:xfrm>
              <a:off x="5720827" y="1110829"/>
              <a:ext cx="1307172" cy="369332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b="1" dirty="0">
                  <a:latin typeface="Times New Roman"/>
                  <a:cs typeface="Times New Roman"/>
                </a:rPr>
                <a:t>MEPI</a:t>
              </a:r>
              <a:endParaRPr lang="es-PE" b="1" dirty="0">
                <a:latin typeface="Times New Roman"/>
                <a:cs typeface="Times New Roman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AD10C1D-648B-4B67-801E-E0AE31CA8B68}"/>
                </a:ext>
              </a:extLst>
            </p:cNvPr>
            <p:cNvSpPr txBox="1"/>
            <p:nvPr/>
          </p:nvSpPr>
          <p:spPr>
            <a:xfrm>
              <a:off x="2708212" y="1594800"/>
              <a:ext cx="7332406" cy="138499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MEPI mide pobreza energética solo por acceso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Ignora la dimensión económica: No incorpora pobreza monetaria ni carga energética en el presupuesto.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Existen hogares vulnerables que quedan invisibles para el indicador.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No es adecuado para el diseño de políticas: Variable resultado al ser binario (pobre / no pobre), aplana la heterogeneidad real de los hogares. </a:t>
              </a:r>
              <a:endParaRPr lang="es-PE" sz="1400" dirty="0">
                <a:latin typeface="Times New Roman"/>
                <a:cs typeface="Times New Roman"/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4459E33B-95F7-40B2-BEC9-9F1C8B6DCE0A}"/>
                </a:ext>
              </a:extLst>
            </p:cNvPr>
            <p:cNvGrpSpPr/>
            <p:nvPr/>
          </p:nvGrpSpPr>
          <p:grpSpPr>
            <a:xfrm>
              <a:off x="337962" y="3291840"/>
              <a:ext cx="9702656" cy="1696197"/>
              <a:chOff x="337962" y="3157013"/>
              <a:chExt cx="9702656" cy="1696197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61B72B42-F0CC-48C1-9730-55437E3AF15B}"/>
                  </a:ext>
                </a:extLst>
              </p:cNvPr>
              <p:cNvSpPr/>
              <p:nvPr/>
            </p:nvSpPr>
            <p:spPr>
              <a:xfrm>
                <a:off x="337962" y="3715148"/>
                <a:ext cx="1371601" cy="714199"/>
              </a:xfrm>
              <a:prstGeom prst="round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s-PE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Cuestión a responder</a:t>
                </a:r>
                <a:endParaRPr lang="es-P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B4E1523-6335-476F-A8F5-BD3F8845CB7B}"/>
                  </a:ext>
                </a:extLst>
              </p:cNvPr>
              <p:cNvSpPr txBox="1"/>
              <p:nvPr/>
            </p:nvSpPr>
            <p:spPr>
              <a:xfrm>
                <a:off x="4047266" y="4244681"/>
                <a:ext cx="4654295" cy="36933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/>
                <a:r>
                  <a:rPr lang="es-ES" b="1" dirty="0">
                    <a:latin typeface="Times New Roman"/>
                    <a:cs typeface="Times New Roman"/>
                  </a:rPr>
                  <a:t>Modelo de aprendizaje no supervisado</a:t>
                </a:r>
                <a:endParaRPr lang="es-PE" b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E25C04C-D755-4295-88DD-89F5A1EA3352}"/>
                  </a:ext>
                </a:extLst>
              </p:cNvPr>
              <p:cNvSpPr txBox="1"/>
              <p:nvPr/>
            </p:nvSpPr>
            <p:spPr>
              <a:xfrm>
                <a:off x="2708212" y="3235988"/>
                <a:ext cx="7332406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/>
                <a:r>
                  <a:rPr lang="es-ES" sz="1600" i="1" dirty="0">
                    <a:latin typeface="Times New Roman"/>
                    <a:cs typeface="Times New Roman"/>
                  </a:rPr>
                  <a:t>¿Podemos desarrollar un modelo que permita contar con una focalización más fina, en el que se identifique grupos con un perfil accionable distinto, de acuerdo a la orientación de políticas públicas energéticas?</a:t>
                </a:r>
                <a:endParaRPr lang="es-PE" sz="1600" i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9" name="Abrir llave 18">
                <a:extLst>
                  <a:ext uri="{FF2B5EF4-FFF2-40B4-BE49-F238E27FC236}">
                    <a16:creationId xmlns:a16="http://schemas.microsoft.com/office/drawing/2014/main" id="{B19D0340-22CB-4264-8219-5EBFE68EA1CF}"/>
                  </a:ext>
                </a:extLst>
              </p:cNvPr>
              <p:cNvSpPr/>
              <p:nvPr/>
            </p:nvSpPr>
            <p:spPr>
              <a:xfrm>
                <a:off x="2020824" y="3157013"/>
                <a:ext cx="368808" cy="1696197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7E8E380-7108-49C7-A744-00A32B3FFAFA}"/>
                </a:ext>
              </a:extLst>
            </p:cNvPr>
            <p:cNvSpPr txBox="1"/>
            <p:nvPr/>
          </p:nvSpPr>
          <p:spPr>
            <a:xfrm>
              <a:off x="2430591" y="5514542"/>
              <a:ext cx="169310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600" dirty="0">
                  <a:latin typeface="Times New Roman"/>
                  <a:cs typeface="Times New Roman"/>
                </a:rPr>
                <a:t>Enfoque de </a:t>
              </a:r>
              <a:r>
                <a:rPr lang="es-ES" sz="1600" i="1" dirty="0" err="1">
                  <a:latin typeface="Times New Roman"/>
                  <a:cs typeface="Times New Roman"/>
                </a:rPr>
                <a:t>clustering</a:t>
              </a:r>
              <a:endParaRPr lang="es-PE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B13EE5D0-1870-43A6-9068-4D7538D6058F}"/>
                </a:ext>
              </a:extLst>
            </p:cNvPr>
            <p:cNvSpPr txBox="1"/>
            <p:nvPr/>
          </p:nvSpPr>
          <p:spPr>
            <a:xfrm>
              <a:off x="4402900" y="5514541"/>
              <a:ext cx="169310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600" dirty="0">
                  <a:latin typeface="Times New Roman"/>
                  <a:cs typeface="Times New Roman"/>
                </a:rPr>
                <a:t>Explorar distintos niveles de k</a:t>
              </a:r>
              <a:endParaRPr lang="es-PE" sz="1600" dirty="0">
                <a:latin typeface="Times New Roman"/>
                <a:cs typeface="Times New Roman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1E018815-9607-4192-83A5-CDD2A027A398}"/>
                </a:ext>
              </a:extLst>
            </p:cNvPr>
            <p:cNvSpPr txBox="1"/>
            <p:nvPr/>
          </p:nvSpPr>
          <p:spPr>
            <a:xfrm>
              <a:off x="6416168" y="5514541"/>
              <a:ext cx="1693100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200" dirty="0">
                  <a:latin typeface="Times New Roman"/>
                  <a:cs typeface="Times New Roman"/>
                </a:rPr>
                <a:t>Incorporación de variables de acceso, gasto, carga energética y condición socioeconómica</a:t>
              </a:r>
              <a:endParaRPr lang="es-PE" sz="1200" dirty="0">
                <a:latin typeface="Times New Roman"/>
                <a:cs typeface="Times New Roman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E1DFD5BE-D27B-4551-B025-13E7E407215F}"/>
                </a:ext>
              </a:extLst>
            </p:cNvPr>
            <p:cNvSpPr txBox="1"/>
            <p:nvPr/>
          </p:nvSpPr>
          <p:spPr>
            <a:xfrm>
              <a:off x="8347518" y="5514541"/>
              <a:ext cx="1693100" cy="7386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400" dirty="0">
                  <a:latin typeface="Times New Roman"/>
                  <a:cs typeface="Times New Roman"/>
                </a:rPr>
                <a:t>Algoritmo descubre agrupaciones naturales de hogares</a:t>
              </a:r>
              <a:endParaRPr lang="es-PE" sz="1400" dirty="0">
                <a:latin typeface="Times New Roman"/>
                <a:cs typeface="Times New Roman"/>
              </a:endParaRPr>
            </a:p>
          </p:txBody>
        </p: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F9711EED-66DA-4928-9630-59C7A11EA64B}"/>
                </a:ext>
              </a:extLst>
            </p:cNvPr>
            <p:cNvSpPr/>
            <p:nvPr/>
          </p:nvSpPr>
          <p:spPr>
            <a:xfrm>
              <a:off x="330643" y="5539096"/>
              <a:ext cx="1371601" cy="714199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algn="ctr"/>
              <a:r>
                <a:rPr lang="es-PE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Valor agregado</a:t>
              </a:r>
              <a:endParaRPr lang="es-PE" sz="1600" dirty="0">
                <a:solidFill>
                  <a:schemeClr val="tx1"/>
                </a:solidFill>
              </a:endParaRPr>
            </a:p>
          </p:txBody>
        </p:sp>
        <p:sp>
          <p:nvSpPr>
            <p:cNvPr id="26" name="Abrir llave 25">
              <a:extLst>
                <a:ext uri="{FF2B5EF4-FFF2-40B4-BE49-F238E27FC236}">
                  <a16:creationId xmlns:a16="http://schemas.microsoft.com/office/drawing/2014/main" id="{39B094E0-8D8E-401D-81B8-506C61A61170}"/>
                </a:ext>
              </a:extLst>
            </p:cNvPr>
            <p:cNvSpPr/>
            <p:nvPr/>
          </p:nvSpPr>
          <p:spPr>
            <a:xfrm>
              <a:off x="2020824" y="5292247"/>
              <a:ext cx="368808" cy="126251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61052803-7D2E-458B-9D27-C9E35FEB1A87}"/>
                </a:ext>
              </a:extLst>
            </p:cNvPr>
            <p:cNvCxnSpPr>
              <a:stCxn id="17" idx="2"/>
              <a:endCxn id="21" idx="0"/>
            </p:cNvCxnSpPr>
            <p:nvPr/>
          </p:nvCxnSpPr>
          <p:spPr>
            <a:xfrm flipH="1">
              <a:off x="3277141" y="4748840"/>
              <a:ext cx="3097273" cy="76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BA4DBA91-EF86-4CFB-901A-0F90546B2841}"/>
                </a:ext>
              </a:extLst>
            </p:cNvPr>
            <p:cNvCxnSpPr>
              <a:cxnSpLocks/>
              <a:stCxn id="17" idx="2"/>
              <a:endCxn id="22" idx="0"/>
            </p:cNvCxnSpPr>
            <p:nvPr/>
          </p:nvCxnSpPr>
          <p:spPr>
            <a:xfrm flipH="1">
              <a:off x="5249450" y="4748840"/>
              <a:ext cx="1124964" cy="7657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8F78FD4B-9EC8-4F83-B472-25432DA33D57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>
              <a:off x="6374414" y="4748840"/>
              <a:ext cx="888304" cy="7657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CBDC2F6E-3D09-45BE-8B64-5F6157410335}"/>
                </a:ext>
              </a:extLst>
            </p:cNvPr>
            <p:cNvCxnSpPr>
              <a:cxnSpLocks/>
              <a:stCxn id="17" idx="2"/>
              <a:endCxn id="24" idx="0"/>
            </p:cNvCxnSpPr>
            <p:nvPr/>
          </p:nvCxnSpPr>
          <p:spPr>
            <a:xfrm>
              <a:off x="6374414" y="4748840"/>
              <a:ext cx="2819654" cy="7657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1364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512</Words>
  <Application>Microsoft Office PowerPoint</Application>
  <PresentationFormat>Panorámica</PresentationFormat>
  <Paragraphs>88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Tema de Office</vt:lpstr>
      <vt:lpstr>POBREZA ENERGÉTICA EN EL PERÚ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Pasiche Manrique</dc:creator>
  <cp:lastModifiedBy>Gonzalo Pasiche Manrique</cp:lastModifiedBy>
  <cp:revision>18</cp:revision>
  <dcterms:created xsi:type="dcterms:W3CDTF">2026-07-30T20:56:47Z</dcterms:created>
  <dcterms:modified xsi:type="dcterms:W3CDTF">2026-07-31T00:52:13Z</dcterms:modified>
</cp:coreProperties>
</file>