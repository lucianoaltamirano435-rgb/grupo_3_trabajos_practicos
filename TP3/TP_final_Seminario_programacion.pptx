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58" r:id="rId5"/>
    <p:sldId id="268" r:id="rId6"/>
    <p:sldId id="269" r:id="rId7"/>
    <p:sldId id="261" r:id="rId8"/>
    <p:sldId id="265" r:id="rId9"/>
    <p:sldId id="270" r:id="rId10"/>
    <p:sldId id="276" r:id="rId11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6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1/08/26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25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9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137649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safely remove this slide. This slide</a:t>
            </a:r>
            <a:r>
              <a:rPr lang="en-US" baseline="0"/>
              <a:t> design was provided by SlideModel.com – You can download more templates, shapes and elements for PowerPoint from http://slidemodel.com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46254F-9338-4BA9-B7AC-A66622A3D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76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311637DF-9E40-223B-9CC9-F1862E99F89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92825" y="824358"/>
            <a:ext cx="5599176" cy="6033643"/>
          </a:xfrm>
          <a:custGeom>
            <a:avLst/>
            <a:gdLst>
              <a:gd name="connsiteX0" fmla="*/ 3526155 w 5599176"/>
              <a:gd name="connsiteY0" fmla="*/ 0 h 6033643"/>
              <a:gd name="connsiteX1" fmla="*/ 5599176 w 5599176"/>
              <a:gd name="connsiteY1" fmla="*/ 3547237 h 6033643"/>
              <a:gd name="connsiteX2" fmla="*/ 5599176 w 5599176"/>
              <a:gd name="connsiteY2" fmla="*/ 6033643 h 6033643"/>
              <a:gd name="connsiteX3" fmla="*/ 0 w 5599176"/>
              <a:gd name="connsiteY3" fmla="*/ 6033643 h 603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9176" h="6033643">
                <a:moveTo>
                  <a:pt x="3526155" y="0"/>
                </a:moveTo>
                <a:lnTo>
                  <a:pt x="5599176" y="3547237"/>
                </a:lnTo>
                <a:lnTo>
                  <a:pt x="5599176" y="6033643"/>
                </a:lnTo>
                <a:lnTo>
                  <a:pt x="0" y="6033643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425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 dirty="0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408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1/08/26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hyperlink" Target="https://proyectos.inei.gob.pe/microdatos/" TargetMode="External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1.jpe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916476"/>
            <a:ext cx="4876800" cy="103985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3CD0A85-C9FC-4813-A5C3-202D820A2EEF}"/>
              </a:ext>
            </a:extLst>
          </p:cNvPr>
          <p:cNvSpPr/>
          <p:nvPr/>
        </p:nvSpPr>
        <p:spPr>
          <a:xfrm>
            <a:off x="1312967" y="1494618"/>
            <a:ext cx="3014778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400" b="1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4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D1A88D0-AED2-41B3-9F30-20442BC43D39}"/>
              </a:ext>
            </a:extLst>
          </p:cNvPr>
          <p:cNvSpPr/>
          <p:nvPr/>
        </p:nvSpPr>
        <p:spPr>
          <a:xfrm>
            <a:off x="7120270" y="1494618"/>
            <a:ext cx="4278582" cy="791381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¿Por qué es importante?</a:t>
            </a:r>
            <a:endParaRPr lang="es-PE" sz="2400" b="1" dirty="0">
              <a:solidFill>
                <a:schemeClr val="tx1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DCC1B24-F22B-426E-B64C-B8B5E254C052}"/>
              </a:ext>
            </a:extLst>
          </p:cNvPr>
          <p:cNvSpPr txBox="1"/>
          <p:nvPr/>
        </p:nvSpPr>
        <p:spPr>
          <a:xfrm>
            <a:off x="6804588" y="2579139"/>
            <a:ext cx="4778310" cy="401648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Constituye una medición novedosa en el contexto latinoamericano</a:t>
            </a:r>
          </a:p>
          <a:p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Visibiliza a una población que, en la actualidad, a pesar de sufrir privaciones, no es identificada de forma precisa.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Sirve de insumo base para el diseño de políticas públicas energéticas más eficientes.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Permite evaluar la efectividad de las políticas energéticas en el tiempo.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Fortalece la investigación y la literatura económico-energética.</a:t>
            </a:r>
            <a:endParaRPr lang="es-PE" sz="1700" dirty="0">
              <a:latin typeface="Times New Roman"/>
              <a:cs typeface="Times New Roman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6053AD61-B596-4081-BB3B-B9E679A9B9C2}"/>
              </a:ext>
            </a:extLst>
          </p:cNvPr>
          <p:cNvGrpSpPr/>
          <p:nvPr/>
        </p:nvGrpSpPr>
        <p:grpSpPr>
          <a:xfrm>
            <a:off x="-1" y="0"/>
            <a:ext cx="12192001" cy="1084521"/>
            <a:chOff x="-1" y="0"/>
            <a:chExt cx="12192001" cy="1084521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0BE25EA2-91D2-447D-A0D0-FF1E4F163AE7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8" name="Título 1">
              <a:extLst>
                <a:ext uri="{FF2B5EF4-FFF2-40B4-BE49-F238E27FC236}">
                  <a16:creationId xmlns:a16="http://schemas.microsoft.com/office/drawing/2014/main" id="{B6715AE7-72A6-46FC-88D6-8705CA33A2AE}"/>
                </a:ext>
              </a:extLst>
            </p:cNvPr>
            <p:cNvSpPr txBox="1">
              <a:spLocks/>
            </p:cNvSpPr>
            <p:nvPr/>
          </p:nvSpPr>
          <p:spPr>
            <a:xfrm>
              <a:off x="-1" y="83110"/>
              <a:ext cx="7556741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1. Marco teórico e importancia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D98F81BB-B360-4A0A-A2BD-51761ABF1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0AA42E9E-162A-4FAD-AFB6-6A49D4403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045CF476-A615-41B4-996B-401E58A9D759}"/>
              </a:ext>
            </a:extLst>
          </p:cNvPr>
          <p:cNvGrpSpPr/>
          <p:nvPr/>
        </p:nvGrpSpPr>
        <p:grpSpPr>
          <a:xfrm>
            <a:off x="180672" y="3030801"/>
            <a:ext cx="6007955" cy="2849716"/>
            <a:chOff x="180672" y="3030801"/>
            <a:chExt cx="6007955" cy="2849716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CE08C67-1DCD-4BBB-B666-737C8E5AA43D}"/>
                </a:ext>
              </a:extLst>
            </p:cNvPr>
            <p:cNvSpPr txBox="1"/>
            <p:nvPr/>
          </p:nvSpPr>
          <p:spPr>
            <a:xfrm>
              <a:off x="180672" y="3030801"/>
              <a:ext cx="2639684" cy="206210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“Privación del acceso a servicios modernos de energía, como el uso de combustibles limpios para cocinar como electricidad, gas licuado de petróleo o gas natural, además del acceso de energía eléctrica”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6FEAF700-04B3-45D3-980C-B5BEE3F7812B}"/>
                </a:ext>
              </a:extLst>
            </p:cNvPr>
            <p:cNvSpPr txBox="1"/>
            <p:nvPr/>
          </p:nvSpPr>
          <p:spPr>
            <a:xfrm>
              <a:off x="290659" y="5357297"/>
              <a:ext cx="2752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Nussbaumer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Bazilian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y Modi (2012) 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680F6255-20A2-420E-A879-16E9636B39AF}"/>
                </a:ext>
              </a:extLst>
            </p:cNvPr>
            <p:cNvSpPr txBox="1"/>
            <p:nvPr/>
          </p:nvSpPr>
          <p:spPr>
            <a:xfrm>
              <a:off x="3173849" y="3030801"/>
              <a:ext cx="3014778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“Forma de privación referida a la incapacidad de un hogar para acceder a servicios energéticos adecuados, como iluminación, calefacción, refrigeración, cocción y uso de electrodomésticos, de manera segura y asequible”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1AB2E342-2F01-4391-9FCA-F429DA3865D8}"/>
                </a:ext>
              </a:extLst>
            </p:cNvPr>
            <p:cNvSpPr txBox="1"/>
            <p:nvPr/>
          </p:nvSpPr>
          <p:spPr>
            <a:xfrm>
              <a:off x="3343691" y="5357297"/>
              <a:ext cx="27523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Boardman (1991)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6390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FDBDE5BF-0FB1-44CF-AD62-AC627881FFF4}"/>
              </a:ext>
            </a:extLst>
          </p:cNvPr>
          <p:cNvSpPr/>
          <p:nvPr/>
        </p:nvSpPr>
        <p:spPr>
          <a:xfrm>
            <a:off x="10419907" y="2454740"/>
            <a:ext cx="1371601" cy="383120"/>
          </a:xfrm>
          <a:prstGeom prst="roundRect">
            <a:avLst/>
          </a:prstGeom>
          <a:noFill/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No acceso</a:t>
            </a:r>
            <a:endParaRPr lang="es-PE" sz="1400" dirty="0">
              <a:solidFill>
                <a:schemeClr val="tx1"/>
              </a:solidFill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8D15D7EE-0D09-4632-9E1D-3DA656BE88F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654667A6-4E96-4BB9-88A8-692DCC9ADE3D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12C077DD-4EF8-44FC-AC6F-CA700CB56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4B454262-16E7-4978-88A9-B2861C092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38" name="Título 1">
            <a:extLst>
              <a:ext uri="{FF2B5EF4-FFF2-40B4-BE49-F238E27FC236}">
                <a16:creationId xmlns:a16="http://schemas.microsoft.com/office/drawing/2014/main" id="{21B19C38-C430-4676-B62B-D26346921ED7}"/>
              </a:ext>
            </a:extLst>
          </p:cNvPr>
          <p:cNvSpPr txBox="1">
            <a:spLocks/>
          </p:cNvSpPr>
          <p:nvPr/>
        </p:nvSpPr>
        <p:spPr>
          <a:xfrm>
            <a:off x="-108815" y="70458"/>
            <a:ext cx="7556741" cy="7801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4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Marco teórico e importancia</a:t>
            </a:r>
            <a:endParaRPr lang="es-E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23688ED1-F371-4FB7-8878-39165A4803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188" y="3743171"/>
            <a:ext cx="5968470" cy="3044371"/>
          </a:xfrm>
          <a:prstGeom prst="rect">
            <a:avLst/>
          </a:prstGeom>
        </p:spPr>
      </p:pic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875DED1E-82B1-460C-A0B3-EE18D3351F61}"/>
              </a:ext>
            </a:extLst>
          </p:cNvPr>
          <p:cNvSpPr/>
          <p:nvPr/>
        </p:nvSpPr>
        <p:spPr>
          <a:xfrm>
            <a:off x="10456745" y="3106628"/>
            <a:ext cx="1371601" cy="369090"/>
          </a:xfrm>
          <a:prstGeom prst="roundRect">
            <a:avLst/>
          </a:prstGeom>
          <a:noFill/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No propiedad</a:t>
            </a:r>
            <a:endParaRPr lang="es-PE" sz="1400" dirty="0">
              <a:solidFill>
                <a:schemeClr val="tx1"/>
              </a:solidFill>
            </a:endParaRPr>
          </a:p>
        </p:txBody>
      </p:sp>
      <p:grpSp>
        <p:nvGrpSpPr>
          <p:cNvPr id="75" name="Grupo 74">
            <a:extLst>
              <a:ext uri="{FF2B5EF4-FFF2-40B4-BE49-F238E27FC236}">
                <a16:creationId xmlns:a16="http://schemas.microsoft.com/office/drawing/2014/main" id="{6244AB88-B63D-45EE-9807-CAAD46D2AA38}"/>
              </a:ext>
            </a:extLst>
          </p:cNvPr>
          <p:cNvGrpSpPr/>
          <p:nvPr/>
        </p:nvGrpSpPr>
        <p:grpSpPr>
          <a:xfrm>
            <a:off x="179583" y="1098384"/>
            <a:ext cx="11463594" cy="2515436"/>
            <a:chOff x="179583" y="1098384"/>
            <a:chExt cx="11463594" cy="251543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4B3C134C-F0B3-48BD-A11E-B65CDF8F3C08}"/>
                </a:ext>
              </a:extLst>
            </p:cNvPr>
            <p:cNvSpPr/>
            <p:nvPr/>
          </p:nvSpPr>
          <p:spPr>
            <a:xfrm>
              <a:off x="316207" y="2209781"/>
              <a:ext cx="1984400" cy="721748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Sabina </a:t>
              </a:r>
              <a:r>
                <a:rPr lang="es-PE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Alkire</a:t>
              </a:r>
              <a:r>
                <a:rPr lang="es-PE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 y James Foster</a:t>
              </a:r>
              <a:endParaRPr lang="es-PE" dirty="0">
                <a:solidFill>
                  <a:schemeClr val="tx1"/>
                </a:solidFill>
              </a:endParaRPr>
            </a:p>
          </p:txBody>
        </p:sp>
        <p:sp>
          <p:nvSpPr>
            <p:cNvPr id="13" name="Rectángulo: esquinas redondeadas 12">
              <a:extLst>
                <a:ext uri="{FF2B5EF4-FFF2-40B4-BE49-F238E27FC236}">
                  <a16:creationId xmlns:a16="http://schemas.microsoft.com/office/drawing/2014/main" id="{C2DB8267-8C98-430F-B6C8-68BB80F58BD3}"/>
                </a:ext>
              </a:extLst>
            </p:cNvPr>
            <p:cNvSpPr/>
            <p:nvPr/>
          </p:nvSpPr>
          <p:spPr>
            <a:xfrm>
              <a:off x="8744775" y="1493736"/>
              <a:ext cx="1121963" cy="788820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GLP</a:t>
              </a: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GN</a:t>
              </a: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Electricidad</a:t>
              </a:r>
              <a:endParaRPr lang="es-PE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Rectángulo: esquinas redondeadas 13">
              <a:extLst>
                <a:ext uri="{FF2B5EF4-FFF2-40B4-BE49-F238E27FC236}">
                  <a16:creationId xmlns:a16="http://schemas.microsoft.com/office/drawing/2014/main" id="{76132900-1506-4148-8D4C-707D4107ABCC}"/>
                </a:ext>
              </a:extLst>
            </p:cNvPr>
            <p:cNvSpPr/>
            <p:nvPr/>
          </p:nvSpPr>
          <p:spPr>
            <a:xfrm>
              <a:off x="10568236" y="1572012"/>
              <a:ext cx="1074941" cy="632268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Carbón</a:t>
              </a: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Leña</a:t>
              </a: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Bosta</a:t>
              </a:r>
            </a:p>
          </p:txBody>
        </p:sp>
        <p:sp>
          <p:nvSpPr>
            <p:cNvPr id="15" name="Rectángulo: esquinas redondeadas 14">
              <a:extLst>
                <a:ext uri="{FF2B5EF4-FFF2-40B4-BE49-F238E27FC236}">
                  <a16:creationId xmlns:a16="http://schemas.microsoft.com/office/drawing/2014/main" id="{1A68FFEB-3506-417D-AA0B-FF212ED855C6}"/>
                </a:ext>
              </a:extLst>
            </p:cNvPr>
            <p:cNvSpPr/>
            <p:nvPr/>
          </p:nvSpPr>
          <p:spPr>
            <a:xfrm>
              <a:off x="179583" y="1479891"/>
              <a:ext cx="2257647" cy="474071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400" i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Marco teórico base para el diseño de la medición</a:t>
              </a:r>
              <a:endParaRPr lang="es-PE" sz="1400" i="1" dirty="0">
                <a:solidFill>
                  <a:schemeClr val="tx1"/>
                </a:solidFill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678C6F0B-274C-4BA6-B4BA-C705ECEF4E61}"/>
                </a:ext>
              </a:extLst>
            </p:cNvPr>
            <p:cNvSpPr/>
            <p:nvPr/>
          </p:nvSpPr>
          <p:spPr>
            <a:xfrm>
              <a:off x="8619957" y="2369088"/>
              <a:ext cx="1371601" cy="495222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Acceso</a:t>
              </a:r>
              <a:endParaRPr lang="es-PE" dirty="0">
                <a:solidFill>
                  <a:schemeClr val="tx1"/>
                </a:solidFill>
              </a:endParaRPr>
            </a:p>
          </p:txBody>
        </p:sp>
        <p:sp>
          <p:nvSpPr>
            <p:cNvPr id="20" name="Rectángulo: esquinas redondeadas 19">
              <a:extLst>
                <a:ext uri="{FF2B5EF4-FFF2-40B4-BE49-F238E27FC236}">
                  <a16:creationId xmlns:a16="http://schemas.microsoft.com/office/drawing/2014/main" id="{86FAD647-FA47-4B9C-84BC-59B4621A6B74}"/>
                </a:ext>
              </a:extLst>
            </p:cNvPr>
            <p:cNvSpPr/>
            <p:nvPr/>
          </p:nvSpPr>
          <p:spPr>
            <a:xfrm>
              <a:off x="3922696" y="2142708"/>
              <a:ext cx="1986735" cy="788821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20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Aptos" panose="020B0004020202020204"/>
                </a:rPr>
                <a:t>Dimensiones evaluadas</a:t>
              </a:r>
            </a:p>
          </p:txBody>
        </p:sp>
        <p:sp>
          <p:nvSpPr>
            <p:cNvPr id="21" name="Rectángulo: esquinas redondeadas 20">
              <a:extLst>
                <a:ext uri="{FF2B5EF4-FFF2-40B4-BE49-F238E27FC236}">
                  <a16:creationId xmlns:a16="http://schemas.microsoft.com/office/drawing/2014/main" id="{C83A6604-C535-446D-8CCA-B783116557D0}"/>
                </a:ext>
              </a:extLst>
            </p:cNvPr>
            <p:cNvSpPr/>
            <p:nvPr/>
          </p:nvSpPr>
          <p:spPr>
            <a:xfrm>
              <a:off x="6764405" y="1657176"/>
              <a:ext cx="1232281" cy="363427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Cocción</a:t>
              </a:r>
              <a:endPara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72072A41-3CF4-4606-A6C1-9117E2FD5D0B}"/>
                </a:ext>
              </a:extLst>
            </p:cNvPr>
            <p:cNvSpPr/>
            <p:nvPr/>
          </p:nvSpPr>
          <p:spPr>
            <a:xfrm>
              <a:off x="6764405" y="2411544"/>
              <a:ext cx="1338720" cy="363427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Iluminación</a:t>
              </a:r>
              <a:endPara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  <p:cxnSp>
          <p:nvCxnSpPr>
            <p:cNvPr id="4" name="Conector: angular 3">
              <a:extLst>
                <a:ext uri="{FF2B5EF4-FFF2-40B4-BE49-F238E27FC236}">
                  <a16:creationId xmlns:a16="http://schemas.microsoft.com/office/drawing/2014/main" id="{9F26DEB6-D8CD-413E-99FD-9071F1634B82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5909431" y="1838890"/>
              <a:ext cx="854974" cy="698229"/>
            </a:xfrm>
            <a:prstGeom prst="bentConnector3">
              <a:avLst/>
            </a:prstGeom>
            <a:ln>
              <a:solidFill>
                <a:srgbClr val="6E171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: angular 22">
              <a:extLst>
                <a:ext uri="{FF2B5EF4-FFF2-40B4-BE49-F238E27FC236}">
                  <a16:creationId xmlns:a16="http://schemas.microsoft.com/office/drawing/2014/main" id="{BDD76F72-1816-4CB5-8CB8-CA0626B92A84}"/>
                </a:ext>
              </a:extLst>
            </p:cNvPr>
            <p:cNvCxnSpPr>
              <a:cxnSpLocks/>
              <a:stCxn id="20" idx="3"/>
              <a:endCxn id="22" idx="1"/>
            </p:cNvCxnSpPr>
            <p:nvPr/>
          </p:nvCxnSpPr>
          <p:spPr>
            <a:xfrm>
              <a:off x="5909431" y="2537119"/>
              <a:ext cx="854974" cy="5613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6E171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lecha: a la derecha 32">
              <a:extLst>
                <a:ext uri="{FF2B5EF4-FFF2-40B4-BE49-F238E27FC236}">
                  <a16:creationId xmlns:a16="http://schemas.microsoft.com/office/drawing/2014/main" id="{F579513F-B1FD-4E25-908D-709BBC98DF85}"/>
                </a:ext>
              </a:extLst>
            </p:cNvPr>
            <p:cNvSpPr/>
            <p:nvPr/>
          </p:nvSpPr>
          <p:spPr>
            <a:xfrm>
              <a:off x="2972299" y="2241874"/>
              <a:ext cx="351424" cy="622436"/>
            </a:xfrm>
            <a:prstGeom prst="rightArrow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43" name="Rectángulo: esquinas redondeadas 42">
              <a:extLst>
                <a:ext uri="{FF2B5EF4-FFF2-40B4-BE49-F238E27FC236}">
                  <a16:creationId xmlns:a16="http://schemas.microsoft.com/office/drawing/2014/main" id="{549D9D6B-253A-45D5-9E79-FE7DA7B11CEB}"/>
                </a:ext>
              </a:extLst>
            </p:cNvPr>
            <p:cNvSpPr/>
            <p:nvPr/>
          </p:nvSpPr>
          <p:spPr>
            <a:xfrm>
              <a:off x="6687133" y="3056847"/>
              <a:ext cx="1493264" cy="556973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Electrodomésticos</a:t>
              </a:r>
            </a:p>
            <a:p>
              <a:pPr algn="ctr"/>
              <a:r>
                <a:rPr lang="es-PE" sz="1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Educación</a:t>
              </a:r>
            </a:p>
            <a:p>
              <a:pPr algn="ctr"/>
              <a:r>
                <a:rPr lang="es-PE" sz="1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Comunicación</a:t>
              </a:r>
              <a:endParaRPr lang="es-PE" sz="16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E780EFD9-57F2-4B71-AC16-D27A99CAD6E9}"/>
                </a:ext>
              </a:extLst>
            </p:cNvPr>
            <p:cNvSpPr/>
            <p:nvPr/>
          </p:nvSpPr>
          <p:spPr>
            <a:xfrm>
              <a:off x="8619957" y="3177758"/>
              <a:ext cx="1371601" cy="297960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Propiedad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Conector: angular 46">
              <a:extLst>
                <a:ext uri="{FF2B5EF4-FFF2-40B4-BE49-F238E27FC236}">
                  <a16:creationId xmlns:a16="http://schemas.microsoft.com/office/drawing/2014/main" id="{608AADD3-9997-4E8E-A83C-1228853DFAA9}"/>
                </a:ext>
              </a:extLst>
            </p:cNvPr>
            <p:cNvCxnSpPr>
              <a:cxnSpLocks/>
              <a:stCxn id="20" idx="3"/>
              <a:endCxn id="43" idx="1"/>
            </p:cNvCxnSpPr>
            <p:nvPr/>
          </p:nvCxnSpPr>
          <p:spPr>
            <a:xfrm>
              <a:off x="5909431" y="2537119"/>
              <a:ext cx="777702" cy="798215"/>
            </a:xfrm>
            <a:prstGeom prst="bentConnector3">
              <a:avLst>
                <a:gd name="adj1" fmla="val 53528"/>
              </a:avLst>
            </a:prstGeom>
            <a:ln>
              <a:solidFill>
                <a:srgbClr val="6E171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Imagen 59">
              <a:extLst>
                <a:ext uri="{FF2B5EF4-FFF2-40B4-BE49-F238E27FC236}">
                  <a16:creationId xmlns:a16="http://schemas.microsoft.com/office/drawing/2014/main" id="{426482AA-D7CC-49FA-9907-7C13BB75C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98358" y="1098384"/>
              <a:ext cx="385819" cy="385819"/>
            </a:xfrm>
            <a:prstGeom prst="ellipse">
              <a:avLst/>
            </a:prstGeom>
          </p:spPr>
        </p:pic>
        <p:pic>
          <p:nvPicPr>
            <p:cNvPr id="61" name="Imagen 60">
              <a:extLst>
                <a:ext uri="{FF2B5EF4-FFF2-40B4-BE49-F238E27FC236}">
                  <a16:creationId xmlns:a16="http://schemas.microsoft.com/office/drawing/2014/main" id="{A6919E0A-E919-478C-B601-DAA6E8B91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17774" y="1125143"/>
              <a:ext cx="356666" cy="356666"/>
            </a:xfrm>
            <a:prstGeom prst="ellipse">
              <a:avLst/>
            </a:prstGeom>
          </p:spPr>
        </p:pic>
        <p:sp>
          <p:nvSpPr>
            <p:cNvPr id="63" name="Flecha: a la derecha 62">
              <a:extLst>
                <a:ext uri="{FF2B5EF4-FFF2-40B4-BE49-F238E27FC236}">
                  <a16:creationId xmlns:a16="http://schemas.microsoft.com/office/drawing/2014/main" id="{DDC253CD-0248-4ACB-8D9C-5AFC5914EE20}"/>
                </a:ext>
              </a:extLst>
            </p:cNvPr>
            <p:cNvSpPr/>
            <p:nvPr/>
          </p:nvSpPr>
          <p:spPr>
            <a:xfrm>
              <a:off x="8337101" y="1662681"/>
              <a:ext cx="360128" cy="297960"/>
            </a:xfrm>
            <a:prstGeom prst="rightArrow">
              <a:avLst/>
            </a:prstGeom>
            <a:noFill/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4" name="Flecha: a la derecha 63">
              <a:extLst>
                <a:ext uri="{FF2B5EF4-FFF2-40B4-BE49-F238E27FC236}">
                  <a16:creationId xmlns:a16="http://schemas.microsoft.com/office/drawing/2014/main" id="{C04FA8DD-CBB3-4751-8B14-90F1B0A2380D}"/>
                </a:ext>
              </a:extLst>
            </p:cNvPr>
            <p:cNvSpPr/>
            <p:nvPr/>
          </p:nvSpPr>
          <p:spPr>
            <a:xfrm>
              <a:off x="8337101" y="2444277"/>
              <a:ext cx="360128" cy="297960"/>
            </a:xfrm>
            <a:prstGeom prst="rightArrow">
              <a:avLst/>
            </a:prstGeom>
            <a:noFill/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5" name="Flecha: a la derecha 64">
              <a:extLst>
                <a:ext uri="{FF2B5EF4-FFF2-40B4-BE49-F238E27FC236}">
                  <a16:creationId xmlns:a16="http://schemas.microsoft.com/office/drawing/2014/main" id="{DB3F0675-5E73-4BAB-AFC3-F7AB0F2D8579}"/>
                </a:ext>
              </a:extLst>
            </p:cNvPr>
            <p:cNvSpPr/>
            <p:nvPr/>
          </p:nvSpPr>
          <p:spPr>
            <a:xfrm>
              <a:off x="8337101" y="3212095"/>
              <a:ext cx="360128" cy="297960"/>
            </a:xfrm>
            <a:prstGeom prst="rightArrow">
              <a:avLst/>
            </a:prstGeom>
            <a:noFill/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</p:grpSp>
    </p:spTree>
    <p:extLst>
      <p:ext uri="{BB962C8B-B14F-4D97-AF65-F5344CB8AC3E}">
        <p14:creationId xmlns:p14="http://schemas.microsoft.com/office/powerpoint/2010/main" val="2721990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93BF2C3D-B551-4587-932E-42723C35FC4A}"/>
              </a:ext>
            </a:extLst>
          </p:cNvPr>
          <p:cNvGrpSpPr/>
          <p:nvPr/>
        </p:nvGrpSpPr>
        <p:grpSpPr>
          <a:xfrm>
            <a:off x="-1" y="0"/>
            <a:ext cx="12192001" cy="1084521"/>
            <a:chOff x="-1" y="0"/>
            <a:chExt cx="12192001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52265D7A-B1C2-492A-941F-0DDB3639BFBB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3F53F998-16F2-495D-BDA0-E1BDD1903908}"/>
                </a:ext>
              </a:extLst>
            </p:cNvPr>
            <p:cNvSpPr txBox="1">
              <a:spLocks/>
            </p:cNvSpPr>
            <p:nvPr/>
          </p:nvSpPr>
          <p:spPr>
            <a:xfrm>
              <a:off x="-1" y="83110"/>
              <a:ext cx="7824159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 Detalles de la base e institución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CCD474DE-F947-49C4-9579-F9E15FE52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626522A-5017-4ED3-8ECB-6DD1FAAB6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0" name="CuadroTexto 9">
            <a:extLst>
              <a:ext uri="{FF2B5EF4-FFF2-40B4-BE49-F238E27FC236}">
                <a16:creationId xmlns:a16="http://schemas.microsoft.com/office/drawing/2014/main" id="{C58022DB-2A9B-48CA-A795-A62E4197AFD3}"/>
              </a:ext>
            </a:extLst>
          </p:cNvPr>
          <p:cNvSpPr txBox="1"/>
          <p:nvPr/>
        </p:nvSpPr>
        <p:spPr>
          <a:xfrm>
            <a:off x="197737" y="2669582"/>
            <a:ext cx="2494933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i="1" dirty="0">
                <a:latin typeface="Times New Roman"/>
                <a:cs typeface="Times New Roman"/>
              </a:rPr>
              <a:t>Institución encargada (1990) de encargada de dirigir los sistemas de estadística y datos del Perú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i="1" dirty="0">
                <a:latin typeface="Times New Roman"/>
                <a:cs typeface="Times New Roman"/>
              </a:rPr>
              <a:t>Censos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i="1" dirty="0">
                <a:latin typeface="Times New Roman"/>
                <a:cs typeface="Times New Roman"/>
              </a:rPr>
              <a:t>Encuestas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600" i="1" dirty="0">
              <a:latin typeface="Times New Roman"/>
              <a:cs typeface="Times New Roman"/>
            </a:endParaRPr>
          </a:p>
          <a:p>
            <a:r>
              <a:rPr lang="es-ES" sz="1600" i="1" dirty="0">
                <a:latin typeface="Times New Roman"/>
                <a:cs typeface="Times New Roman"/>
              </a:rPr>
              <a:t>Cuenta con independencia legal para decidir sus metodologías, procesar datos y publicar resultados sin interferencia política externa</a:t>
            </a:r>
            <a:endParaRPr lang="es-PE" sz="1600" i="1" dirty="0">
              <a:latin typeface="Times New Roman"/>
              <a:cs typeface="Times New Roman"/>
            </a:endParaRP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4DAC5908-1757-4774-A198-18E2B777BED1}"/>
              </a:ext>
            </a:extLst>
          </p:cNvPr>
          <p:cNvGrpSpPr/>
          <p:nvPr/>
        </p:nvGrpSpPr>
        <p:grpSpPr>
          <a:xfrm>
            <a:off x="371534" y="1167631"/>
            <a:ext cx="7219446" cy="1501951"/>
            <a:chOff x="434224" y="1396524"/>
            <a:chExt cx="7219446" cy="1501951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FC68430C-661E-4FAA-970D-7AC13EB37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4224" y="1396524"/>
              <a:ext cx="1860744" cy="1142498"/>
            </a:xfrm>
            <a:prstGeom prst="rect">
              <a:avLst/>
            </a:prstGeom>
          </p:spPr>
        </p:pic>
        <p:sp>
          <p:nvSpPr>
            <p:cNvPr id="11" name="Flecha: a la derecha 10">
              <a:extLst>
                <a:ext uri="{FF2B5EF4-FFF2-40B4-BE49-F238E27FC236}">
                  <a16:creationId xmlns:a16="http://schemas.microsoft.com/office/drawing/2014/main" id="{73AA17E2-20E6-4600-AD50-E32C92DBC94B}"/>
                </a:ext>
              </a:extLst>
            </p:cNvPr>
            <p:cNvSpPr/>
            <p:nvPr/>
          </p:nvSpPr>
          <p:spPr>
            <a:xfrm>
              <a:off x="3263045" y="1907851"/>
              <a:ext cx="427333" cy="750256"/>
            </a:xfrm>
            <a:prstGeom prst="rightArrow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1E048D9-27B5-4012-AB64-DB64C9F0BF6D}"/>
                </a:ext>
              </a:extLst>
            </p:cNvPr>
            <p:cNvSpPr/>
            <p:nvPr/>
          </p:nvSpPr>
          <p:spPr>
            <a:xfrm>
              <a:off x="4039712" y="1667483"/>
              <a:ext cx="2056288" cy="1230992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24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ENAHO</a:t>
              </a:r>
              <a:endPara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Encuesta Nacional de Hogares</a:t>
              </a:r>
              <a:endParaRPr lang="es-PE" sz="16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  <p:sp>
          <p:nvSpPr>
            <p:cNvPr id="13" name="Flecha: a la derecha 12">
              <a:extLst>
                <a:ext uri="{FF2B5EF4-FFF2-40B4-BE49-F238E27FC236}">
                  <a16:creationId xmlns:a16="http://schemas.microsoft.com/office/drawing/2014/main" id="{E77490C8-5300-45BA-9F38-5BFED31D961A}"/>
                </a:ext>
              </a:extLst>
            </p:cNvPr>
            <p:cNvSpPr/>
            <p:nvPr/>
          </p:nvSpPr>
          <p:spPr>
            <a:xfrm>
              <a:off x="6754203" y="1907851"/>
              <a:ext cx="427333" cy="750256"/>
            </a:xfrm>
            <a:prstGeom prst="rightArrow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6" name="Rectángulo: esquinas redondeadas 15">
              <a:extLst>
                <a:ext uri="{FF2B5EF4-FFF2-40B4-BE49-F238E27FC236}">
                  <a16:creationId xmlns:a16="http://schemas.microsoft.com/office/drawing/2014/main" id="{D306806C-AC64-4564-AC86-F0A49A881245}"/>
                </a:ext>
              </a:extLst>
            </p:cNvPr>
            <p:cNvSpPr/>
            <p:nvPr/>
          </p:nvSpPr>
          <p:spPr>
            <a:xfrm>
              <a:off x="6282069" y="1412629"/>
              <a:ext cx="1371601" cy="495222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2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¿Qué tipo de encuesta es?</a:t>
              </a:r>
              <a:endParaRPr lang="es-PE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8" name="Conector: angular 17">
            <a:extLst>
              <a:ext uri="{FF2B5EF4-FFF2-40B4-BE49-F238E27FC236}">
                <a16:creationId xmlns:a16="http://schemas.microsoft.com/office/drawing/2014/main" id="{7A3A8CA6-9962-4E60-B780-F8F91B789AA5}"/>
              </a:ext>
            </a:extLst>
          </p:cNvPr>
          <p:cNvCxnSpPr>
            <a:cxnSpLocks/>
            <a:stCxn id="12" idx="2"/>
            <a:endCxn id="19" idx="1"/>
          </p:cNvCxnSpPr>
          <p:nvPr/>
        </p:nvCxnSpPr>
        <p:spPr>
          <a:xfrm rot="5400000">
            <a:off x="3054186" y="2761448"/>
            <a:ext cx="2042847" cy="1859114"/>
          </a:xfrm>
          <a:prstGeom prst="bentConnector4">
            <a:avLst>
              <a:gd name="adj1" fmla="val 16414"/>
              <a:gd name="adj2" fmla="val 112296"/>
            </a:avLst>
          </a:prstGeom>
          <a:ln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5A2D5B5D-2C23-4041-9117-39ECB5AB37F5}"/>
              </a:ext>
            </a:extLst>
          </p:cNvPr>
          <p:cNvSpPr/>
          <p:nvPr/>
        </p:nvSpPr>
        <p:spPr>
          <a:xfrm>
            <a:off x="3146052" y="4254644"/>
            <a:ext cx="1143165" cy="915570"/>
          </a:xfrm>
          <a:prstGeom prst="roundRect">
            <a:avLst>
              <a:gd name="adj" fmla="val 21670"/>
            </a:avLst>
          </a:prstGeom>
          <a:solidFill>
            <a:schemeClr val="accent1">
              <a:lumMod val="50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b="1" dirty="0">
                <a:solidFill>
                  <a:schemeClr val="bg1"/>
                </a:solidFill>
                <a:latin typeface="Times New Roman" panose="02020603050405020304" pitchFamily="18" charset="0"/>
                <a:ea typeface="Aptos" panose="020B0004020202020204"/>
              </a:rPr>
              <a:t>¿Qué módulos captura?</a:t>
            </a:r>
          </a:p>
        </p:txBody>
      </p:sp>
      <p:sp>
        <p:nvSpPr>
          <p:cNvPr id="29" name="Abrir llave 28">
            <a:extLst>
              <a:ext uri="{FF2B5EF4-FFF2-40B4-BE49-F238E27FC236}">
                <a16:creationId xmlns:a16="http://schemas.microsoft.com/office/drawing/2014/main" id="{B4656489-E80A-4707-961B-101C32E61F03}"/>
              </a:ext>
            </a:extLst>
          </p:cNvPr>
          <p:cNvSpPr/>
          <p:nvPr/>
        </p:nvSpPr>
        <p:spPr>
          <a:xfrm>
            <a:off x="4414649" y="3226528"/>
            <a:ext cx="450649" cy="3174271"/>
          </a:xfrm>
          <a:prstGeom prst="leftBrac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7EC17DA8-C708-4042-9146-489000E213C3}"/>
              </a:ext>
            </a:extLst>
          </p:cNvPr>
          <p:cNvSpPr/>
          <p:nvPr/>
        </p:nvSpPr>
        <p:spPr>
          <a:xfrm>
            <a:off x="7590980" y="1503058"/>
            <a:ext cx="3991918" cy="1102056"/>
          </a:xfrm>
          <a:prstGeom prst="roundRect">
            <a:avLst/>
          </a:prstGeom>
          <a:noFill/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</a:rPr>
              <a:t>Periodicidad anual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</a:rPr>
              <a:t>Unidad de análisis hogares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</a:rPr>
              <a:t>Muestreo probabilístico y estratificada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PE" sz="1400" dirty="0">
                <a:solidFill>
                  <a:schemeClr val="tx1"/>
                </a:solidFill>
              </a:rPr>
              <a:t>Año 2025, la muestra es de 33,702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PE" sz="1400" dirty="0">
                <a:solidFill>
                  <a:schemeClr val="tx1"/>
                </a:solidFill>
              </a:rPr>
              <a:t>Separado en 32 módulos, cada uno respecto a un tema distinto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6B8AF812-8EBB-449F-9EF4-ABC86EF40C01}"/>
              </a:ext>
            </a:extLst>
          </p:cNvPr>
          <p:cNvSpPr/>
          <p:nvPr/>
        </p:nvSpPr>
        <p:spPr>
          <a:xfrm>
            <a:off x="5055266" y="3347298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9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Características del hogar</a:t>
            </a: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27BA98DD-64FD-4620-8A6F-6AE7241A1178}"/>
              </a:ext>
            </a:extLst>
          </p:cNvPr>
          <p:cNvSpPr/>
          <p:nvPr/>
        </p:nvSpPr>
        <p:spPr>
          <a:xfrm>
            <a:off x="5055266" y="4943726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Sumarias</a:t>
            </a:r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4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9585E58C-6CDB-44BC-B0AB-8D54986A5F21}"/>
              </a:ext>
            </a:extLst>
          </p:cNvPr>
          <p:cNvSpPr/>
          <p:nvPr/>
        </p:nvSpPr>
        <p:spPr>
          <a:xfrm>
            <a:off x="7440298" y="3347298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Salud</a:t>
            </a:r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C0BDDE34-4B28-4AAC-963F-F0EFEF67D033}"/>
              </a:ext>
            </a:extLst>
          </p:cNvPr>
          <p:cNvSpPr/>
          <p:nvPr/>
        </p:nvSpPr>
        <p:spPr>
          <a:xfrm>
            <a:off x="7440298" y="4934433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Empleo e ingresos</a:t>
            </a: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0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4EDD00F5-BF1D-4049-B034-915F6BCC1223}"/>
              </a:ext>
            </a:extLst>
          </p:cNvPr>
          <p:cNvSpPr/>
          <p:nvPr/>
        </p:nvSpPr>
        <p:spPr>
          <a:xfrm>
            <a:off x="9825330" y="3347298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Educación</a:t>
            </a:r>
            <a:endParaRPr lang="es-PE" sz="24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4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  <a:p>
            <a:pPr algn="ctr"/>
            <a:endParaRPr lang="es-PE" sz="2400" b="1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/>
            </a:endParaRP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BC6A9EF1-42C4-4656-A86E-DC5F998EF401}"/>
              </a:ext>
            </a:extLst>
          </p:cNvPr>
          <p:cNvSpPr/>
          <p:nvPr/>
        </p:nvSpPr>
        <p:spPr>
          <a:xfrm>
            <a:off x="9825330" y="4934433"/>
            <a:ext cx="2056288" cy="1230992"/>
          </a:xfrm>
          <a:prstGeom prst="roundRect">
            <a:avLst>
              <a:gd name="adj" fmla="val 0"/>
            </a:avLst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Otros</a:t>
            </a:r>
          </a:p>
          <a:p>
            <a:pPr algn="ctr"/>
            <a:r>
              <a:rPr lang="es-PE" sz="12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(crianza de mascotas, inseguridad, </a:t>
            </a:r>
            <a:r>
              <a:rPr lang="es-PE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etc</a:t>
            </a:r>
            <a:r>
              <a:rPr lang="es-PE" sz="12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)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4079A79-35B0-4B61-A6C2-732AFD89410A}"/>
              </a:ext>
            </a:extLst>
          </p:cNvPr>
          <p:cNvSpPr txBox="1"/>
          <p:nvPr/>
        </p:nvSpPr>
        <p:spPr>
          <a:xfrm>
            <a:off x="8306972" y="6381956"/>
            <a:ext cx="38045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600" i="1" dirty="0">
                <a:latin typeface="Times New Roman"/>
                <a:cs typeface="Times New Roman"/>
                <a:hlinkClick r:id="rId5"/>
              </a:rPr>
              <a:t>https://proyectos.inei.gob.pe/microdatos/</a:t>
            </a:r>
            <a:r>
              <a:rPr lang="es-PE" sz="1600" i="1" dirty="0">
                <a:latin typeface="Times New Roman"/>
                <a:cs typeface="Times New Roman"/>
              </a:rPr>
              <a:t> </a:t>
            </a:r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28A3E191-729E-48F9-B5A1-5DE04A736D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8810" y="3979747"/>
            <a:ext cx="534380" cy="534380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A349F58B-48DB-44A0-A928-82A6C7D9FF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6609" y="3929869"/>
            <a:ext cx="563666" cy="563666"/>
          </a:xfrm>
          <a:prstGeom prst="rect">
            <a:avLst/>
          </a:prstGeom>
        </p:spPr>
      </p:pic>
      <p:pic>
        <p:nvPicPr>
          <p:cNvPr id="49" name="Imagen 48">
            <a:extLst>
              <a:ext uri="{FF2B5EF4-FFF2-40B4-BE49-F238E27FC236}">
                <a16:creationId xmlns:a16="http://schemas.microsoft.com/office/drawing/2014/main" id="{4859C64B-1114-4D8B-85C1-AAFABAD790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005" y="3929869"/>
            <a:ext cx="462938" cy="462938"/>
          </a:xfrm>
          <a:prstGeom prst="rect">
            <a:avLst/>
          </a:prstGeom>
        </p:spPr>
      </p:pic>
      <p:pic>
        <p:nvPicPr>
          <p:cNvPr id="52" name="Imagen 51">
            <a:extLst>
              <a:ext uri="{FF2B5EF4-FFF2-40B4-BE49-F238E27FC236}">
                <a16:creationId xmlns:a16="http://schemas.microsoft.com/office/drawing/2014/main" id="{F17DF964-7242-407D-9A0F-30340B2FE7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8709" y="5496374"/>
            <a:ext cx="494581" cy="494581"/>
          </a:xfrm>
          <a:prstGeom prst="rect">
            <a:avLst/>
          </a:prstGeom>
        </p:spPr>
      </p:pic>
      <p:pic>
        <p:nvPicPr>
          <p:cNvPr id="53" name="Imagen 52">
            <a:extLst>
              <a:ext uri="{FF2B5EF4-FFF2-40B4-BE49-F238E27FC236}">
                <a16:creationId xmlns:a16="http://schemas.microsoft.com/office/drawing/2014/main" id="{40C15A8E-E97D-4981-A9C8-166020F454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50084" y="5613283"/>
            <a:ext cx="436716" cy="436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249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-1" y="0"/>
            <a:ext cx="12192001" cy="1084521"/>
            <a:chOff x="-1" y="0"/>
            <a:chExt cx="12192001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-1" y="83110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3. 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30643" y="1223020"/>
            <a:ext cx="11039393" cy="5443930"/>
            <a:chOff x="330643" y="1110829"/>
            <a:chExt cx="11039393" cy="5443930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414594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3" y="2014953"/>
              <a:ext cx="1371601" cy="343312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Situación actual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20827" y="1110829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08212" y="1594800"/>
              <a:ext cx="7332406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7962" y="3291840"/>
              <a:ext cx="9702656" cy="1696197"/>
              <a:chOff x="337962" y="3157013"/>
              <a:chExt cx="9702656" cy="1696197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7962" y="3715148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Cuestión a responder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EB4E1523-6335-476F-A8F5-BD3F8845CB7B}"/>
                  </a:ext>
                </a:extLst>
              </p:cNvPr>
              <p:cNvSpPr txBox="1"/>
              <p:nvPr/>
            </p:nvSpPr>
            <p:spPr>
              <a:xfrm>
                <a:off x="4047266" y="4244681"/>
                <a:ext cx="4654295" cy="369332"/>
              </a:xfrm>
              <a:prstGeom prst="rect">
                <a:avLst/>
              </a:prstGeom>
              <a:noFill/>
              <a:ln>
                <a:noFill/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b="1" dirty="0">
                    <a:latin typeface="Times New Roman"/>
                    <a:cs typeface="Times New Roman"/>
                  </a:rPr>
                  <a:t>Modelo de aprendizaje no supervisado</a:t>
                </a:r>
                <a:endParaRPr lang="es-PE" b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3235988"/>
                <a:ext cx="7332406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E7E8E380-7108-49C7-A744-00A32B3FFAFA}"/>
                </a:ext>
              </a:extLst>
            </p:cNvPr>
            <p:cNvSpPr txBox="1"/>
            <p:nvPr/>
          </p:nvSpPr>
          <p:spPr>
            <a:xfrm>
              <a:off x="2430591" y="5514542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Enfoque de </a:t>
              </a:r>
              <a:r>
                <a:rPr lang="es-ES" sz="1600" i="1" dirty="0" err="1">
                  <a:latin typeface="Times New Roman"/>
                  <a:cs typeface="Times New Roman"/>
                </a:rPr>
                <a:t>clustering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B13EE5D0-1870-43A6-9068-4D7538D6058F}"/>
                </a:ext>
              </a:extLst>
            </p:cNvPr>
            <p:cNvSpPr txBox="1"/>
            <p:nvPr/>
          </p:nvSpPr>
          <p:spPr>
            <a:xfrm>
              <a:off x="4402900" y="5514541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Explorar distintos niveles de k</a:t>
              </a:r>
              <a:endParaRPr lang="es-PE" sz="1600" dirty="0">
                <a:latin typeface="Times New Roman"/>
                <a:cs typeface="Times New Roman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1E018815-9607-4192-83A5-CDD2A027A398}"/>
                </a:ext>
              </a:extLst>
            </p:cNvPr>
            <p:cNvSpPr txBox="1"/>
            <p:nvPr/>
          </p:nvSpPr>
          <p:spPr>
            <a:xfrm>
              <a:off x="6416168" y="5514541"/>
              <a:ext cx="169310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200" dirty="0">
                  <a:latin typeface="Times New Roman"/>
                  <a:cs typeface="Times New Roman"/>
                </a:rPr>
                <a:t>Incorporación de variables de acceso, gasto, carga energética y condición socioeconómica</a:t>
              </a:r>
              <a:endParaRPr lang="es-PE" sz="1200" dirty="0">
                <a:latin typeface="Times New Roman"/>
                <a:cs typeface="Times New Roman"/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E1DFD5BE-D27B-4551-B025-13E7E407215F}"/>
                </a:ext>
              </a:extLst>
            </p:cNvPr>
            <p:cNvSpPr txBox="1"/>
            <p:nvPr/>
          </p:nvSpPr>
          <p:spPr>
            <a:xfrm>
              <a:off x="8347518" y="5514541"/>
              <a:ext cx="1693100" cy="73866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400" dirty="0">
                  <a:latin typeface="Times New Roman"/>
                  <a:cs typeface="Times New Roman"/>
                </a:rPr>
                <a:t>Algoritmo descubre agrupaciones naturales de hogares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3" y="55390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Valor agregado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61052803-7D2E-458B-9D27-C9E35FEB1A87}"/>
                </a:ext>
              </a:extLst>
            </p:cNvPr>
            <p:cNvCxnSpPr>
              <a:stCxn id="17" idx="2"/>
              <a:endCxn id="21" idx="0"/>
            </p:cNvCxnSpPr>
            <p:nvPr/>
          </p:nvCxnSpPr>
          <p:spPr>
            <a:xfrm flipH="1">
              <a:off x="3277141" y="4748840"/>
              <a:ext cx="3097273" cy="7657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de flecha 45">
              <a:extLst>
                <a:ext uri="{FF2B5EF4-FFF2-40B4-BE49-F238E27FC236}">
                  <a16:creationId xmlns:a16="http://schemas.microsoft.com/office/drawing/2014/main" id="{BA4DBA91-EF86-4CFB-901A-0F90546B2841}"/>
                </a:ext>
              </a:extLst>
            </p:cNvPr>
            <p:cNvCxnSpPr>
              <a:cxnSpLocks/>
              <a:stCxn id="17" idx="2"/>
              <a:endCxn id="22" idx="0"/>
            </p:cNvCxnSpPr>
            <p:nvPr/>
          </p:nvCxnSpPr>
          <p:spPr>
            <a:xfrm flipH="1">
              <a:off x="5249450" y="4748840"/>
              <a:ext cx="112496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de flecha 48">
              <a:extLst>
                <a:ext uri="{FF2B5EF4-FFF2-40B4-BE49-F238E27FC236}">
                  <a16:creationId xmlns:a16="http://schemas.microsoft.com/office/drawing/2014/main" id="{8F78FD4B-9EC8-4F83-B472-25432DA33D57}"/>
                </a:ext>
              </a:extLst>
            </p:cNvPr>
            <p:cNvCxnSpPr>
              <a:cxnSpLocks/>
              <a:stCxn id="17" idx="2"/>
              <a:endCxn id="23" idx="0"/>
            </p:cNvCxnSpPr>
            <p:nvPr/>
          </p:nvCxnSpPr>
          <p:spPr>
            <a:xfrm>
              <a:off x="6374414" y="4748840"/>
              <a:ext cx="88830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CBDC2F6E-3D09-45BE-8B64-5F6157410335}"/>
                </a:ext>
              </a:extLst>
            </p:cNvPr>
            <p:cNvCxnSpPr>
              <a:cxnSpLocks/>
              <a:stCxn id="17" idx="2"/>
              <a:endCxn id="24" idx="0"/>
            </p:cNvCxnSpPr>
            <p:nvPr/>
          </p:nvCxnSpPr>
          <p:spPr>
            <a:xfrm>
              <a:off x="6374414" y="4748840"/>
              <a:ext cx="281965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15D8A41-74C1-E59A-ED6F-41766D210C69}"/>
              </a:ext>
            </a:extLst>
          </p:cNvPr>
          <p:cNvSpPr/>
          <p:nvPr/>
        </p:nvSpPr>
        <p:spPr>
          <a:xfrm rot="16200000">
            <a:off x="6923505" y="1524000"/>
            <a:ext cx="6858000" cy="381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CEC734-E80F-BC59-2BA9-E1569DA34ED3}"/>
              </a:ext>
            </a:extLst>
          </p:cNvPr>
          <p:cNvSpPr/>
          <p:nvPr/>
        </p:nvSpPr>
        <p:spPr>
          <a:xfrm rot="16200000">
            <a:off x="7369082" y="1930154"/>
            <a:ext cx="2156847" cy="2274135"/>
          </a:xfrm>
          <a:prstGeom prst="roundRect">
            <a:avLst>
              <a:gd name="adj" fmla="val 960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/>
              <a:t>Heatmap de valores perdidos</a:t>
            </a:r>
          </a:p>
        </p:txBody>
      </p:sp>
      <p:pic>
        <p:nvPicPr>
          <p:cNvPr id="27" name="Picture Placeholder 26" descr="Woman using cell phone at digital data science display">
            <a:extLst>
              <a:ext uri="{FF2B5EF4-FFF2-40B4-BE49-F238E27FC236}">
                <a16:creationId xmlns:a16="http://schemas.microsoft.com/office/drawing/2014/main" id="{F093771A-4653-D8CA-C8F7-396DD1AE592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3468" y="1310317"/>
            <a:ext cx="4907960" cy="4407311"/>
          </a:xfrm>
        </p:spPr>
      </p:pic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635278" y="1390613"/>
            <a:ext cx="6675160" cy="646331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384385" y="983104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7" y="761981"/>
            <a:ext cx="503802" cy="50380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7" y="2161774"/>
            <a:ext cx="5891645" cy="4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1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0000" decel="40000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" grpId="0"/>
      <p:bldP spid="7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45F40CE-4690-3E91-D872-D15946605FCA}"/>
              </a:ext>
            </a:extLst>
          </p:cNvPr>
          <p:cNvSpPr/>
          <p:nvPr/>
        </p:nvSpPr>
        <p:spPr>
          <a:xfrm>
            <a:off x="6916198" y="2289936"/>
            <a:ext cx="1565783" cy="1339659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B1F7234-3ED5-9B62-CDB2-22C25604311E}"/>
              </a:ext>
            </a:extLst>
          </p:cNvPr>
          <p:cNvSpPr/>
          <p:nvPr/>
        </p:nvSpPr>
        <p:spPr>
          <a:xfrm>
            <a:off x="7394608" y="3629596"/>
            <a:ext cx="1087374" cy="930338"/>
          </a:xfrm>
          <a:custGeom>
            <a:avLst/>
            <a:gdLst>
              <a:gd name="connsiteX0" fmla="*/ 543687 w 1087374"/>
              <a:gd name="connsiteY0" fmla="*/ 930338 h 930338"/>
              <a:gd name="connsiteX1" fmla="*/ 1087374 w 1087374"/>
              <a:gd name="connsiteY1" fmla="*/ 0 h 930338"/>
              <a:gd name="connsiteX2" fmla="*/ 0 w 1087374"/>
              <a:gd name="connsiteY2" fmla="*/ 0 h 930338"/>
              <a:gd name="connsiteX3" fmla="*/ 543687 w 1087374"/>
              <a:gd name="connsiteY3" fmla="*/ 930338 h 930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7374" h="930338">
                <a:moveTo>
                  <a:pt x="543687" y="930338"/>
                </a:moveTo>
                <a:lnTo>
                  <a:pt x="1087374" y="0"/>
                </a:lnTo>
                <a:lnTo>
                  <a:pt x="0" y="0"/>
                </a:lnTo>
                <a:lnTo>
                  <a:pt x="543687" y="930338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CE5341-E20D-9865-A1B1-D8EE5EF06A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926" y="158483"/>
            <a:ext cx="5410073" cy="886397"/>
          </a:xfrm>
        </p:spPr>
        <p:txBody>
          <a:bodyPr/>
          <a:lstStyle/>
          <a:p>
            <a:r>
              <a:rPr lang="es-ES_tradnl" sz="3200" noProof="1"/>
              <a:t>Correlación de valores perdidos</a:t>
            </a:r>
          </a:p>
        </p:txBody>
      </p:sp>
      <p:pic>
        <p:nvPicPr>
          <p:cNvPr id="41" name="Picture Placeholder 40">
            <a:extLst>
              <a:ext uri="{FF2B5EF4-FFF2-40B4-BE49-F238E27FC236}">
                <a16:creationId xmlns:a16="http://schemas.microsoft.com/office/drawing/2014/main" id="{8AC07181-603C-D644-82D8-9AC92322810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92825" y="824358"/>
            <a:ext cx="5599176" cy="6033643"/>
          </a:xfr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AF151E5-36BB-9F76-739C-FF73F433DB70}"/>
              </a:ext>
            </a:extLst>
          </p:cNvPr>
          <p:cNvGrpSpPr/>
          <p:nvPr/>
        </p:nvGrpSpPr>
        <p:grpSpPr>
          <a:xfrm>
            <a:off x="-1038478" y="1194348"/>
            <a:ext cx="8289925" cy="1321062"/>
            <a:chOff x="-1053154" y="4884422"/>
            <a:chExt cx="8289925" cy="1321062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4C6917FC-6819-4054-849C-62731157F6D7}"/>
                </a:ext>
              </a:extLst>
            </p:cNvPr>
            <p:cNvSpPr/>
            <p:nvPr/>
          </p:nvSpPr>
          <p:spPr>
            <a:xfrm>
              <a:off x="-1053154" y="4884422"/>
              <a:ext cx="8289925" cy="1321062"/>
            </a:xfrm>
            <a:prstGeom prst="parallelogram">
              <a:avLst>
                <a:gd name="adj" fmla="val 596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DC936004-8EB0-A0C0-6DF8-7A140864CECC}"/>
                </a:ext>
              </a:extLst>
            </p:cNvPr>
            <p:cNvGrpSpPr/>
            <p:nvPr/>
          </p:nvGrpSpPr>
          <p:grpSpPr>
            <a:xfrm>
              <a:off x="1888205" y="5138099"/>
              <a:ext cx="4689943" cy="936819"/>
              <a:chOff x="1888205" y="5137938"/>
              <a:chExt cx="4689943" cy="936819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95C88A-758C-992D-082C-17857CB3124A}"/>
                  </a:ext>
                </a:extLst>
              </p:cNvPr>
              <p:cNvSpPr txBox="1"/>
              <p:nvPr/>
            </p:nvSpPr>
            <p:spPr>
              <a:xfrm>
                <a:off x="1888205" y="5520759"/>
                <a:ext cx="468994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>
                <a:defPPr>
                  <a:defRPr lang="en-US"/>
                </a:defPPr>
                <a:lvl1pPr>
                  <a:defRPr sz="1400" b="0" i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just"/>
                <a:r>
                  <a:rPr lang="es-ES_tradnl" sz="1200" noProof="1">
                    <a:solidFill>
                      <a:schemeClr val="bg1"/>
                    </a:solidFill>
                  </a:rPr>
                  <a:t>Los missings entre gas GLP y gas natural presentan una correlación negativa moderada (−0,57), lo que sugiere que ambos combustibles actúan como sustitutos entre los hogares encuestados. 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79BD56E-B303-35C3-C1B0-BEAD5F0BA218}"/>
                  </a:ext>
                </a:extLst>
              </p:cNvPr>
              <p:cNvSpPr txBox="1"/>
              <p:nvPr/>
            </p:nvSpPr>
            <p:spPr>
              <a:xfrm>
                <a:off x="1888205" y="5137938"/>
                <a:ext cx="4096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Desconocimiento uso energía</a:t>
                </a:r>
              </a:p>
            </p:txBody>
          </p:sp>
        </p:grp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B08C7E3-50C8-3DB0-C269-0B075A23F51F}"/>
                </a:ext>
              </a:extLst>
            </p:cNvPr>
            <p:cNvSpPr/>
            <p:nvPr/>
          </p:nvSpPr>
          <p:spPr>
            <a:xfrm>
              <a:off x="686134" y="5123234"/>
              <a:ext cx="843440" cy="843438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 112">
              <a:extLst>
                <a:ext uri="{FF2B5EF4-FFF2-40B4-BE49-F238E27FC236}">
                  <a16:creationId xmlns:a16="http://schemas.microsoft.com/office/drawing/2014/main" id="{2BB9018F-8432-7C97-68BF-31925A66B0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97150" y="5334249"/>
              <a:ext cx="421409" cy="421409"/>
            </a:xfrm>
            <a:custGeom>
              <a:avLst/>
              <a:gdLst>
                <a:gd name="T0" fmla="*/ 12 w 313"/>
                <a:gd name="T1" fmla="*/ 156 h 313"/>
                <a:gd name="T2" fmla="*/ 18 w 313"/>
                <a:gd name="T3" fmla="*/ 84 h 313"/>
                <a:gd name="T4" fmla="*/ 22 w 313"/>
                <a:gd name="T5" fmla="*/ 230 h 313"/>
                <a:gd name="T6" fmla="*/ 94 w 313"/>
                <a:gd name="T7" fmla="*/ 26 h 313"/>
                <a:gd name="T8" fmla="*/ 226 w 313"/>
                <a:gd name="T9" fmla="*/ 29 h 313"/>
                <a:gd name="T10" fmla="*/ 157 w 313"/>
                <a:gd name="T11" fmla="*/ 0 h 313"/>
                <a:gd name="T12" fmla="*/ 94 w 313"/>
                <a:gd name="T13" fmla="*/ 26 h 313"/>
                <a:gd name="T14" fmla="*/ 281 w 313"/>
                <a:gd name="T15" fmla="*/ 62 h 313"/>
                <a:gd name="T16" fmla="*/ 292 w 313"/>
                <a:gd name="T17" fmla="*/ 32 h 313"/>
                <a:gd name="T18" fmla="*/ 262 w 313"/>
                <a:gd name="T19" fmla="*/ 21 h 313"/>
                <a:gd name="T20" fmla="*/ 237 w 313"/>
                <a:gd name="T21" fmla="*/ 28 h 313"/>
                <a:gd name="T22" fmla="*/ 125 w 313"/>
                <a:gd name="T23" fmla="*/ 74 h 313"/>
                <a:gd name="T24" fmla="*/ 63 w 313"/>
                <a:gd name="T25" fmla="*/ 31 h 313"/>
                <a:gd name="T26" fmla="*/ 34 w 313"/>
                <a:gd name="T27" fmla="*/ 22 h 313"/>
                <a:gd name="T28" fmla="*/ 22 w 313"/>
                <a:gd name="T29" fmla="*/ 52 h 313"/>
                <a:gd name="T30" fmla="*/ 29 w 313"/>
                <a:gd name="T31" fmla="*/ 74 h 313"/>
                <a:gd name="T32" fmla="*/ 75 w 313"/>
                <a:gd name="T33" fmla="*/ 191 h 313"/>
                <a:gd name="T34" fmla="*/ 32 w 313"/>
                <a:gd name="T35" fmla="*/ 251 h 313"/>
                <a:gd name="T36" fmla="*/ 22 w 313"/>
                <a:gd name="T37" fmla="*/ 280 h 313"/>
                <a:gd name="T38" fmla="*/ 43 w 313"/>
                <a:gd name="T39" fmla="*/ 295 h 313"/>
                <a:gd name="T40" fmla="*/ 157 w 313"/>
                <a:gd name="T41" fmla="*/ 313 h 313"/>
                <a:gd name="T42" fmla="*/ 247 w 313"/>
                <a:gd name="T43" fmla="*/ 284 h 313"/>
                <a:gd name="T44" fmla="*/ 270 w 313"/>
                <a:gd name="T45" fmla="*/ 296 h 313"/>
                <a:gd name="T46" fmla="*/ 291 w 313"/>
                <a:gd name="T47" fmla="*/ 282 h 313"/>
                <a:gd name="T48" fmla="*/ 281 w 313"/>
                <a:gd name="T49" fmla="*/ 251 h 313"/>
                <a:gd name="T50" fmla="*/ 238 w 313"/>
                <a:gd name="T51" fmla="*/ 190 h 313"/>
                <a:gd name="T52" fmla="*/ 280 w 313"/>
                <a:gd name="T53" fmla="*/ 82 h 313"/>
                <a:gd name="T54" fmla="*/ 272 w 313"/>
                <a:gd name="T55" fmla="*/ 29 h 313"/>
                <a:gd name="T56" fmla="*/ 284 w 313"/>
                <a:gd name="T57" fmla="*/ 42 h 313"/>
                <a:gd name="T58" fmla="*/ 260 w 313"/>
                <a:gd name="T59" fmla="*/ 39 h 313"/>
                <a:gd name="T60" fmla="*/ 274 w 313"/>
                <a:gd name="T61" fmla="*/ 72 h 313"/>
                <a:gd name="T62" fmla="*/ 242 w 313"/>
                <a:gd name="T63" fmla="*/ 40 h 313"/>
                <a:gd name="T64" fmla="*/ 157 w 313"/>
                <a:gd name="T65" fmla="*/ 233 h 313"/>
                <a:gd name="T66" fmla="*/ 88 w 313"/>
                <a:gd name="T67" fmla="*/ 124 h 313"/>
                <a:gd name="T68" fmla="*/ 31 w 313"/>
                <a:gd name="T69" fmla="*/ 44 h 313"/>
                <a:gd name="T70" fmla="*/ 42 w 313"/>
                <a:gd name="T71" fmla="*/ 30 h 313"/>
                <a:gd name="T72" fmla="*/ 54 w 313"/>
                <a:gd name="T73" fmla="*/ 39 h 313"/>
                <a:gd name="T74" fmla="*/ 41 w 313"/>
                <a:gd name="T75" fmla="*/ 69 h 313"/>
                <a:gd name="T76" fmla="*/ 82 w 313"/>
                <a:gd name="T77" fmla="*/ 110 h 313"/>
                <a:gd name="T78" fmla="*/ 43 w 313"/>
                <a:gd name="T79" fmla="*/ 283 h 313"/>
                <a:gd name="T80" fmla="*/ 30 w 313"/>
                <a:gd name="T81" fmla="*/ 270 h 313"/>
                <a:gd name="T82" fmla="*/ 53 w 313"/>
                <a:gd name="T83" fmla="*/ 274 h 313"/>
                <a:gd name="T84" fmla="*/ 81 w 313"/>
                <a:gd name="T85" fmla="*/ 202 h 313"/>
                <a:gd name="T86" fmla="*/ 41 w 313"/>
                <a:gd name="T87" fmla="*/ 242 h 313"/>
                <a:gd name="T88" fmla="*/ 123 w 313"/>
                <a:gd name="T89" fmla="*/ 238 h 313"/>
                <a:gd name="T90" fmla="*/ 232 w 313"/>
                <a:gd name="T91" fmla="*/ 279 h 313"/>
                <a:gd name="T92" fmla="*/ 201 w 313"/>
                <a:gd name="T93" fmla="*/ 233 h 313"/>
                <a:gd name="T94" fmla="*/ 259 w 313"/>
                <a:gd name="T95" fmla="*/ 259 h 313"/>
                <a:gd name="T96" fmla="*/ 272 w 313"/>
                <a:gd name="T97" fmla="*/ 284 h 313"/>
                <a:gd name="T98" fmla="*/ 259 w 313"/>
                <a:gd name="T99" fmla="*/ 274 h 313"/>
                <a:gd name="T100" fmla="*/ 283 w 313"/>
                <a:gd name="T101" fmla="*/ 272 h 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13" h="313">
                  <a:moveTo>
                    <a:pt x="25" y="229"/>
                  </a:moveTo>
                  <a:cubicBezTo>
                    <a:pt x="28" y="228"/>
                    <a:pt x="29" y="224"/>
                    <a:pt x="28" y="221"/>
                  </a:cubicBezTo>
                  <a:cubicBezTo>
                    <a:pt x="18" y="202"/>
                    <a:pt x="12" y="180"/>
                    <a:pt x="12" y="156"/>
                  </a:cubicBezTo>
                  <a:cubicBezTo>
                    <a:pt x="12" y="132"/>
                    <a:pt x="18" y="110"/>
                    <a:pt x="29" y="90"/>
                  </a:cubicBezTo>
                  <a:cubicBezTo>
                    <a:pt x="30" y="87"/>
                    <a:pt x="29" y="83"/>
                    <a:pt x="26" y="82"/>
                  </a:cubicBezTo>
                  <a:cubicBezTo>
                    <a:pt x="23" y="80"/>
                    <a:pt x="19" y="81"/>
                    <a:pt x="18" y="84"/>
                  </a:cubicBezTo>
                  <a:cubicBezTo>
                    <a:pt x="7" y="106"/>
                    <a:pt x="0" y="130"/>
                    <a:pt x="0" y="156"/>
                  </a:cubicBezTo>
                  <a:cubicBezTo>
                    <a:pt x="0" y="182"/>
                    <a:pt x="6" y="205"/>
                    <a:pt x="17" y="226"/>
                  </a:cubicBezTo>
                  <a:cubicBezTo>
                    <a:pt x="18" y="229"/>
                    <a:pt x="20" y="230"/>
                    <a:pt x="22" y="230"/>
                  </a:cubicBezTo>
                  <a:cubicBezTo>
                    <a:pt x="23" y="230"/>
                    <a:pt x="24" y="230"/>
                    <a:pt x="25" y="229"/>
                  </a:cubicBezTo>
                  <a:close/>
                  <a:moveTo>
                    <a:pt x="94" y="26"/>
                  </a:moveTo>
                  <a:cubicBezTo>
                    <a:pt x="94" y="26"/>
                    <a:pt x="94" y="26"/>
                    <a:pt x="94" y="26"/>
                  </a:cubicBezTo>
                  <a:cubicBezTo>
                    <a:pt x="113" y="17"/>
                    <a:pt x="134" y="12"/>
                    <a:pt x="157" y="12"/>
                  </a:cubicBezTo>
                  <a:cubicBezTo>
                    <a:pt x="181" y="12"/>
                    <a:pt x="203" y="18"/>
                    <a:pt x="223" y="28"/>
                  </a:cubicBezTo>
                  <a:cubicBezTo>
                    <a:pt x="224" y="29"/>
                    <a:pt x="225" y="29"/>
                    <a:pt x="226" y="29"/>
                  </a:cubicBezTo>
                  <a:cubicBezTo>
                    <a:pt x="228" y="29"/>
                    <a:pt x="230" y="28"/>
                    <a:pt x="231" y="26"/>
                  </a:cubicBezTo>
                  <a:cubicBezTo>
                    <a:pt x="233" y="23"/>
                    <a:pt x="232" y="19"/>
                    <a:pt x="229" y="18"/>
                  </a:cubicBezTo>
                  <a:cubicBezTo>
                    <a:pt x="207" y="6"/>
                    <a:pt x="183" y="0"/>
                    <a:pt x="157" y="0"/>
                  </a:cubicBezTo>
                  <a:cubicBezTo>
                    <a:pt x="133" y="0"/>
                    <a:pt x="110" y="6"/>
                    <a:pt x="89" y="15"/>
                  </a:cubicBezTo>
                  <a:cubicBezTo>
                    <a:pt x="86" y="17"/>
                    <a:pt x="85" y="20"/>
                    <a:pt x="86" y="23"/>
                  </a:cubicBezTo>
                  <a:cubicBezTo>
                    <a:pt x="88" y="26"/>
                    <a:pt x="91" y="28"/>
                    <a:pt x="94" y="26"/>
                  </a:cubicBezTo>
                  <a:close/>
                  <a:moveTo>
                    <a:pt x="281" y="251"/>
                  </a:moveTo>
                  <a:cubicBezTo>
                    <a:pt x="301" y="225"/>
                    <a:pt x="313" y="192"/>
                    <a:pt x="313" y="156"/>
                  </a:cubicBezTo>
                  <a:cubicBezTo>
                    <a:pt x="313" y="121"/>
                    <a:pt x="301" y="89"/>
                    <a:pt x="281" y="62"/>
                  </a:cubicBezTo>
                  <a:cubicBezTo>
                    <a:pt x="292" y="52"/>
                    <a:pt x="292" y="52"/>
                    <a:pt x="292" y="52"/>
                  </a:cubicBezTo>
                  <a:cubicBezTo>
                    <a:pt x="295" y="49"/>
                    <a:pt x="296" y="45"/>
                    <a:pt x="296" y="42"/>
                  </a:cubicBezTo>
                  <a:cubicBezTo>
                    <a:pt x="296" y="38"/>
                    <a:pt x="295" y="35"/>
                    <a:pt x="292" y="32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79" y="18"/>
                    <a:pt x="275" y="17"/>
                    <a:pt x="272" y="17"/>
                  </a:cubicBezTo>
                  <a:cubicBezTo>
                    <a:pt x="268" y="17"/>
                    <a:pt x="265" y="18"/>
                    <a:pt x="262" y="21"/>
                  </a:cubicBezTo>
                  <a:cubicBezTo>
                    <a:pt x="251" y="32"/>
                    <a:pt x="251" y="32"/>
                    <a:pt x="251" y="32"/>
                  </a:cubicBezTo>
                  <a:cubicBezTo>
                    <a:pt x="249" y="30"/>
                    <a:pt x="247" y="29"/>
                    <a:pt x="245" y="27"/>
                  </a:cubicBezTo>
                  <a:cubicBezTo>
                    <a:pt x="243" y="26"/>
                    <a:pt x="239" y="26"/>
                    <a:pt x="237" y="28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80" y="71"/>
                    <a:pt x="169" y="68"/>
                    <a:pt x="157" y="68"/>
                  </a:cubicBezTo>
                  <a:cubicBezTo>
                    <a:pt x="146" y="68"/>
                    <a:pt x="135" y="70"/>
                    <a:pt x="125" y="74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6" y="25"/>
                    <a:pt x="73" y="24"/>
                    <a:pt x="71" y="26"/>
                  </a:cubicBezTo>
                  <a:cubicBezTo>
                    <a:pt x="68" y="28"/>
                    <a:pt x="65" y="30"/>
                    <a:pt x="63" y="31"/>
                  </a:cubicBezTo>
                  <a:cubicBezTo>
                    <a:pt x="53" y="22"/>
                    <a:pt x="53" y="22"/>
                    <a:pt x="53" y="22"/>
                  </a:cubicBezTo>
                  <a:cubicBezTo>
                    <a:pt x="51" y="19"/>
                    <a:pt x="47" y="18"/>
                    <a:pt x="43" y="18"/>
                  </a:cubicBezTo>
                  <a:cubicBezTo>
                    <a:pt x="40" y="18"/>
                    <a:pt x="36" y="19"/>
                    <a:pt x="34" y="22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0" y="35"/>
                    <a:pt x="18" y="39"/>
                    <a:pt x="18" y="42"/>
                  </a:cubicBezTo>
                  <a:cubicBezTo>
                    <a:pt x="18" y="46"/>
                    <a:pt x="20" y="49"/>
                    <a:pt x="22" y="52"/>
                  </a:cubicBezTo>
                  <a:cubicBezTo>
                    <a:pt x="32" y="62"/>
                    <a:pt x="32" y="62"/>
                    <a:pt x="32" y="62"/>
                  </a:cubicBezTo>
                  <a:cubicBezTo>
                    <a:pt x="31" y="63"/>
                    <a:pt x="30" y="65"/>
                    <a:pt x="29" y="67"/>
                  </a:cubicBezTo>
                  <a:cubicBezTo>
                    <a:pt x="27" y="69"/>
                    <a:pt x="27" y="72"/>
                    <a:pt x="29" y="74"/>
                  </a:cubicBezTo>
                  <a:cubicBezTo>
                    <a:pt x="76" y="121"/>
                    <a:pt x="76" y="121"/>
                    <a:pt x="76" y="121"/>
                  </a:cubicBezTo>
                  <a:cubicBezTo>
                    <a:pt x="71" y="132"/>
                    <a:pt x="68" y="144"/>
                    <a:pt x="68" y="156"/>
                  </a:cubicBezTo>
                  <a:cubicBezTo>
                    <a:pt x="68" y="169"/>
                    <a:pt x="71" y="180"/>
                    <a:pt x="75" y="191"/>
                  </a:cubicBezTo>
                  <a:cubicBezTo>
                    <a:pt x="29" y="237"/>
                    <a:pt x="29" y="237"/>
                    <a:pt x="29" y="237"/>
                  </a:cubicBezTo>
                  <a:cubicBezTo>
                    <a:pt x="26" y="239"/>
                    <a:pt x="26" y="243"/>
                    <a:pt x="28" y="245"/>
                  </a:cubicBezTo>
                  <a:cubicBezTo>
                    <a:pt x="29" y="247"/>
                    <a:pt x="30" y="249"/>
                    <a:pt x="32" y="251"/>
                  </a:cubicBezTo>
                  <a:cubicBezTo>
                    <a:pt x="22" y="260"/>
                    <a:pt x="22" y="260"/>
                    <a:pt x="22" y="260"/>
                  </a:cubicBezTo>
                  <a:cubicBezTo>
                    <a:pt x="19" y="263"/>
                    <a:pt x="18" y="267"/>
                    <a:pt x="18" y="270"/>
                  </a:cubicBezTo>
                  <a:cubicBezTo>
                    <a:pt x="18" y="274"/>
                    <a:pt x="19" y="277"/>
                    <a:pt x="22" y="280"/>
                  </a:cubicBezTo>
                  <a:cubicBezTo>
                    <a:pt x="32" y="291"/>
                    <a:pt x="32" y="291"/>
                    <a:pt x="32" y="291"/>
                  </a:cubicBezTo>
                  <a:cubicBezTo>
                    <a:pt x="35" y="294"/>
                    <a:pt x="39" y="295"/>
                    <a:pt x="43" y="295"/>
                  </a:cubicBezTo>
                  <a:cubicBezTo>
                    <a:pt x="43" y="295"/>
                    <a:pt x="43" y="295"/>
                    <a:pt x="43" y="295"/>
                  </a:cubicBezTo>
                  <a:cubicBezTo>
                    <a:pt x="46" y="295"/>
                    <a:pt x="50" y="294"/>
                    <a:pt x="52" y="291"/>
                  </a:cubicBezTo>
                  <a:cubicBezTo>
                    <a:pt x="62" y="281"/>
                    <a:pt x="62" y="281"/>
                    <a:pt x="62" y="281"/>
                  </a:cubicBezTo>
                  <a:cubicBezTo>
                    <a:pt x="89" y="301"/>
                    <a:pt x="121" y="313"/>
                    <a:pt x="157" y="313"/>
                  </a:cubicBezTo>
                  <a:cubicBezTo>
                    <a:pt x="189" y="313"/>
                    <a:pt x="219" y="303"/>
                    <a:pt x="244" y="286"/>
                  </a:cubicBezTo>
                  <a:cubicBezTo>
                    <a:pt x="245" y="286"/>
                    <a:pt x="246" y="285"/>
                    <a:pt x="247" y="284"/>
                  </a:cubicBezTo>
                  <a:cubicBezTo>
                    <a:pt x="247" y="284"/>
                    <a:pt x="247" y="284"/>
                    <a:pt x="247" y="284"/>
                  </a:cubicBezTo>
                  <a:cubicBezTo>
                    <a:pt x="248" y="283"/>
                    <a:pt x="249" y="283"/>
                    <a:pt x="250" y="282"/>
                  </a:cubicBezTo>
                  <a:cubicBezTo>
                    <a:pt x="260" y="292"/>
                    <a:pt x="260" y="292"/>
                    <a:pt x="260" y="292"/>
                  </a:cubicBezTo>
                  <a:cubicBezTo>
                    <a:pt x="263" y="295"/>
                    <a:pt x="267" y="296"/>
                    <a:pt x="270" y="296"/>
                  </a:cubicBezTo>
                  <a:cubicBezTo>
                    <a:pt x="270" y="296"/>
                    <a:pt x="270" y="296"/>
                    <a:pt x="270" y="296"/>
                  </a:cubicBezTo>
                  <a:cubicBezTo>
                    <a:pt x="274" y="296"/>
                    <a:pt x="277" y="295"/>
                    <a:pt x="280" y="292"/>
                  </a:cubicBezTo>
                  <a:cubicBezTo>
                    <a:pt x="291" y="282"/>
                    <a:pt x="291" y="282"/>
                    <a:pt x="291" y="282"/>
                  </a:cubicBezTo>
                  <a:cubicBezTo>
                    <a:pt x="294" y="279"/>
                    <a:pt x="295" y="275"/>
                    <a:pt x="295" y="272"/>
                  </a:cubicBezTo>
                  <a:cubicBezTo>
                    <a:pt x="295" y="268"/>
                    <a:pt x="294" y="265"/>
                    <a:pt x="291" y="262"/>
                  </a:cubicBezTo>
                  <a:lnTo>
                    <a:pt x="281" y="251"/>
                  </a:lnTo>
                  <a:close/>
                  <a:moveTo>
                    <a:pt x="301" y="156"/>
                  </a:moveTo>
                  <a:cubicBezTo>
                    <a:pt x="301" y="184"/>
                    <a:pt x="293" y="210"/>
                    <a:pt x="280" y="232"/>
                  </a:cubicBezTo>
                  <a:cubicBezTo>
                    <a:pt x="238" y="190"/>
                    <a:pt x="238" y="190"/>
                    <a:pt x="238" y="190"/>
                  </a:cubicBezTo>
                  <a:cubicBezTo>
                    <a:pt x="243" y="180"/>
                    <a:pt x="245" y="168"/>
                    <a:pt x="245" y="156"/>
                  </a:cubicBezTo>
                  <a:cubicBezTo>
                    <a:pt x="245" y="145"/>
                    <a:pt x="243" y="134"/>
                    <a:pt x="239" y="124"/>
                  </a:cubicBezTo>
                  <a:cubicBezTo>
                    <a:pt x="280" y="82"/>
                    <a:pt x="280" y="82"/>
                    <a:pt x="280" y="82"/>
                  </a:cubicBezTo>
                  <a:cubicBezTo>
                    <a:pt x="293" y="104"/>
                    <a:pt x="301" y="129"/>
                    <a:pt x="301" y="156"/>
                  </a:cubicBezTo>
                  <a:close/>
                  <a:moveTo>
                    <a:pt x="270" y="29"/>
                  </a:moveTo>
                  <a:cubicBezTo>
                    <a:pt x="271" y="29"/>
                    <a:pt x="271" y="29"/>
                    <a:pt x="272" y="29"/>
                  </a:cubicBezTo>
                  <a:cubicBezTo>
                    <a:pt x="272" y="29"/>
                    <a:pt x="273" y="29"/>
                    <a:pt x="273" y="29"/>
                  </a:cubicBezTo>
                  <a:cubicBezTo>
                    <a:pt x="284" y="40"/>
                    <a:pt x="284" y="40"/>
                    <a:pt x="284" y="40"/>
                  </a:cubicBezTo>
                  <a:cubicBezTo>
                    <a:pt x="284" y="41"/>
                    <a:pt x="284" y="41"/>
                    <a:pt x="284" y="42"/>
                  </a:cubicBezTo>
                  <a:cubicBezTo>
                    <a:pt x="284" y="42"/>
                    <a:pt x="284" y="43"/>
                    <a:pt x="284" y="43"/>
                  </a:cubicBezTo>
                  <a:cubicBezTo>
                    <a:pt x="274" y="53"/>
                    <a:pt x="274" y="53"/>
                    <a:pt x="274" y="53"/>
                  </a:cubicBezTo>
                  <a:cubicBezTo>
                    <a:pt x="270" y="48"/>
                    <a:pt x="265" y="44"/>
                    <a:pt x="260" y="39"/>
                  </a:cubicBezTo>
                  <a:lnTo>
                    <a:pt x="270" y="29"/>
                  </a:lnTo>
                  <a:close/>
                  <a:moveTo>
                    <a:pt x="242" y="40"/>
                  </a:moveTo>
                  <a:cubicBezTo>
                    <a:pt x="254" y="49"/>
                    <a:pt x="265" y="60"/>
                    <a:pt x="274" y="72"/>
                  </a:cubicBezTo>
                  <a:cubicBezTo>
                    <a:pt x="233" y="112"/>
                    <a:pt x="233" y="112"/>
                    <a:pt x="233" y="112"/>
                  </a:cubicBezTo>
                  <a:cubicBezTo>
                    <a:pt x="226" y="99"/>
                    <a:pt x="215" y="88"/>
                    <a:pt x="202" y="81"/>
                  </a:cubicBezTo>
                  <a:lnTo>
                    <a:pt x="242" y="40"/>
                  </a:lnTo>
                  <a:close/>
                  <a:moveTo>
                    <a:pt x="157" y="80"/>
                  </a:moveTo>
                  <a:cubicBezTo>
                    <a:pt x="199" y="80"/>
                    <a:pt x="233" y="114"/>
                    <a:pt x="233" y="156"/>
                  </a:cubicBezTo>
                  <a:cubicBezTo>
                    <a:pt x="233" y="199"/>
                    <a:pt x="199" y="233"/>
                    <a:pt x="157" y="233"/>
                  </a:cubicBezTo>
                  <a:cubicBezTo>
                    <a:pt x="115" y="233"/>
                    <a:pt x="80" y="199"/>
                    <a:pt x="80" y="156"/>
                  </a:cubicBezTo>
                  <a:cubicBezTo>
                    <a:pt x="80" y="145"/>
                    <a:pt x="83" y="134"/>
                    <a:pt x="87" y="124"/>
                  </a:cubicBezTo>
                  <a:cubicBezTo>
                    <a:pt x="88" y="124"/>
                    <a:pt x="88" y="124"/>
                    <a:pt x="88" y="124"/>
                  </a:cubicBezTo>
                  <a:cubicBezTo>
                    <a:pt x="89" y="123"/>
                    <a:pt x="89" y="122"/>
                    <a:pt x="90" y="120"/>
                  </a:cubicBezTo>
                  <a:cubicBezTo>
                    <a:pt x="102" y="96"/>
                    <a:pt x="128" y="80"/>
                    <a:pt x="157" y="80"/>
                  </a:cubicBezTo>
                  <a:close/>
                  <a:moveTo>
                    <a:pt x="31" y="44"/>
                  </a:moveTo>
                  <a:cubicBezTo>
                    <a:pt x="31" y="43"/>
                    <a:pt x="30" y="43"/>
                    <a:pt x="30" y="42"/>
                  </a:cubicBezTo>
                  <a:cubicBezTo>
                    <a:pt x="30" y="42"/>
                    <a:pt x="31" y="41"/>
                    <a:pt x="31" y="41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2" y="30"/>
                    <a:pt x="43" y="30"/>
                    <a:pt x="43" y="30"/>
                  </a:cubicBezTo>
                  <a:cubicBezTo>
                    <a:pt x="44" y="30"/>
                    <a:pt x="44" y="30"/>
                    <a:pt x="45" y="30"/>
                  </a:cubicBezTo>
                  <a:cubicBezTo>
                    <a:pt x="54" y="39"/>
                    <a:pt x="54" y="39"/>
                    <a:pt x="54" y="39"/>
                  </a:cubicBezTo>
                  <a:cubicBezTo>
                    <a:pt x="49" y="43"/>
                    <a:pt x="44" y="48"/>
                    <a:pt x="40" y="53"/>
                  </a:cubicBezTo>
                  <a:lnTo>
                    <a:pt x="31" y="44"/>
                  </a:lnTo>
                  <a:close/>
                  <a:moveTo>
                    <a:pt x="41" y="69"/>
                  </a:moveTo>
                  <a:cubicBezTo>
                    <a:pt x="50" y="58"/>
                    <a:pt x="61" y="47"/>
                    <a:pt x="73" y="39"/>
                  </a:cubicBezTo>
                  <a:cubicBezTo>
                    <a:pt x="114" y="79"/>
                    <a:pt x="114" y="79"/>
                    <a:pt x="114" y="79"/>
                  </a:cubicBezTo>
                  <a:cubicBezTo>
                    <a:pt x="101" y="87"/>
                    <a:pt x="90" y="97"/>
                    <a:pt x="82" y="110"/>
                  </a:cubicBezTo>
                  <a:lnTo>
                    <a:pt x="41" y="69"/>
                  </a:lnTo>
                  <a:close/>
                  <a:moveTo>
                    <a:pt x="44" y="283"/>
                  </a:moveTo>
                  <a:cubicBezTo>
                    <a:pt x="43" y="283"/>
                    <a:pt x="43" y="283"/>
                    <a:pt x="43" y="283"/>
                  </a:cubicBezTo>
                  <a:cubicBezTo>
                    <a:pt x="42" y="283"/>
                    <a:pt x="41" y="283"/>
                    <a:pt x="41" y="283"/>
                  </a:cubicBezTo>
                  <a:cubicBezTo>
                    <a:pt x="30" y="272"/>
                    <a:pt x="30" y="272"/>
                    <a:pt x="30" y="272"/>
                  </a:cubicBezTo>
                  <a:cubicBezTo>
                    <a:pt x="30" y="271"/>
                    <a:pt x="30" y="271"/>
                    <a:pt x="30" y="270"/>
                  </a:cubicBezTo>
                  <a:cubicBezTo>
                    <a:pt x="30" y="270"/>
                    <a:pt x="30" y="269"/>
                    <a:pt x="30" y="269"/>
                  </a:cubicBezTo>
                  <a:cubicBezTo>
                    <a:pt x="39" y="260"/>
                    <a:pt x="39" y="260"/>
                    <a:pt x="39" y="260"/>
                  </a:cubicBezTo>
                  <a:cubicBezTo>
                    <a:pt x="44" y="265"/>
                    <a:pt x="48" y="269"/>
                    <a:pt x="53" y="274"/>
                  </a:cubicBezTo>
                  <a:lnTo>
                    <a:pt x="44" y="283"/>
                  </a:lnTo>
                  <a:close/>
                  <a:moveTo>
                    <a:pt x="41" y="242"/>
                  </a:moveTo>
                  <a:cubicBezTo>
                    <a:pt x="81" y="202"/>
                    <a:pt x="81" y="202"/>
                    <a:pt x="81" y="202"/>
                  </a:cubicBezTo>
                  <a:cubicBezTo>
                    <a:pt x="89" y="215"/>
                    <a:pt x="99" y="225"/>
                    <a:pt x="112" y="233"/>
                  </a:cubicBezTo>
                  <a:cubicBezTo>
                    <a:pt x="72" y="273"/>
                    <a:pt x="72" y="273"/>
                    <a:pt x="72" y="273"/>
                  </a:cubicBezTo>
                  <a:cubicBezTo>
                    <a:pt x="60" y="264"/>
                    <a:pt x="49" y="254"/>
                    <a:pt x="41" y="242"/>
                  </a:cubicBezTo>
                  <a:close/>
                  <a:moveTo>
                    <a:pt x="157" y="301"/>
                  </a:moveTo>
                  <a:cubicBezTo>
                    <a:pt x="129" y="301"/>
                    <a:pt x="104" y="293"/>
                    <a:pt x="82" y="280"/>
                  </a:cubicBezTo>
                  <a:cubicBezTo>
                    <a:pt x="123" y="238"/>
                    <a:pt x="123" y="238"/>
                    <a:pt x="123" y="238"/>
                  </a:cubicBezTo>
                  <a:cubicBezTo>
                    <a:pt x="134" y="242"/>
                    <a:pt x="145" y="245"/>
                    <a:pt x="157" y="245"/>
                  </a:cubicBezTo>
                  <a:cubicBezTo>
                    <a:pt x="168" y="245"/>
                    <a:pt x="180" y="243"/>
                    <a:pt x="190" y="238"/>
                  </a:cubicBezTo>
                  <a:cubicBezTo>
                    <a:pt x="232" y="279"/>
                    <a:pt x="232" y="279"/>
                    <a:pt x="232" y="279"/>
                  </a:cubicBezTo>
                  <a:cubicBezTo>
                    <a:pt x="210" y="293"/>
                    <a:pt x="184" y="301"/>
                    <a:pt x="157" y="301"/>
                  </a:cubicBezTo>
                  <a:close/>
                  <a:moveTo>
                    <a:pt x="243" y="272"/>
                  </a:moveTo>
                  <a:cubicBezTo>
                    <a:pt x="201" y="233"/>
                    <a:pt x="201" y="233"/>
                    <a:pt x="201" y="233"/>
                  </a:cubicBezTo>
                  <a:cubicBezTo>
                    <a:pt x="214" y="225"/>
                    <a:pt x="225" y="214"/>
                    <a:pt x="233" y="201"/>
                  </a:cubicBezTo>
                  <a:cubicBezTo>
                    <a:pt x="273" y="242"/>
                    <a:pt x="273" y="242"/>
                    <a:pt x="273" y="242"/>
                  </a:cubicBezTo>
                  <a:cubicBezTo>
                    <a:pt x="269" y="248"/>
                    <a:pt x="264" y="253"/>
                    <a:pt x="259" y="259"/>
                  </a:cubicBezTo>
                  <a:cubicBezTo>
                    <a:pt x="254" y="264"/>
                    <a:pt x="248" y="268"/>
                    <a:pt x="243" y="272"/>
                  </a:cubicBezTo>
                  <a:close/>
                  <a:moveTo>
                    <a:pt x="283" y="273"/>
                  </a:moveTo>
                  <a:cubicBezTo>
                    <a:pt x="272" y="284"/>
                    <a:pt x="272" y="284"/>
                    <a:pt x="272" y="284"/>
                  </a:cubicBezTo>
                  <a:cubicBezTo>
                    <a:pt x="271" y="284"/>
                    <a:pt x="271" y="284"/>
                    <a:pt x="270" y="284"/>
                  </a:cubicBezTo>
                  <a:cubicBezTo>
                    <a:pt x="270" y="284"/>
                    <a:pt x="269" y="284"/>
                    <a:pt x="269" y="284"/>
                  </a:cubicBezTo>
                  <a:cubicBezTo>
                    <a:pt x="259" y="274"/>
                    <a:pt x="259" y="274"/>
                    <a:pt x="259" y="274"/>
                  </a:cubicBezTo>
                  <a:cubicBezTo>
                    <a:pt x="264" y="270"/>
                    <a:pt x="269" y="265"/>
                    <a:pt x="273" y="261"/>
                  </a:cubicBezTo>
                  <a:cubicBezTo>
                    <a:pt x="283" y="270"/>
                    <a:pt x="283" y="270"/>
                    <a:pt x="283" y="270"/>
                  </a:cubicBezTo>
                  <a:cubicBezTo>
                    <a:pt x="283" y="271"/>
                    <a:pt x="283" y="271"/>
                    <a:pt x="283" y="272"/>
                  </a:cubicBezTo>
                  <a:cubicBezTo>
                    <a:pt x="283" y="272"/>
                    <a:pt x="283" y="273"/>
                    <a:pt x="283" y="27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966969B-374E-44E3-1350-5D84A2F57D19}"/>
              </a:ext>
            </a:extLst>
          </p:cNvPr>
          <p:cNvSpPr/>
          <p:nvPr/>
        </p:nvSpPr>
        <p:spPr>
          <a:xfrm>
            <a:off x="6592825" y="824358"/>
            <a:ext cx="5599175" cy="6033642"/>
          </a:xfrm>
          <a:custGeom>
            <a:avLst/>
            <a:gdLst>
              <a:gd name="connsiteX0" fmla="*/ 0 w 5599175"/>
              <a:gd name="connsiteY0" fmla="*/ 6033643 h 6033642"/>
              <a:gd name="connsiteX1" fmla="*/ 5599176 w 5599175"/>
              <a:gd name="connsiteY1" fmla="*/ 6033643 h 6033642"/>
              <a:gd name="connsiteX2" fmla="*/ 5599176 w 5599175"/>
              <a:gd name="connsiteY2" fmla="*/ 3547237 h 6033642"/>
              <a:gd name="connsiteX3" fmla="*/ 3526155 w 5599175"/>
              <a:gd name="connsiteY3" fmla="*/ 0 h 6033642"/>
              <a:gd name="connsiteX4" fmla="*/ 0 w 5599175"/>
              <a:gd name="connsiteY4" fmla="*/ 6033643 h 6033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9175" h="6033642">
                <a:moveTo>
                  <a:pt x="0" y="6033643"/>
                </a:moveTo>
                <a:lnTo>
                  <a:pt x="5599176" y="6033643"/>
                </a:lnTo>
                <a:lnTo>
                  <a:pt x="5599176" y="3547237"/>
                </a:lnTo>
                <a:lnTo>
                  <a:pt x="3526155" y="0"/>
                </a:lnTo>
                <a:lnTo>
                  <a:pt x="0" y="6033643"/>
                </a:lnTo>
                <a:close/>
              </a:path>
            </a:pathLst>
          </a:custGeom>
          <a:solidFill>
            <a:schemeClr val="tx1">
              <a:alpha val="66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8EC71C3-CC7A-2E17-D071-B48D4CC8C7DF}"/>
              </a:ext>
            </a:extLst>
          </p:cNvPr>
          <p:cNvSpPr/>
          <p:nvPr/>
        </p:nvSpPr>
        <p:spPr>
          <a:xfrm>
            <a:off x="6358447" y="0"/>
            <a:ext cx="4242371" cy="3629596"/>
          </a:xfrm>
          <a:custGeom>
            <a:avLst/>
            <a:gdLst>
              <a:gd name="connsiteX0" fmla="*/ 2121154 w 4242371"/>
              <a:gd name="connsiteY0" fmla="*/ 3629597 h 3629596"/>
              <a:gd name="connsiteX1" fmla="*/ 4242372 w 4242371"/>
              <a:gd name="connsiteY1" fmla="*/ 0 h 3629596"/>
              <a:gd name="connsiteX2" fmla="*/ 0 w 4242371"/>
              <a:gd name="connsiteY2" fmla="*/ 0 h 3629596"/>
              <a:gd name="connsiteX3" fmla="*/ 2121154 w 4242371"/>
              <a:gd name="connsiteY3" fmla="*/ 3629597 h 3629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2371" h="3629596">
                <a:moveTo>
                  <a:pt x="2121154" y="3629597"/>
                </a:moveTo>
                <a:lnTo>
                  <a:pt x="4242372" y="0"/>
                </a:lnTo>
                <a:lnTo>
                  <a:pt x="0" y="0"/>
                </a:lnTo>
                <a:lnTo>
                  <a:pt x="2121154" y="3629597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AEF7CC40-6A10-D54C-8F7F-2143FFC0A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826" y="2592455"/>
            <a:ext cx="5078665" cy="4265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837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8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" grpId="0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/>
          <a:lstStyle/>
          <a:p>
            <a:r>
              <a:rPr lang="es-ES_tradnl" noProof="1"/>
              <a:t>Metodología</a:t>
            </a:r>
            <a:endParaRPr lang="es-ES_tradnl" b="0" noProof="1"/>
          </a:p>
        </p:txBody>
      </p:sp>
      <p:sp>
        <p:nvSpPr>
          <p:cNvPr id="29" name="Rectangle 18">
            <a:extLst>
              <a:ext uri="{FF2B5EF4-FFF2-40B4-BE49-F238E27FC236}">
                <a16:creationId xmlns:a16="http://schemas.microsoft.com/office/drawing/2014/main" id="{259958DF-77F4-10DC-F8D9-458C9906A6B3}"/>
              </a:ext>
            </a:extLst>
          </p:cNvPr>
          <p:cNvSpPr txBox="1"/>
          <p:nvPr/>
        </p:nvSpPr>
        <p:spPr>
          <a:xfrm>
            <a:off x="4813280" y="829356"/>
            <a:ext cx="6625708" cy="738664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900588" y="5077412"/>
              <a:ext cx="2275428" cy="1585058"/>
              <a:chOff x="1346851" y="2714370"/>
              <a:chExt cx="4554226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Identificar las variables de acceso energético, gasto energético y condición socioeconómica que entrarán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369614"/>
              <a:chOff x="1346851" y="2714370"/>
              <a:chExt cx="4554226" cy="1369614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Tratar los valores perdidos, estandarizar las variables continuas y codificar las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Aplicar el algoritmo K-prototypes o K-means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n-US" sz="2000" b="1" dirty="0" err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C4EC0BB-CAE5-81FF-BDE6-E837C812F0E0}"/>
              </a:ext>
            </a:extLst>
          </p:cNvPr>
          <p:cNvSpPr txBox="1"/>
          <p:nvPr/>
        </p:nvSpPr>
        <p:spPr>
          <a:xfrm>
            <a:off x="1786672" y="3475032"/>
            <a:ext cx="4642110" cy="646331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¿Qué perfiles de vulnerabilidad energética no captura el MEPI en los hogares peruanos?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B1E370-0F72-B3B0-8D18-8A6253645765}"/>
              </a:ext>
            </a:extLst>
          </p:cNvPr>
          <p:cNvSpPr txBox="1"/>
          <p:nvPr/>
        </p:nvSpPr>
        <p:spPr>
          <a:xfrm>
            <a:off x="1780138" y="4271978"/>
            <a:ext cx="4642109" cy="92333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dirty="0"/>
              <a:t>¿En qué medida el gasto energético representa una carga desproporcionada para hogares que no son pobres monetariamente?</a:t>
            </a:r>
            <a:endParaRPr lang="en-US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5A7DB8-686D-20A8-A10C-CF1D94783C67}"/>
              </a:ext>
            </a:extLst>
          </p:cNvPr>
          <p:cNvSpPr txBox="1"/>
          <p:nvPr/>
        </p:nvSpPr>
        <p:spPr>
          <a:xfrm>
            <a:off x="1786672" y="5287641"/>
            <a:ext cx="4635575" cy="92333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dirty="0"/>
              <a:t>¿Difieren los patrones de acceso y gasto energético entre hogares urbanos y rurales dentro de un mismo clúster?</a:t>
            </a:r>
            <a:endParaRPr lang="en-US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B8E40C6-FCCD-569A-D89C-4E12EFF41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Ideas a investigar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89A7F-BF8C-8CD2-ACE1-D474EF045A34}"/>
              </a:ext>
            </a:extLst>
          </p:cNvPr>
          <p:cNvGrpSpPr/>
          <p:nvPr/>
        </p:nvGrpSpPr>
        <p:grpSpPr>
          <a:xfrm>
            <a:off x="839788" y="1948357"/>
            <a:ext cx="5497950" cy="1114011"/>
            <a:chOff x="788630" y="1747871"/>
            <a:chExt cx="5497950" cy="1114011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6EF059C1-1F19-397B-18A4-4E4F0A128DB4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s-ES_tradnl" sz="1800" i="0" u="none" strike="noStrike" kern="1200" cap="none" spc="0" normalizeH="0" baseline="0" noProof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Segoe UI" panose="020B0502040204020203" pitchFamily="34" charset="0"/>
                  <a:cs typeface="Segoe UI" panose="020B0502040204020203" pitchFamily="34" charset="0"/>
                </a:rPr>
                <a:t>Perfiles de vulnerabilidad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5AD5C-8749-174C-C76C-CAAD328C56F3}"/>
                </a:ext>
              </a:extLst>
            </p:cNvPr>
            <p:cNvSpPr txBox="1"/>
            <p:nvPr/>
          </p:nvSpPr>
          <p:spPr>
            <a:xfrm>
              <a:off x="788630" y="2123218"/>
              <a:ext cx="5497950" cy="73866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600" dirty="0"/>
                <a:t>Identificar perfiles de vulnerabilidad no captados por el MEPI, con énfasis en la carga del gasto energético y las diferencias urbano-rurales.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66C42D-8AC3-4CD0-E060-617513B1C013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362566A-B86E-14E1-B915-E467CAEAD1A2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03A004-BCDF-A16D-6ADA-6E12D45B1C36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3B66923B-8579-5CC9-6934-490FFBC052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1427DED-2330-A095-34A4-3A3C4FC7312C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8059C31-2F11-6E25-D8B7-E087AC01C87F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92EDC09-9C14-81A5-A3DC-5C7FC40A24E5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DF3345DE-E1F0-7CF0-5512-0BB4109F24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09A181D-CC78-053D-1C99-77CD5AACF199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786D7B-DDBF-122F-F077-75B1601AF039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C15A239-43D5-1A5D-BABC-62859963D0E1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85A9944C-FF7E-962E-E32B-D14127C831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4D0FA0EE-7067-AD02-7E07-8C00785CDA26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39" name="Picture Placeholder 38" descr="Wind turbines at dusk">
            <a:extLst>
              <a:ext uri="{FF2B5EF4-FFF2-40B4-BE49-F238E27FC236}">
                <a16:creationId xmlns:a16="http://schemas.microsoft.com/office/drawing/2014/main" id="{FAA796C9-62B4-78E5-A10A-1641298F9A6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79987" y="1293360"/>
            <a:ext cx="4687819" cy="5564640"/>
          </a:xfr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035275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28E19A6-AF52-91C5-48AD-6777DDA8799A}"/>
              </a:ext>
            </a:extLst>
          </p:cNvPr>
          <p:cNvSpPr txBox="1"/>
          <p:nvPr/>
        </p:nvSpPr>
        <p:spPr>
          <a:xfrm>
            <a:off x="4608786" y="2967335"/>
            <a:ext cx="2974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5400" b="1" dirty="0">
                <a:solidFill>
                  <a:schemeClr val="bg1"/>
                </a:solidFill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89616135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815</Words>
  <Application>Microsoft Macintosh PowerPoint</Application>
  <PresentationFormat>Panorámica</PresentationFormat>
  <Paragraphs>119</Paragraphs>
  <Slides>10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Segoe UI</vt:lpstr>
      <vt:lpstr>Times New Roman</vt:lpstr>
      <vt:lpstr>Wingdings</vt:lpstr>
      <vt:lpstr>Tema de Office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Ximena Dávalos</cp:lastModifiedBy>
  <cp:revision>23</cp:revision>
  <dcterms:created xsi:type="dcterms:W3CDTF">2026-07-30T20:56:47Z</dcterms:created>
  <dcterms:modified xsi:type="dcterms:W3CDTF">2026-08-02T01:18:39Z</dcterms:modified>
</cp:coreProperties>
</file>