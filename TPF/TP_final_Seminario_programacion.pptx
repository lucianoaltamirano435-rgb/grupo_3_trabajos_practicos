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8" r:id="rId5"/>
    <p:sldId id="268" r:id="rId6"/>
    <p:sldId id="269" r:id="rId7"/>
    <p:sldId id="261" r:id="rId8"/>
    <p:sldId id="265" r:id="rId9"/>
    <p:sldId id="270" r:id="rId10"/>
    <p:sldId id="276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01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4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167BE-E3AE-4464-AF9A-166C597769E2}" type="datetimeFigureOut">
              <a:rPr lang="es-PE" smtClean="0"/>
              <a:t>3/08/26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7445A-1E50-484B-95BB-C22C56705CC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052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92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AI generated images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5FDAB-FDCE-4D59-BE02-63C4933EB7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425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Image Generated with AI</a:t>
            </a:r>
          </a:p>
          <a:p>
            <a:endParaRPr lang="en-PK" dirty="0"/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9C65A-3AC6-406C-B9A9-9C6ED60FF56B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13764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46254F-9338-4BA9-B7AC-A66622A3D0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D8F386-1C5F-49D5-874B-0B8EDC0D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A320CC-5833-40CD-A2BE-61B76C483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B49CEC-5F16-490A-B0A8-B8140CF8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00EBC7-7453-477C-B3E0-EE02B43DD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93DDDA-22A4-4C05-B29F-56624E699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6162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A9B17-D92F-4D24-8A78-E321E714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B726C1-5529-4108-AF20-163840735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8EB093-C8BE-4296-8867-6ED146462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6CACB0-795C-41DC-9007-A67390D4E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8FDD55-CABE-4FA1-B434-DE253618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90626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C66EE-ECEE-455C-A52B-425E1A177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226F51-63E6-4E6C-920D-18D19C842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782D7F-4D37-4259-A2CA-CB681CE23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97C142-530B-40E0-8DB8-E3DC4B827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5C4ECF-EEF3-4820-AF49-C4AA7B8E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9662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29725-F5F0-4A6E-9D3C-624AA92B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F5BCC7-7BF9-4950-93FD-5F05182B4E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E2FC53-328E-4B15-8A0E-1368E1C72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6EFCD4-8D8D-4158-93EE-4A5A9436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232741-3C49-4686-BF1F-745730C2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BC11EB-1A97-4DB7-B43C-ED65E85AC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5937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B2F39-9A34-4D36-84BC-8A857C56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A32826-B9F5-4470-BB03-01743DE3B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970C66-7D9F-43E0-A94C-38582CEFD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8E3F4D-9ECB-449A-8A21-F7601DD93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4C02CC3-60D0-4591-A948-74AE8AE2D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C295131-BAE7-48B3-89E5-7D700B455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D8522FF-2DB8-4D1B-8F23-F19CDCF2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29B3C4-30F4-4933-BDDA-FF1CB9C3A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42077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10F60-ED08-4FC2-A351-4B0340EE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6DEEE4-A613-4761-AC35-2224B4916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5E274D-5917-454E-88E5-B7DF5821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68ECB-D504-41ED-8BF5-FD21218F8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386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3ABD50-C638-475A-B2F3-AD53DEEE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8EDDF6-8777-46A7-87F8-1D134120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CC1335-B94A-4631-85E3-36094A69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586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FD93-DCB0-4CF6-A0F1-9F2D2F702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B4442F-23C5-4021-B11E-74F085A7E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7B6E6C-4541-4351-8621-68B8BC0AC1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4B3102-0CA3-4351-B524-3BD1C96D7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A9A74C-48DC-4BC1-A3A4-EE482B95C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AB76E-50A7-4E40-BA7F-110FF9C87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1895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2D57F-752D-44D5-AC36-DB797DFB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54456C6-5959-42FB-985E-93F89BD985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574762-2509-4ED7-8475-B92E5253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94F0FF-4393-4FDF-80B7-017AE0EC3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DBC2F4-8F2E-4ACF-8746-9E301E5A6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23259AC-5402-4375-AFBC-80CFE22E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620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3224B-3DB0-46A9-8D7F-7BE4EC165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80A00F-53C5-43EB-B937-A5E3040E6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E8FD66-8469-48C9-A76F-B1034C0A6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B04969-B5BA-4CC0-B175-BB138754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FD4B36-5C48-44FB-8C47-15F0A158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0710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4B523D-D3D8-483C-90E4-6A91F1AE5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32B968-9E07-4A31-87CC-8057725FE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1DB91A-BC33-4640-8C60-0111253C8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823624-9AFC-4D81-BF29-02251EDC3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27C388-0F81-4A32-B4E5-D2ABE04A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2338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210437D5-C91A-8781-BB15-12648BEEBE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64812" y="1588"/>
            <a:ext cx="7923228" cy="4411266"/>
          </a:xfrm>
          <a:custGeom>
            <a:avLst/>
            <a:gdLst>
              <a:gd name="connsiteX0" fmla="*/ 364186 w 7923228"/>
              <a:gd name="connsiteY0" fmla="*/ 0 h 4411266"/>
              <a:gd name="connsiteX1" fmla="*/ 7559042 w 7923228"/>
              <a:gd name="connsiteY1" fmla="*/ 0 h 4411266"/>
              <a:gd name="connsiteX2" fmla="*/ 7863720 w 7923228"/>
              <a:gd name="connsiteY2" fmla="*/ 304800 h 4411266"/>
              <a:gd name="connsiteX3" fmla="*/ 7863720 w 7923228"/>
              <a:gd name="connsiteY3" fmla="*/ 592138 h 4411266"/>
              <a:gd name="connsiteX4" fmla="*/ 4106019 w 7923228"/>
              <a:gd name="connsiteY4" fmla="*/ 4352926 h 4411266"/>
              <a:gd name="connsiteX5" fmla="*/ 3818796 w 7923228"/>
              <a:gd name="connsiteY5" fmla="*/ 4352926 h 4411266"/>
              <a:gd name="connsiteX6" fmla="*/ 59508 w 7923228"/>
              <a:gd name="connsiteY6" fmla="*/ 592138 h 4411266"/>
              <a:gd name="connsiteX7" fmla="*/ 59508 w 7923228"/>
              <a:gd name="connsiteY7" fmla="*/ 304800 h 4411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3228" h="4411266">
                <a:moveTo>
                  <a:pt x="364186" y="0"/>
                </a:moveTo>
                <a:cubicBezTo>
                  <a:pt x="364186" y="0"/>
                  <a:pt x="364186" y="0"/>
                  <a:pt x="7559042" y="0"/>
                </a:cubicBezTo>
                <a:cubicBezTo>
                  <a:pt x="7559042" y="0"/>
                  <a:pt x="7559042" y="0"/>
                  <a:pt x="7863720" y="304800"/>
                </a:cubicBezTo>
                <a:cubicBezTo>
                  <a:pt x="7943064" y="384175"/>
                  <a:pt x="7943064" y="512763"/>
                  <a:pt x="7863720" y="592138"/>
                </a:cubicBezTo>
                <a:cubicBezTo>
                  <a:pt x="7863720" y="592138"/>
                  <a:pt x="7863720" y="592138"/>
                  <a:pt x="4106019" y="4352926"/>
                </a:cubicBezTo>
                <a:cubicBezTo>
                  <a:pt x="4026676" y="4430713"/>
                  <a:pt x="3898139" y="4430713"/>
                  <a:pt x="3818796" y="4352926"/>
                </a:cubicBezTo>
                <a:cubicBezTo>
                  <a:pt x="3818796" y="4352926"/>
                  <a:pt x="3818796" y="4352926"/>
                  <a:pt x="59508" y="592138"/>
                </a:cubicBezTo>
                <a:cubicBezTo>
                  <a:pt x="-19836" y="512763"/>
                  <a:pt x="-19836" y="384175"/>
                  <a:pt x="59508" y="30480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8FF24CF-860F-12B0-1778-4D151BF04BF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0953" y="2529407"/>
            <a:ext cx="1176850" cy="1179474"/>
          </a:xfrm>
          <a:custGeom>
            <a:avLst/>
            <a:gdLst>
              <a:gd name="connsiteX0" fmla="*/ 588425 w 1176850"/>
              <a:gd name="connsiteY0" fmla="*/ 0 h 1179474"/>
              <a:gd name="connsiteX1" fmla="*/ 1176850 w 1176850"/>
              <a:gd name="connsiteY1" fmla="*/ 589737 h 1179474"/>
              <a:gd name="connsiteX2" fmla="*/ 588425 w 1176850"/>
              <a:gd name="connsiteY2" fmla="*/ 1179474 h 1179474"/>
              <a:gd name="connsiteX3" fmla="*/ 0 w 1176850"/>
              <a:gd name="connsiteY3" fmla="*/ 589737 h 1179474"/>
              <a:gd name="connsiteX4" fmla="*/ 588425 w 1176850"/>
              <a:gd name="connsiteY4" fmla="*/ 0 h 1179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6850" h="1179474">
                <a:moveTo>
                  <a:pt x="588425" y="0"/>
                </a:moveTo>
                <a:cubicBezTo>
                  <a:pt x="913403" y="0"/>
                  <a:pt x="1176850" y="264034"/>
                  <a:pt x="1176850" y="589737"/>
                </a:cubicBezTo>
                <a:cubicBezTo>
                  <a:pt x="1176850" y="915440"/>
                  <a:pt x="913403" y="1179474"/>
                  <a:pt x="588425" y="1179474"/>
                </a:cubicBezTo>
                <a:cubicBezTo>
                  <a:pt x="263447" y="1179474"/>
                  <a:pt x="0" y="915440"/>
                  <a:pt x="0" y="589737"/>
                </a:cubicBezTo>
                <a:cubicBezTo>
                  <a:pt x="0" y="264034"/>
                  <a:pt x="263447" y="0"/>
                  <a:pt x="58842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8123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55D7A6B-5A5F-1E05-EBC3-722CB2248C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04576" y="1533696"/>
            <a:ext cx="7185744" cy="7185743"/>
          </a:xfrm>
          <a:custGeom>
            <a:avLst/>
            <a:gdLst>
              <a:gd name="csX0" fmla="*/ 3243192 w 6472640"/>
              <a:gd name="csY0" fmla="*/ 0 h 6472639"/>
              <a:gd name="csX1" fmla="*/ 3499715 w 6472640"/>
              <a:gd name="csY1" fmla="*/ 96196 h 6472639"/>
              <a:gd name="csX2" fmla="*/ 6376444 w 6472640"/>
              <a:gd name="csY2" fmla="*/ 2972925 h 6472639"/>
              <a:gd name="csX3" fmla="*/ 6376444 w 6472640"/>
              <a:gd name="csY3" fmla="*/ 3485972 h 6472639"/>
              <a:gd name="csX4" fmla="*/ 3499715 w 6472640"/>
              <a:gd name="csY4" fmla="*/ 6362701 h 6472639"/>
              <a:gd name="csX5" fmla="*/ 2986668 w 6472640"/>
              <a:gd name="csY5" fmla="*/ 6362701 h 6472639"/>
              <a:gd name="csX6" fmla="*/ 109939 w 6472640"/>
              <a:gd name="csY6" fmla="*/ 3485972 h 6472639"/>
              <a:gd name="csX7" fmla="*/ 109939 w 6472640"/>
              <a:gd name="csY7" fmla="*/ 2972925 h 6472639"/>
              <a:gd name="csX8" fmla="*/ 2986668 w 6472640"/>
              <a:gd name="csY8" fmla="*/ 96196 h 6472639"/>
              <a:gd name="csX9" fmla="*/ 3243192 w 6472640"/>
              <a:gd name="csY9" fmla="*/ 0 h 64726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472640" h="6472639">
                <a:moveTo>
                  <a:pt x="3243192" y="0"/>
                </a:moveTo>
                <a:cubicBezTo>
                  <a:pt x="3334807" y="0"/>
                  <a:pt x="3426423" y="32065"/>
                  <a:pt x="3499715" y="96196"/>
                </a:cubicBezTo>
                <a:cubicBezTo>
                  <a:pt x="6376444" y="2972925"/>
                  <a:pt x="6376444" y="2972925"/>
                  <a:pt x="6376444" y="2972925"/>
                </a:cubicBezTo>
                <a:cubicBezTo>
                  <a:pt x="6504706" y="3119510"/>
                  <a:pt x="6504706" y="3357710"/>
                  <a:pt x="6376444" y="3485972"/>
                </a:cubicBezTo>
                <a:cubicBezTo>
                  <a:pt x="3499715" y="6362701"/>
                  <a:pt x="3499715" y="6362701"/>
                  <a:pt x="3499715" y="6362701"/>
                </a:cubicBezTo>
                <a:cubicBezTo>
                  <a:pt x="3353130" y="6509286"/>
                  <a:pt x="3133253" y="6509286"/>
                  <a:pt x="2986668" y="6362701"/>
                </a:cubicBezTo>
                <a:cubicBezTo>
                  <a:pt x="109939" y="3485972"/>
                  <a:pt x="109939" y="3485972"/>
                  <a:pt x="109939" y="3485972"/>
                </a:cubicBezTo>
                <a:cubicBezTo>
                  <a:pt x="-36646" y="3357710"/>
                  <a:pt x="-36646" y="3119510"/>
                  <a:pt x="109939" y="2972925"/>
                </a:cubicBezTo>
                <a:cubicBezTo>
                  <a:pt x="2986668" y="96196"/>
                  <a:pt x="2986668" y="96196"/>
                  <a:pt x="2986668" y="96196"/>
                </a:cubicBezTo>
                <a:cubicBezTo>
                  <a:pt x="3059961" y="32065"/>
                  <a:pt x="3151576" y="0"/>
                  <a:pt x="324319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028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11637DF-9E40-223B-9CC9-F1862E99F89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2825" y="824358"/>
            <a:ext cx="5599176" cy="6033643"/>
          </a:xfrm>
          <a:custGeom>
            <a:avLst/>
            <a:gdLst>
              <a:gd name="connsiteX0" fmla="*/ 3526155 w 5599176"/>
              <a:gd name="connsiteY0" fmla="*/ 0 h 6033643"/>
              <a:gd name="connsiteX1" fmla="*/ 5599176 w 5599176"/>
              <a:gd name="connsiteY1" fmla="*/ 3547237 h 6033643"/>
              <a:gd name="connsiteX2" fmla="*/ 5599176 w 5599176"/>
              <a:gd name="connsiteY2" fmla="*/ 6033643 h 6033643"/>
              <a:gd name="connsiteX3" fmla="*/ 0 w 5599176"/>
              <a:gd name="connsiteY3" fmla="*/ 6033643 h 6033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9176" h="6033643">
                <a:moveTo>
                  <a:pt x="3526155" y="0"/>
                </a:moveTo>
                <a:lnTo>
                  <a:pt x="5599176" y="3547237"/>
                </a:lnTo>
                <a:lnTo>
                  <a:pt x="5599176" y="6033643"/>
                </a:lnTo>
                <a:lnTo>
                  <a:pt x="0" y="6033643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sz="15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25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F6C453AC-D70F-93D2-50B4-F2D25EA9C3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 vert="horz" wrap="square" lIns="0" tIns="0" rIns="0" bIns="0" rtlCol="0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4000" b="1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228600" lvl="0" indent="-2286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760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B938969-23EE-A547-49F3-7E3A16594F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9144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3716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28800" indent="0">
              <a:buNone/>
              <a:defRPr sz="3600" b="1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endParaRPr lang="en-PK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031747F-D799-BF43-A2B4-1CB27B5F585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9152" y="1293361"/>
            <a:ext cx="4687819" cy="5564640"/>
          </a:xfrm>
          <a:prstGeom prst="round2SameRect">
            <a:avLst>
              <a:gd name="adj1" fmla="val 4313"/>
              <a:gd name="adj2" fmla="val 0"/>
            </a:avLst>
          </a:prstGeom>
        </p:spPr>
        <p:txBody>
          <a:bodyPr wrap="square">
            <a:noAutofit/>
          </a:bodyPr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1022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8672" y="2870634"/>
            <a:ext cx="5932223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 dirty="0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408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031C53-9549-4521-938F-B28EB0D4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E58E12-2C81-4576-851D-08D29BE20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1A2D9E-6620-41CC-9C62-A32F6948C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14DC2-195A-4CFA-A4F5-72114CE69064}" type="datetimeFigureOut">
              <a:rPr lang="es-PE" smtClean="0"/>
              <a:t>3/08/26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7EA88-4960-406B-928D-EADB1C851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69CB1C-2256-4C4D-80D1-DD68F4872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F9E14E-F4D4-4185-8D09-C4D334E88BB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052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hyperlink" Target="https://proyectos.inei.gob.pe/microdatos/" TargetMode="External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jpe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92C5CD4C-318D-475F-A6EC-B1E3AF9C03C1}"/>
              </a:ext>
            </a:extLst>
          </p:cNvPr>
          <p:cNvSpPr/>
          <p:nvPr/>
        </p:nvSpPr>
        <p:spPr>
          <a:xfrm>
            <a:off x="0" y="0"/>
            <a:ext cx="407227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05914" y="2700797"/>
            <a:ext cx="6574466" cy="1028744"/>
          </a:xfrm>
        </p:spPr>
        <p:txBody>
          <a:bodyPr>
            <a:noAutofit/>
          </a:bodyPr>
          <a:lstStyle/>
          <a:p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POBREZA ENERGÉTICA EN EL PERÚ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9F56883-4923-494D-B092-C8B5A9C1E546}"/>
              </a:ext>
            </a:extLst>
          </p:cNvPr>
          <p:cNvSpPr txBox="1">
            <a:spLocks/>
          </p:cNvSpPr>
          <p:nvPr/>
        </p:nvSpPr>
        <p:spPr>
          <a:xfrm>
            <a:off x="5681332" y="4278090"/>
            <a:ext cx="4876800" cy="16782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Autores: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Gonzalo Pasiche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Luciano Altamirano</a:t>
            </a:r>
          </a:p>
          <a:p>
            <a:endParaRPr lang="es-E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Profesora: </a:t>
            </a:r>
          </a:p>
          <a:p>
            <a: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Noelia Romero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5A56DA0-F451-4B86-ACF9-C36D913885A8}"/>
              </a:ext>
            </a:extLst>
          </p:cNvPr>
          <p:cNvSpPr txBox="1">
            <a:spLocks/>
          </p:cNvSpPr>
          <p:nvPr/>
        </p:nvSpPr>
        <p:spPr>
          <a:xfrm>
            <a:off x="7612911" y="5956336"/>
            <a:ext cx="1038447" cy="5623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D53E388-69F9-42A1-8132-5B932A8AC1C2}"/>
              </a:ext>
            </a:extLst>
          </p:cNvPr>
          <p:cNvSpPr txBox="1">
            <a:spLocks/>
          </p:cNvSpPr>
          <p:nvPr/>
        </p:nvSpPr>
        <p:spPr>
          <a:xfrm>
            <a:off x="147084" y="4031352"/>
            <a:ext cx="3778102" cy="18617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 DE BUENOS AIRES</a:t>
            </a:r>
          </a:p>
          <a:p>
            <a:endParaRPr lang="es-ES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Ciencias Económicas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DC57820-F706-45CC-AFD9-278D2322C904}"/>
              </a:ext>
            </a:extLst>
          </p:cNvPr>
          <p:cNvSpPr txBox="1">
            <a:spLocks/>
          </p:cNvSpPr>
          <p:nvPr/>
        </p:nvSpPr>
        <p:spPr>
          <a:xfrm>
            <a:off x="5706140" y="1054723"/>
            <a:ext cx="4876800" cy="70821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Aplicación de modelo de aprendizaje no supervisado</a:t>
            </a:r>
          </a:p>
          <a:p>
            <a:r>
              <a:rPr lang="es-E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Seminario de Taller de Programación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95DCB4B-90EA-45AC-9966-901AE91D738D}"/>
              </a:ext>
            </a:extLst>
          </p:cNvPr>
          <p:cNvCxnSpPr/>
          <p:nvPr/>
        </p:nvCxnSpPr>
        <p:spPr>
          <a:xfrm>
            <a:off x="4563139" y="2254767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254773F-07FA-482F-B865-A51063E62C1E}"/>
              </a:ext>
            </a:extLst>
          </p:cNvPr>
          <p:cNvCxnSpPr/>
          <p:nvPr/>
        </p:nvCxnSpPr>
        <p:spPr>
          <a:xfrm>
            <a:off x="4563138" y="4078091"/>
            <a:ext cx="7060019" cy="0"/>
          </a:xfrm>
          <a:prstGeom prst="line">
            <a:avLst/>
          </a:prstGeom>
          <a:ln w="28575">
            <a:solidFill>
              <a:srgbClr val="6E17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EEA3F073-1668-4F76-BC75-B2894594D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159" y="875882"/>
            <a:ext cx="1645958" cy="195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63CD0A85-C9FC-4813-A5C3-202D820A2EEF}"/>
              </a:ext>
            </a:extLst>
          </p:cNvPr>
          <p:cNvSpPr/>
          <p:nvPr/>
        </p:nvSpPr>
        <p:spPr>
          <a:xfrm>
            <a:off x="1312967" y="1494618"/>
            <a:ext cx="3014778" cy="1010180"/>
          </a:xfrm>
          <a:prstGeom prst="roundRect">
            <a:avLst/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PE" sz="2400" b="1">
                <a:solidFill>
                  <a:srgbClr val="000000"/>
                </a:solidFill>
                <a:latin typeface="Times New Roman"/>
                <a:ea typeface="Aptos" panose="020B0004020202020204"/>
                <a:cs typeface="Times New Roman"/>
              </a:rPr>
              <a:t>¿Qué es la pobreza energética?</a:t>
            </a:r>
            <a:endParaRPr lang="es-PE" sz="2400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D1A88D0-AED2-41B3-9F30-20442BC43D39}"/>
              </a:ext>
            </a:extLst>
          </p:cNvPr>
          <p:cNvSpPr/>
          <p:nvPr/>
        </p:nvSpPr>
        <p:spPr>
          <a:xfrm>
            <a:off x="7120270" y="1494618"/>
            <a:ext cx="4278582" cy="791381"/>
          </a:xfrm>
          <a:prstGeom prst="roundRect">
            <a:avLst/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¿Por qué es importante?</a:t>
            </a:r>
            <a:endParaRPr lang="es-PE" sz="2400" b="1" dirty="0">
              <a:solidFill>
                <a:schemeClr val="tx1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CC1B24-F22B-426E-B64C-B8B5E254C052}"/>
              </a:ext>
            </a:extLst>
          </p:cNvPr>
          <p:cNvSpPr txBox="1"/>
          <p:nvPr/>
        </p:nvSpPr>
        <p:spPr>
          <a:xfrm>
            <a:off x="6804588" y="2579139"/>
            <a:ext cx="4778310" cy="40164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Constituye una medición novedosa en el contexto latinoamericano</a:t>
            </a:r>
          </a:p>
          <a:p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Visibiliza a una población que, en la actualidad, a pesar de sufrir privaciones, no es identificada de forma precisa.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Sirve de insumo base para el diseño de políticas públicas energéticas más eficientes.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Permite evaluar la efectividad de las políticas energéticas en el tiempo.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s-E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s-ES" sz="1700" dirty="0">
                <a:latin typeface="Times New Roman"/>
                <a:cs typeface="Times New Roman"/>
              </a:rPr>
              <a:t>Fortalece la investigación y la literatura económico-energética.</a:t>
            </a:r>
            <a:endParaRPr lang="es-PE" sz="1700" dirty="0">
              <a:latin typeface="Times New Roman"/>
              <a:cs typeface="Times New Roman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6053AD61-B596-4081-BB3B-B9E679A9B9C2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BE25EA2-91D2-447D-A0D0-FF1E4F163AE7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8" name="Título 1">
              <a:extLst>
                <a:ext uri="{FF2B5EF4-FFF2-40B4-BE49-F238E27FC236}">
                  <a16:creationId xmlns:a16="http://schemas.microsoft.com/office/drawing/2014/main" id="{B6715AE7-72A6-46FC-88D6-8705CA33A2AE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556741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1. Marco teórico e importancia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D98F81BB-B360-4A0A-A2BD-51761ABF12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0AA42E9E-162A-4FAD-AFB6-6A49D4403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045CF476-A615-41B4-996B-401E58A9D759}"/>
              </a:ext>
            </a:extLst>
          </p:cNvPr>
          <p:cNvGrpSpPr/>
          <p:nvPr/>
        </p:nvGrpSpPr>
        <p:grpSpPr>
          <a:xfrm>
            <a:off x="180672" y="3030801"/>
            <a:ext cx="6007955" cy="2849716"/>
            <a:chOff x="180672" y="3030801"/>
            <a:chExt cx="6007955" cy="284971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CE08C67-1DCD-4BBB-B666-737C8E5AA43D}"/>
                </a:ext>
              </a:extLst>
            </p:cNvPr>
            <p:cNvSpPr txBox="1"/>
            <p:nvPr/>
          </p:nvSpPr>
          <p:spPr>
            <a:xfrm>
              <a:off x="180672" y="3030801"/>
              <a:ext cx="2639684" cy="206210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i="1" dirty="0">
                  <a:latin typeface="Times New Roman"/>
                  <a:cs typeface="Times New Roman"/>
                </a:rPr>
                <a:t>“Privación del acceso a servicios modernos de energía, como el uso de combustibles limpios para cocinar como electricidad, gas licuado de petróleo o gas natural, además del acceso de energía eléctrica”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6FEAF700-04B3-45D3-980C-B5BEE3F7812B}"/>
                </a:ext>
              </a:extLst>
            </p:cNvPr>
            <p:cNvSpPr txBox="1"/>
            <p:nvPr/>
          </p:nvSpPr>
          <p:spPr>
            <a:xfrm>
              <a:off x="290659" y="5357297"/>
              <a:ext cx="275230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Nussbaumer</a:t>
              </a:r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Bazilian</a:t>
              </a:r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y Modi (2012) </a:t>
              </a:r>
              <a:endParaRPr lang="es-P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80F6255-20A2-420E-A879-16E9636B39AF}"/>
                </a:ext>
              </a:extLst>
            </p:cNvPr>
            <p:cNvSpPr txBox="1"/>
            <p:nvPr/>
          </p:nvSpPr>
          <p:spPr>
            <a:xfrm>
              <a:off x="3173849" y="3030801"/>
              <a:ext cx="3014778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ES" sz="1600" i="1" dirty="0">
                  <a:latin typeface="Times New Roman"/>
                  <a:cs typeface="Times New Roman"/>
                </a:rPr>
                <a:t>“Forma de privación referida a la incapacidad de un hogar para acceder a servicios energéticos adecuados, como iluminación, calefacción, refrigeración, cocción y uso de electrodomésticos, de manera segura y asequible”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1AB2E342-2F01-4391-9FCA-F429DA3865D8}"/>
                </a:ext>
              </a:extLst>
            </p:cNvPr>
            <p:cNvSpPr txBox="1"/>
            <p:nvPr/>
          </p:nvSpPr>
          <p:spPr>
            <a:xfrm>
              <a:off x="3343691" y="5357297"/>
              <a:ext cx="275230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Boardman (1991)</a:t>
              </a:r>
              <a:endParaRPr lang="es-PE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639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FDBDE5BF-0FB1-44CF-AD62-AC627881FFF4}"/>
              </a:ext>
            </a:extLst>
          </p:cNvPr>
          <p:cNvSpPr/>
          <p:nvPr/>
        </p:nvSpPr>
        <p:spPr>
          <a:xfrm>
            <a:off x="10419907" y="2454740"/>
            <a:ext cx="1371601" cy="383120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No acceso</a:t>
            </a:r>
            <a:endParaRPr lang="es-PE" sz="1400" dirty="0">
              <a:solidFill>
                <a:schemeClr val="tx1"/>
              </a:solidFill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D15D7EE-0D09-4632-9E1D-3DA656BE88F4}"/>
              </a:ext>
            </a:extLst>
          </p:cNvPr>
          <p:cNvGrpSpPr/>
          <p:nvPr/>
        </p:nvGrpSpPr>
        <p:grpSpPr>
          <a:xfrm>
            <a:off x="0" y="0"/>
            <a:ext cx="12192000" cy="1084521"/>
            <a:chOff x="0" y="0"/>
            <a:chExt cx="12192000" cy="108452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54667A6-4E96-4BB9-88A8-692DCC9ADE3D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12C077DD-4EF8-44FC-AC6F-CA700CB5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4B454262-16E7-4978-88A9-B2861C092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38" name="Título 1">
            <a:extLst>
              <a:ext uri="{FF2B5EF4-FFF2-40B4-BE49-F238E27FC236}">
                <a16:creationId xmlns:a16="http://schemas.microsoft.com/office/drawing/2014/main" id="{21B19C38-C430-4676-B62B-D26346921ED7}"/>
              </a:ext>
            </a:extLst>
          </p:cNvPr>
          <p:cNvSpPr txBox="1">
            <a:spLocks/>
          </p:cNvSpPr>
          <p:nvPr/>
        </p:nvSpPr>
        <p:spPr>
          <a:xfrm>
            <a:off x="-108815" y="70458"/>
            <a:ext cx="7556741" cy="780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Marco teórico e importancia</a:t>
            </a:r>
            <a:endParaRPr lang="es-E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23688ED1-F371-4FB7-8878-39165A48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1188" y="3743171"/>
            <a:ext cx="5968470" cy="3044371"/>
          </a:xfrm>
          <a:prstGeom prst="rect">
            <a:avLst/>
          </a:prstGeom>
        </p:spPr>
      </p:pic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875DED1E-82B1-460C-A0B3-EE18D3351F61}"/>
              </a:ext>
            </a:extLst>
          </p:cNvPr>
          <p:cNvSpPr/>
          <p:nvPr/>
        </p:nvSpPr>
        <p:spPr>
          <a:xfrm>
            <a:off x="10456745" y="3106628"/>
            <a:ext cx="1371601" cy="369090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No propiedad</a:t>
            </a:r>
            <a:endParaRPr lang="es-PE" sz="1400" dirty="0">
              <a:solidFill>
                <a:schemeClr val="tx1"/>
              </a:solidFill>
            </a:endParaRP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6244AB88-B63D-45EE-9807-CAAD46D2AA38}"/>
              </a:ext>
            </a:extLst>
          </p:cNvPr>
          <p:cNvGrpSpPr/>
          <p:nvPr/>
        </p:nvGrpSpPr>
        <p:grpSpPr>
          <a:xfrm>
            <a:off x="179583" y="1098384"/>
            <a:ext cx="11463594" cy="2515436"/>
            <a:chOff x="179583" y="1098384"/>
            <a:chExt cx="11463594" cy="2515436"/>
          </a:xfrm>
        </p:grpSpPr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4B3C134C-F0B3-48BD-A11E-B65CDF8F3C08}"/>
                </a:ext>
              </a:extLst>
            </p:cNvPr>
            <p:cNvSpPr/>
            <p:nvPr/>
          </p:nvSpPr>
          <p:spPr>
            <a:xfrm>
              <a:off x="316207" y="2209781"/>
              <a:ext cx="1984400" cy="721748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Sabina </a:t>
              </a:r>
              <a:r>
                <a:rPr lang="es-PE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Alkire</a:t>
              </a:r>
              <a:r>
                <a:rPr lang="es-PE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 y James Foster</a:t>
              </a:r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C2DB8267-8C98-430F-B6C8-68BB80F58BD3}"/>
                </a:ext>
              </a:extLst>
            </p:cNvPr>
            <p:cNvSpPr/>
            <p:nvPr/>
          </p:nvSpPr>
          <p:spPr>
            <a:xfrm>
              <a:off x="8744775" y="1493736"/>
              <a:ext cx="1121963" cy="788820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GLP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GN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Electricidad</a:t>
              </a:r>
              <a:endParaRPr lang="es-PE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ángulo: esquinas redondeadas 13">
              <a:extLst>
                <a:ext uri="{FF2B5EF4-FFF2-40B4-BE49-F238E27FC236}">
                  <a16:creationId xmlns:a16="http://schemas.microsoft.com/office/drawing/2014/main" id="{76132900-1506-4148-8D4C-707D4107ABCC}"/>
                </a:ext>
              </a:extLst>
            </p:cNvPr>
            <p:cNvSpPr/>
            <p:nvPr/>
          </p:nvSpPr>
          <p:spPr>
            <a:xfrm>
              <a:off x="10568236" y="1572012"/>
              <a:ext cx="1074941" cy="632268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Carbón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Leña</a:t>
              </a: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Bosta</a:t>
              </a:r>
            </a:p>
          </p:txBody>
        </p:sp>
        <p:sp>
          <p:nvSpPr>
            <p:cNvPr id="15" name="Rectángulo: esquinas redondeadas 14">
              <a:extLst>
                <a:ext uri="{FF2B5EF4-FFF2-40B4-BE49-F238E27FC236}">
                  <a16:creationId xmlns:a16="http://schemas.microsoft.com/office/drawing/2014/main" id="{1A68FFEB-3506-417D-AA0B-FF212ED855C6}"/>
                </a:ext>
              </a:extLst>
            </p:cNvPr>
            <p:cNvSpPr/>
            <p:nvPr/>
          </p:nvSpPr>
          <p:spPr>
            <a:xfrm>
              <a:off x="179583" y="1479891"/>
              <a:ext cx="2257647" cy="474071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i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Marco teórico base para el diseño de la medición</a:t>
              </a:r>
              <a:endParaRPr lang="es-PE" sz="1400" i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678C6F0B-274C-4BA6-B4BA-C705ECEF4E61}"/>
                </a:ext>
              </a:extLst>
            </p:cNvPr>
            <p:cNvSpPr/>
            <p:nvPr/>
          </p:nvSpPr>
          <p:spPr>
            <a:xfrm>
              <a:off x="8619957" y="2369088"/>
              <a:ext cx="1371601" cy="49522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Acceso</a:t>
              </a:r>
              <a:endParaRPr lang="es-PE" dirty="0">
                <a:solidFill>
                  <a:schemeClr val="tx1"/>
                </a:solidFill>
              </a:endParaRPr>
            </a:p>
          </p:txBody>
        </p:sp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6FAD647-FA47-4B9C-84BC-59B4621A6B74}"/>
                </a:ext>
              </a:extLst>
            </p:cNvPr>
            <p:cNvSpPr/>
            <p:nvPr/>
          </p:nvSpPr>
          <p:spPr>
            <a:xfrm>
              <a:off x="3922696" y="2142708"/>
              <a:ext cx="1986735" cy="788821"/>
            </a:xfrm>
            <a:prstGeom prst="roundRect">
              <a:avLst/>
            </a:prstGeom>
            <a:solidFill>
              <a:schemeClr val="accent1">
                <a:lumMod val="50000"/>
              </a:schemeClr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Aptos" panose="020B0004020202020204"/>
                </a:rPr>
                <a:t>Dimensiones evaluadas</a:t>
              </a:r>
            </a:p>
          </p:txBody>
        </p: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C83A6604-C535-446D-8CCA-B783116557D0}"/>
                </a:ext>
              </a:extLst>
            </p:cNvPr>
            <p:cNvSpPr/>
            <p:nvPr/>
          </p:nvSpPr>
          <p:spPr>
            <a:xfrm>
              <a:off x="6764405" y="1657176"/>
              <a:ext cx="1232281" cy="363427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Cocción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72072A41-3CF4-4606-A6C1-9117E2FD5D0B}"/>
                </a:ext>
              </a:extLst>
            </p:cNvPr>
            <p:cNvSpPr/>
            <p:nvPr/>
          </p:nvSpPr>
          <p:spPr>
            <a:xfrm>
              <a:off x="6764405" y="2411544"/>
              <a:ext cx="1338720" cy="363427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Iluminación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cxnSp>
          <p:nvCxnSpPr>
            <p:cNvPr id="4" name="Conector: angular 3">
              <a:extLst>
                <a:ext uri="{FF2B5EF4-FFF2-40B4-BE49-F238E27FC236}">
                  <a16:creationId xmlns:a16="http://schemas.microsoft.com/office/drawing/2014/main" id="{9F26DEB6-D8CD-413E-99FD-9071F1634B82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 flipV="1">
              <a:off x="5909431" y="1838890"/>
              <a:ext cx="854974" cy="698229"/>
            </a:xfrm>
            <a:prstGeom prst="bentConnector3">
              <a:avLst/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: angular 22">
              <a:extLst>
                <a:ext uri="{FF2B5EF4-FFF2-40B4-BE49-F238E27FC236}">
                  <a16:creationId xmlns:a16="http://schemas.microsoft.com/office/drawing/2014/main" id="{BDD76F72-1816-4CB5-8CB8-CA0626B92A84}"/>
                </a:ext>
              </a:extLst>
            </p:cNvPr>
            <p:cNvCxnSpPr>
              <a:cxnSpLocks/>
              <a:stCxn id="20" idx="3"/>
              <a:endCxn id="22" idx="1"/>
            </p:cNvCxnSpPr>
            <p:nvPr/>
          </p:nvCxnSpPr>
          <p:spPr>
            <a:xfrm>
              <a:off x="5909431" y="2537119"/>
              <a:ext cx="854974" cy="5613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lecha: a la derecha 32">
              <a:extLst>
                <a:ext uri="{FF2B5EF4-FFF2-40B4-BE49-F238E27FC236}">
                  <a16:creationId xmlns:a16="http://schemas.microsoft.com/office/drawing/2014/main" id="{F579513F-B1FD-4E25-908D-709BBC98DF85}"/>
                </a:ext>
              </a:extLst>
            </p:cNvPr>
            <p:cNvSpPr/>
            <p:nvPr/>
          </p:nvSpPr>
          <p:spPr>
            <a:xfrm>
              <a:off x="2972299" y="2241874"/>
              <a:ext cx="351424" cy="62243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549D9D6B-253A-45D5-9E79-FE7DA7B11CEB}"/>
                </a:ext>
              </a:extLst>
            </p:cNvPr>
            <p:cNvSpPr/>
            <p:nvPr/>
          </p:nvSpPr>
          <p:spPr>
            <a:xfrm>
              <a:off x="6687133" y="3056847"/>
              <a:ext cx="1493264" cy="556973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Electrodomésticos</a:t>
              </a:r>
            </a:p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Educación</a:t>
              </a:r>
            </a:p>
            <a:p>
              <a:pPr algn="ctr"/>
              <a:r>
                <a:rPr lang="es-PE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Comunicación</a:t>
              </a:r>
              <a:endParaRPr lang="es-PE" sz="16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44" name="Rectángulo: esquinas redondeadas 43">
              <a:extLst>
                <a:ext uri="{FF2B5EF4-FFF2-40B4-BE49-F238E27FC236}">
                  <a16:creationId xmlns:a16="http://schemas.microsoft.com/office/drawing/2014/main" id="{E780EFD9-57F2-4B71-AC16-D27A99CAD6E9}"/>
                </a:ext>
              </a:extLst>
            </p:cNvPr>
            <p:cNvSpPr/>
            <p:nvPr/>
          </p:nvSpPr>
          <p:spPr>
            <a:xfrm>
              <a:off x="8619957" y="3177758"/>
              <a:ext cx="1371601" cy="297960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Propiedad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47" name="Conector: angular 46">
              <a:extLst>
                <a:ext uri="{FF2B5EF4-FFF2-40B4-BE49-F238E27FC236}">
                  <a16:creationId xmlns:a16="http://schemas.microsoft.com/office/drawing/2014/main" id="{608AADD3-9997-4E8E-A83C-1228853DFAA9}"/>
                </a:ext>
              </a:extLst>
            </p:cNvPr>
            <p:cNvCxnSpPr>
              <a:cxnSpLocks/>
              <a:stCxn id="20" idx="3"/>
              <a:endCxn id="43" idx="1"/>
            </p:cNvCxnSpPr>
            <p:nvPr/>
          </p:nvCxnSpPr>
          <p:spPr>
            <a:xfrm>
              <a:off x="5909431" y="2537119"/>
              <a:ext cx="777702" cy="798215"/>
            </a:xfrm>
            <a:prstGeom prst="bentConnector3">
              <a:avLst>
                <a:gd name="adj1" fmla="val 53528"/>
              </a:avLst>
            </a:prstGeom>
            <a:ln>
              <a:solidFill>
                <a:srgbClr val="6E171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426482AA-D7CC-49FA-9907-7C13BB75CE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98358" y="1098384"/>
              <a:ext cx="385819" cy="385819"/>
            </a:xfrm>
            <a:prstGeom prst="ellipse">
              <a:avLst/>
            </a:prstGeom>
          </p:spPr>
        </p:pic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A6919E0A-E919-478C-B601-DAA6E8B91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17774" y="1125143"/>
              <a:ext cx="356666" cy="356666"/>
            </a:xfrm>
            <a:prstGeom prst="ellipse">
              <a:avLst/>
            </a:prstGeom>
          </p:spPr>
        </p:pic>
        <p:sp>
          <p:nvSpPr>
            <p:cNvPr id="63" name="Flecha: a la derecha 62">
              <a:extLst>
                <a:ext uri="{FF2B5EF4-FFF2-40B4-BE49-F238E27FC236}">
                  <a16:creationId xmlns:a16="http://schemas.microsoft.com/office/drawing/2014/main" id="{DDC253CD-0248-4ACB-8D9C-5AFC5914EE20}"/>
                </a:ext>
              </a:extLst>
            </p:cNvPr>
            <p:cNvSpPr/>
            <p:nvPr/>
          </p:nvSpPr>
          <p:spPr>
            <a:xfrm>
              <a:off x="8337101" y="1662681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4" name="Flecha: a la derecha 63">
              <a:extLst>
                <a:ext uri="{FF2B5EF4-FFF2-40B4-BE49-F238E27FC236}">
                  <a16:creationId xmlns:a16="http://schemas.microsoft.com/office/drawing/2014/main" id="{C04FA8DD-CBB3-4751-8B14-90F1B0A2380D}"/>
                </a:ext>
              </a:extLst>
            </p:cNvPr>
            <p:cNvSpPr/>
            <p:nvPr/>
          </p:nvSpPr>
          <p:spPr>
            <a:xfrm>
              <a:off x="8337101" y="2444277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5" name="Flecha: a la derecha 64">
              <a:extLst>
                <a:ext uri="{FF2B5EF4-FFF2-40B4-BE49-F238E27FC236}">
                  <a16:creationId xmlns:a16="http://schemas.microsoft.com/office/drawing/2014/main" id="{DB3F0675-5E73-4BAB-AFC3-F7AB0F2D8579}"/>
                </a:ext>
              </a:extLst>
            </p:cNvPr>
            <p:cNvSpPr/>
            <p:nvPr/>
          </p:nvSpPr>
          <p:spPr>
            <a:xfrm>
              <a:off x="8337101" y="3212095"/>
              <a:ext cx="360128" cy="297960"/>
            </a:xfrm>
            <a:prstGeom prst="rightArrow">
              <a:avLst/>
            </a:prstGeom>
            <a:no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</p:spTree>
    <p:extLst>
      <p:ext uri="{BB962C8B-B14F-4D97-AF65-F5344CB8AC3E}">
        <p14:creationId xmlns:p14="http://schemas.microsoft.com/office/powerpoint/2010/main" val="2721990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3BF2C3D-B551-4587-932E-42723C35FC4A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52265D7A-B1C2-492A-941F-0DDB3639BFBB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3F53F998-16F2-495D-BDA0-E1BDD1903908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824159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 Detalles de la base e institución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CD474DE-F947-49C4-9579-F9E15FE52E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626522A-5017-4ED3-8ECB-6DD1FAAB6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C58022DB-2A9B-48CA-A795-A62E4197AFD3}"/>
              </a:ext>
            </a:extLst>
          </p:cNvPr>
          <p:cNvSpPr txBox="1"/>
          <p:nvPr/>
        </p:nvSpPr>
        <p:spPr>
          <a:xfrm>
            <a:off x="197737" y="2669582"/>
            <a:ext cx="2494933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i="1" dirty="0">
                <a:latin typeface="Times New Roman"/>
                <a:cs typeface="Times New Roman"/>
              </a:rPr>
              <a:t>Institución encargada (1990) de encargada de dirigir los sistemas de estadística y datos del Perú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i="1" dirty="0">
                <a:latin typeface="Times New Roman"/>
                <a:cs typeface="Times New Roman"/>
              </a:rPr>
              <a:t>Censos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i="1" dirty="0">
                <a:latin typeface="Times New Roman"/>
                <a:cs typeface="Times New Roman"/>
              </a:rPr>
              <a:t>Encuestas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600" i="1" dirty="0">
              <a:latin typeface="Times New Roman"/>
              <a:cs typeface="Times New Roman"/>
            </a:endParaRPr>
          </a:p>
          <a:p>
            <a:r>
              <a:rPr lang="es-ES" sz="1600" i="1" dirty="0">
                <a:latin typeface="Times New Roman"/>
                <a:cs typeface="Times New Roman"/>
              </a:rPr>
              <a:t>Cuenta con independencia legal para decidir sus metodologías, procesar datos y publicar resultados sin interferencia política externa</a:t>
            </a:r>
            <a:endParaRPr lang="es-PE" sz="1600" i="1" dirty="0">
              <a:latin typeface="Times New Roman"/>
              <a:cs typeface="Times New Roman"/>
            </a:endParaRP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DAC5908-1757-4774-A198-18E2B777BED1}"/>
              </a:ext>
            </a:extLst>
          </p:cNvPr>
          <p:cNvGrpSpPr/>
          <p:nvPr/>
        </p:nvGrpSpPr>
        <p:grpSpPr>
          <a:xfrm>
            <a:off x="371534" y="1167631"/>
            <a:ext cx="7219446" cy="1501951"/>
            <a:chOff x="434224" y="1396524"/>
            <a:chExt cx="7219446" cy="1501951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C68430C-661E-4FAA-970D-7AC13EB37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4224" y="1396524"/>
              <a:ext cx="1860744" cy="1142498"/>
            </a:xfrm>
            <a:prstGeom prst="rect">
              <a:avLst/>
            </a:prstGeom>
          </p:spPr>
        </p:pic>
        <p:sp>
          <p:nvSpPr>
            <p:cNvPr id="11" name="Flecha: a la derecha 10">
              <a:extLst>
                <a:ext uri="{FF2B5EF4-FFF2-40B4-BE49-F238E27FC236}">
                  <a16:creationId xmlns:a16="http://schemas.microsoft.com/office/drawing/2014/main" id="{73AA17E2-20E6-4600-AD50-E32C92DBC94B}"/>
                </a:ext>
              </a:extLst>
            </p:cNvPr>
            <p:cNvSpPr/>
            <p:nvPr/>
          </p:nvSpPr>
          <p:spPr>
            <a:xfrm>
              <a:off x="3263045" y="1907851"/>
              <a:ext cx="427333" cy="75025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2" name="Rectángulo: esquinas redondeadas 11">
              <a:extLst>
                <a:ext uri="{FF2B5EF4-FFF2-40B4-BE49-F238E27FC236}">
                  <a16:creationId xmlns:a16="http://schemas.microsoft.com/office/drawing/2014/main" id="{61E048D9-27B5-4012-AB64-DB64C9F0BF6D}"/>
                </a:ext>
              </a:extLst>
            </p:cNvPr>
            <p:cNvSpPr/>
            <p:nvPr/>
          </p:nvSpPr>
          <p:spPr>
            <a:xfrm>
              <a:off x="4039712" y="1667483"/>
              <a:ext cx="2056288" cy="1230992"/>
            </a:xfrm>
            <a:prstGeom prst="roundRect">
              <a:avLst/>
            </a:prstGeom>
            <a:noFill/>
            <a:ln>
              <a:solidFill>
                <a:srgbClr val="6E171D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ENAHO</a:t>
              </a:r>
              <a:endPara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  <a:p>
              <a:pPr algn="ctr"/>
              <a:r>
                <a:rPr lang="es-PE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Aptos" panose="020B0004020202020204"/>
                </a:rPr>
                <a:t>Encuesta Nacional de Hogares</a:t>
              </a:r>
              <a:endParaRPr lang="es-PE" sz="16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endParaRPr>
            </a:p>
          </p:txBody>
        </p:sp>
        <p:sp>
          <p:nvSpPr>
            <p:cNvPr id="13" name="Flecha: a la derecha 12">
              <a:extLst>
                <a:ext uri="{FF2B5EF4-FFF2-40B4-BE49-F238E27FC236}">
                  <a16:creationId xmlns:a16="http://schemas.microsoft.com/office/drawing/2014/main" id="{E77490C8-5300-45BA-9F38-5BFED31D961A}"/>
                </a:ext>
              </a:extLst>
            </p:cNvPr>
            <p:cNvSpPr/>
            <p:nvPr/>
          </p:nvSpPr>
          <p:spPr>
            <a:xfrm>
              <a:off x="6754203" y="1907851"/>
              <a:ext cx="427333" cy="750256"/>
            </a:xfrm>
            <a:prstGeom prst="rightArrow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D306806C-AC64-4564-AC86-F0A49A881245}"/>
                </a:ext>
              </a:extLst>
            </p:cNvPr>
            <p:cNvSpPr/>
            <p:nvPr/>
          </p:nvSpPr>
          <p:spPr>
            <a:xfrm>
              <a:off x="6282069" y="1412629"/>
              <a:ext cx="1371601" cy="49522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¿Qué tipo de encuesta es?</a:t>
              </a:r>
              <a:endParaRPr lang="es-PE" sz="12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7A3A8CA6-9962-4E60-B780-F8F91B789AA5}"/>
              </a:ext>
            </a:extLst>
          </p:cNvPr>
          <p:cNvCxnSpPr>
            <a:cxnSpLocks/>
            <a:stCxn id="12" idx="2"/>
            <a:endCxn id="19" idx="1"/>
          </p:cNvCxnSpPr>
          <p:nvPr/>
        </p:nvCxnSpPr>
        <p:spPr>
          <a:xfrm rot="5400000">
            <a:off x="3054186" y="2761448"/>
            <a:ext cx="2042847" cy="1859114"/>
          </a:xfrm>
          <a:prstGeom prst="bentConnector4">
            <a:avLst>
              <a:gd name="adj1" fmla="val 16414"/>
              <a:gd name="adj2" fmla="val 112296"/>
            </a:avLst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5A2D5B5D-2C23-4041-9117-39ECB5AB37F5}"/>
              </a:ext>
            </a:extLst>
          </p:cNvPr>
          <p:cNvSpPr/>
          <p:nvPr/>
        </p:nvSpPr>
        <p:spPr>
          <a:xfrm>
            <a:off x="3146052" y="4254644"/>
            <a:ext cx="1143165" cy="915570"/>
          </a:xfrm>
          <a:prstGeom prst="roundRect">
            <a:avLst>
              <a:gd name="adj" fmla="val 21670"/>
            </a:avLst>
          </a:prstGeom>
          <a:solidFill>
            <a:schemeClr val="accent1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600" b="1" dirty="0">
                <a:solidFill>
                  <a:schemeClr val="bg1"/>
                </a:solidFill>
                <a:latin typeface="Times New Roman" panose="02020603050405020304" pitchFamily="18" charset="0"/>
                <a:ea typeface="Aptos" panose="020B0004020202020204"/>
              </a:rPr>
              <a:t>¿Qué módulos captura?</a:t>
            </a:r>
          </a:p>
        </p:txBody>
      </p:sp>
      <p:sp>
        <p:nvSpPr>
          <p:cNvPr id="29" name="Abrir llave 28">
            <a:extLst>
              <a:ext uri="{FF2B5EF4-FFF2-40B4-BE49-F238E27FC236}">
                <a16:creationId xmlns:a16="http://schemas.microsoft.com/office/drawing/2014/main" id="{B4656489-E80A-4707-961B-101C32E61F03}"/>
              </a:ext>
            </a:extLst>
          </p:cNvPr>
          <p:cNvSpPr/>
          <p:nvPr/>
        </p:nvSpPr>
        <p:spPr>
          <a:xfrm>
            <a:off x="4414649" y="3226528"/>
            <a:ext cx="450649" cy="3174271"/>
          </a:xfrm>
          <a:prstGeom prst="leftBrac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7EC17DA8-C708-4042-9146-489000E213C3}"/>
              </a:ext>
            </a:extLst>
          </p:cNvPr>
          <p:cNvSpPr/>
          <p:nvPr/>
        </p:nvSpPr>
        <p:spPr>
          <a:xfrm>
            <a:off x="7590980" y="1503058"/>
            <a:ext cx="3991918" cy="1102056"/>
          </a:xfrm>
          <a:prstGeom prst="round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Periodicidad anual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Unidad de análisis hogares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Muestreo probabilístico y estratificada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chemeClr val="tx1"/>
                </a:solidFill>
              </a:rPr>
              <a:t>Año 2025, la muestra es de 33,702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sz="1400" dirty="0">
                <a:solidFill>
                  <a:schemeClr val="tx1"/>
                </a:solidFill>
              </a:rPr>
              <a:t>Separado en 32 módulos, cada uno respecto a un tema distinto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6B8AF812-8EBB-449F-9EF4-ABC86EF40C01}"/>
              </a:ext>
            </a:extLst>
          </p:cNvPr>
          <p:cNvSpPr/>
          <p:nvPr/>
        </p:nvSpPr>
        <p:spPr>
          <a:xfrm>
            <a:off x="5055266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9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Características del hogar</a:t>
            </a: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27BA98DD-64FD-4620-8A6F-6AE7241A1178}"/>
              </a:ext>
            </a:extLst>
          </p:cNvPr>
          <p:cNvSpPr/>
          <p:nvPr/>
        </p:nvSpPr>
        <p:spPr>
          <a:xfrm>
            <a:off x="5055266" y="4943726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Sumarias</a:t>
            </a:r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9585E58C-6CDB-44BC-B0AB-8D54986A5F21}"/>
              </a:ext>
            </a:extLst>
          </p:cNvPr>
          <p:cNvSpPr/>
          <p:nvPr/>
        </p:nvSpPr>
        <p:spPr>
          <a:xfrm>
            <a:off x="7440298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Salud</a:t>
            </a:r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C0BDDE34-4B28-4AAC-963F-F0EFEF67D033}"/>
              </a:ext>
            </a:extLst>
          </p:cNvPr>
          <p:cNvSpPr/>
          <p:nvPr/>
        </p:nvSpPr>
        <p:spPr>
          <a:xfrm>
            <a:off x="7440298" y="4934433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Empleo e ingresos</a:t>
            </a: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0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4EDD00F5-BF1D-4049-B034-915F6BCC1223}"/>
              </a:ext>
            </a:extLst>
          </p:cNvPr>
          <p:cNvSpPr/>
          <p:nvPr/>
        </p:nvSpPr>
        <p:spPr>
          <a:xfrm>
            <a:off x="9825330" y="3347298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Educación</a:t>
            </a:r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  <a:p>
            <a:pPr algn="ctr"/>
            <a:endParaRPr lang="es-PE" sz="2400" b="1" dirty="0">
              <a:solidFill>
                <a:srgbClr val="000000"/>
              </a:solidFill>
              <a:latin typeface="Times New Roman" panose="02020603050405020304" pitchFamily="18" charset="0"/>
              <a:ea typeface="Aptos" panose="020B0004020202020204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BC6A9EF1-42C4-4656-A86E-DC5F998EF401}"/>
              </a:ext>
            </a:extLst>
          </p:cNvPr>
          <p:cNvSpPr/>
          <p:nvPr/>
        </p:nvSpPr>
        <p:spPr>
          <a:xfrm>
            <a:off x="9825330" y="4934433"/>
            <a:ext cx="2056288" cy="1230992"/>
          </a:xfrm>
          <a:prstGeom prst="roundRect">
            <a:avLst>
              <a:gd name="adj" fmla="val 0"/>
            </a:avLst>
          </a:prstGeom>
          <a:noFill/>
          <a:ln>
            <a:solidFill>
              <a:srgbClr val="6E171D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400" b="1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Otros</a:t>
            </a:r>
          </a:p>
          <a:p>
            <a:pPr algn="ctr"/>
            <a:r>
              <a:rPr lang="es-PE" sz="12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(crianza de mascotas, inseguridad, </a:t>
            </a:r>
            <a:r>
              <a:rPr lang="es-PE" sz="1200" dirty="0" err="1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etc</a:t>
            </a:r>
            <a:r>
              <a:rPr lang="es-PE" sz="1200" dirty="0">
                <a:solidFill>
                  <a:srgbClr val="000000"/>
                </a:solidFill>
                <a:latin typeface="Times New Roman" panose="02020603050405020304" pitchFamily="18" charset="0"/>
                <a:ea typeface="Aptos" panose="020B0004020202020204"/>
              </a:rPr>
              <a:t>)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4079A79-35B0-4B61-A6C2-732AFD89410A}"/>
              </a:ext>
            </a:extLst>
          </p:cNvPr>
          <p:cNvSpPr txBox="1"/>
          <p:nvPr/>
        </p:nvSpPr>
        <p:spPr>
          <a:xfrm>
            <a:off x="8306972" y="6381956"/>
            <a:ext cx="38045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600" i="1" dirty="0">
                <a:latin typeface="Times New Roman"/>
                <a:cs typeface="Times New Roman"/>
                <a:hlinkClick r:id="rId5"/>
              </a:rPr>
              <a:t>https://proyectos.inei.gob.pe/microdatos/</a:t>
            </a:r>
            <a:r>
              <a:rPr lang="es-PE" sz="1600" i="1" dirty="0">
                <a:latin typeface="Times New Roman"/>
                <a:cs typeface="Times New Roman"/>
              </a:rPr>
              <a:t> 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28A3E191-729E-48F9-B5A1-5DE04A736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8810" y="3979747"/>
            <a:ext cx="534380" cy="534380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A349F58B-48DB-44A0-A928-82A6C7D9FF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6609" y="3929869"/>
            <a:ext cx="563666" cy="56366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4859C64B-1114-4D8B-85C1-AAFABAD790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005" y="3929869"/>
            <a:ext cx="462938" cy="462938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:a16="http://schemas.microsoft.com/office/drawing/2014/main" id="{F17DF964-7242-407D-9A0F-30340B2FE7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8709" y="5496374"/>
            <a:ext cx="494581" cy="494581"/>
          </a:xfrm>
          <a:prstGeom prst="rect">
            <a:avLst/>
          </a:prstGeom>
        </p:spPr>
      </p:pic>
      <p:pic>
        <p:nvPicPr>
          <p:cNvPr id="53" name="Imagen 52">
            <a:extLst>
              <a:ext uri="{FF2B5EF4-FFF2-40B4-BE49-F238E27FC236}">
                <a16:creationId xmlns:a16="http://schemas.microsoft.com/office/drawing/2014/main" id="{40C15A8E-E97D-4981-A9C8-166020F454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084" y="5613283"/>
            <a:ext cx="436716" cy="436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24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FD7DC9B7-9C25-4D68-968B-DEE735776284}"/>
              </a:ext>
            </a:extLst>
          </p:cNvPr>
          <p:cNvGrpSpPr/>
          <p:nvPr/>
        </p:nvGrpSpPr>
        <p:grpSpPr>
          <a:xfrm>
            <a:off x="-1" y="0"/>
            <a:ext cx="12192001" cy="1084521"/>
            <a:chOff x="-1" y="0"/>
            <a:chExt cx="12192001" cy="1084521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2116D947-9CAA-4B5A-9F7D-67CF0B846E24}"/>
                </a:ext>
              </a:extLst>
            </p:cNvPr>
            <p:cNvSpPr/>
            <p:nvPr/>
          </p:nvSpPr>
          <p:spPr>
            <a:xfrm>
              <a:off x="0" y="0"/>
              <a:ext cx="12192000" cy="108452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Título 1">
              <a:extLst>
                <a:ext uri="{FF2B5EF4-FFF2-40B4-BE49-F238E27FC236}">
                  <a16:creationId xmlns:a16="http://schemas.microsoft.com/office/drawing/2014/main" id="{0B060D1B-56B3-4AD2-8D5C-E47440BABA50}"/>
                </a:ext>
              </a:extLst>
            </p:cNvPr>
            <p:cNvSpPr txBox="1">
              <a:spLocks/>
            </p:cNvSpPr>
            <p:nvPr/>
          </p:nvSpPr>
          <p:spPr>
            <a:xfrm>
              <a:off x="-1" y="83110"/>
              <a:ext cx="7461505" cy="78015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s-ES" sz="40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3. Pregunta de investigación</a:t>
              </a:r>
              <a:endParaRPr lang="es-E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3FB6AE01-195B-49CF-B0D0-721029F6A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284178" y="203018"/>
              <a:ext cx="597440" cy="708077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D53AFE5F-27AF-4AA0-8396-F48CEA637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9176" y="128863"/>
              <a:ext cx="854620" cy="856386"/>
            </a:xfrm>
            <a:prstGeom prst="ellipse">
              <a:avLst/>
            </a:prstGeom>
          </p:spPr>
        </p:pic>
      </p:grpSp>
      <p:sp>
        <p:nvSpPr>
          <p:cNvPr id="16" name="Abrir llave 15">
            <a:extLst>
              <a:ext uri="{FF2B5EF4-FFF2-40B4-BE49-F238E27FC236}">
                <a16:creationId xmlns:a16="http://schemas.microsoft.com/office/drawing/2014/main" id="{D83F79CC-8AEA-412E-A554-5579F64DD04D}"/>
              </a:ext>
            </a:extLst>
          </p:cNvPr>
          <p:cNvSpPr/>
          <p:nvPr/>
        </p:nvSpPr>
        <p:spPr>
          <a:xfrm>
            <a:off x="2020824" y="1167631"/>
            <a:ext cx="368808" cy="17809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grpSp>
        <p:nvGrpSpPr>
          <p:cNvPr id="59" name="Grupo 58">
            <a:extLst>
              <a:ext uri="{FF2B5EF4-FFF2-40B4-BE49-F238E27FC236}">
                <a16:creationId xmlns:a16="http://schemas.microsoft.com/office/drawing/2014/main" id="{0D837309-2033-48E8-95CC-D310A6ED2C86}"/>
              </a:ext>
            </a:extLst>
          </p:cNvPr>
          <p:cNvGrpSpPr/>
          <p:nvPr/>
        </p:nvGrpSpPr>
        <p:grpSpPr>
          <a:xfrm>
            <a:off x="330643" y="1223020"/>
            <a:ext cx="11039393" cy="5443930"/>
            <a:chOff x="330643" y="1110829"/>
            <a:chExt cx="11039393" cy="5443930"/>
          </a:xfrm>
        </p:grpSpPr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DB8C9C5F-AB2F-48C5-974A-56EA47E80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77556" y="3414594"/>
              <a:ext cx="792480" cy="792480"/>
            </a:xfrm>
            <a:prstGeom prst="rect">
              <a:avLst/>
            </a:prstGeom>
          </p:spPr>
        </p:pic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CACB6F3E-AEFB-4747-A1FB-4DDB1FC66425}"/>
                </a:ext>
              </a:extLst>
            </p:cNvPr>
            <p:cNvSpPr/>
            <p:nvPr/>
          </p:nvSpPr>
          <p:spPr>
            <a:xfrm>
              <a:off x="330643" y="2014953"/>
              <a:ext cx="1371601" cy="343312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</a:t>
              </a:r>
            </a:p>
            <a:p>
              <a:pPr algn="ctr"/>
              <a:r>
                <a:rPr lang="es-PE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Situación actual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456B56DC-AC75-42F8-9936-81F92E7B3AD8}"/>
                </a:ext>
              </a:extLst>
            </p:cNvPr>
            <p:cNvSpPr txBox="1"/>
            <p:nvPr/>
          </p:nvSpPr>
          <p:spPr>
            <a:xfrm>
              <a:off x="5720827" y="1110829"/>
              <a:ext cx="1307172" cy="3693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b="1" dirty="0">
                  <a:latin typeface="Times New Roman"/>
                  <a:cs typeface="Times New Roman"/>
                </a:rPr>
                <a:t>MEPI</a:t>
              </a:r>
              <a:endParaRPr lang="es-PE" b="1" dirty="0">
                <a:latin typeface="Times New Roman"/>
                <a:cs typeface="Times New Roman"/>
              </a:endParaRP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AD10C1D-648B-4B67-801E-E0AE31CA8B68}"/>
                </a:ext>
              </a:extLst>
            </p:cNvPr>
            <p:cNvSpPr txBox="1"/>
            <p:nvPr/>
          </p:nvSpPr>
          <p:spPr>
            <a:xfrm>
              <a:off x="2708212" y="1594800"/>
              <a:ext cx="7332406" cy="138499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MEPI mide pobreza energética solo por acceso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Ignora la dimensión económica: No incorpora pobreza monetaria ni carga energética en el presupuesto.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Existen hogares vulnerables que quedan invisibles para el indicador.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s-ES" sz="1400" dirty="0">
                  <a:latin typeface="Times New Roman"/>
                  <a:cs typeface="Times New Roman"/>
                </a:rPr>
                <a:t>No es adecuado para el diseño de políticas: Variable resultado al ser binario (pobre / no pobre), aplana la heterogeneidad real de los hogares. </a:t>
              </a:r>
              <a:endParaRPr lang="es-PE" sz="1400" dirty="0">
                <a:latin typeface="Times New Roman"/>
                <a:cs typeface="Times New Roman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4459E33B-95F7-40B2-BEC9-9F1C8B6DCE0A}"/>
                </a:ext>
              </a:extLst>
            </p:cNvPr>
            <p:cNvGrpSpPr/>
            <p:nvPr/>
          </p:nvGrpSpPr>
          <p:grpSpPr>
            <a:xfrm>
              <a:off x="337962" y="3291840"/>
              <a:ext cx="9702656" cy="1696197"/>
              <a:chOff x="337962" y="3157013"/>
              <a:chExt cx="9702656" cy="1696197"/>
            </a:xfrm>
          </p:grpSpPr>
          <p:sp>
            <p:nvSpPr>
              <p:cNvPr id="12" name="Rectángulo: esquinas redondeadas 11">
                <a:extLst>
                  <a:ext uri="{FF2B5EF4-FFF2-40B4-BE49-F238E27FC236}">
                    <a16:creationId xmlns:a16="http://schemas.microsoft.com/office/drawing/2014/main" id="{61B72B42-F0CC-48C1-9730-55437E3AF15B}"/>
                  </a:ext>
                </a:extLst>
              </p:cNvPr>
              <p:cNvSpPr/>
              <p:nvPr/>
            </p:nvSpPr>
            <p:spPr>
              <a:xfrm>
                <a:off x="337962" y="3715148"/>
                <a:ext cx="1371601" cy="714199"/>
              </a:xfrm>
              <a:prstGeom prst="roundRect">
                <a:avLst/>
              </a:prstGeom>
              <a:noFill/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PE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</a:p>
              <a:p>
                <a:pPr algn="ctr"/>
                <a:r>
                  <a:rPr lang="es-PE" sz="16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Cuestión a responder</a:t>
                </a:r>
                <a:endParaRPr lang="es-PE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EB4E1523-6335-476F-A8F5-BD3F8845CB7B}"/>
                  </a:ext>
                </a:extLst>
              </p:cNvPr>
              <p:cNvSpPr txBox="1"/>
              <p:nvPr/>
            </p:nvSpPr>
            <p:spPr>
              <a:xfrm>
                <a:off x="4047266" y="4244681"/>
                <a:ext cx="4654295" cy="3693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ES" b="1" dirty="0">
                    <a:latin typeface="Times New Roman"/>
                    <a:cs typeface="Times New Roman"/>
                  </a:rPr>
                  <a:t>Modelo de aprendizaje no supervisado</a:t>
                </a:r>
                <a:endParaRPr lang="es-PE" b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2E25C04C-D755-4295-88DD-89F5A1EA3352}"/>
                  </a:ext>
                </a:extLst>
              </p:cNvPr>
              <p:cNvSpPr txBox="1"/>
              <p:nvPr/>
            </p:nvSpPr>
            <p:spPr>
              <a:xfrm>
                <a:off x="2708212" y="3235988"/>
                <a:ext cx="7332406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ctr"/>
                <a:r>
                  <a:rPr lang="es-ES" sz="1600" i="1" dirty="0">
                    <a:latin typeface="Times New Roman"/>
                    <a:cs typeface="Times New Roman"/>
                  </a:rPr>
                  <a:t>¿Podemos desarrollar un modelo que permita contar con una focalización más fina, en el que se identifique grupos con un perfil accionable distinto, de acuerdo a la orientación de políticas públicas energéticas?</a:t>
                </a:r>
                <a:endParaRPr lang="es-PE" sz="1600" i="1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9" name="Abrir llave 18">
                <a:extLst>
                  <a:ext uri="{FF2B5EF4-FFF2-40B4-BE49-F238E27FC236}">
                    <a16:creationId xmlns:a16="http://schemas.microsoft.com/office/drawing/2014/main" id="{B19D0340-22CB-4264-8219-5EBFE68EA1CF}"/>
                  </a:ext>
                </a:extLst>
              </p:cNvPr>
              <p:cNvSpPr/>
              <p:nvPr/>
            </p:nvSpPr>
            <p:spPr>
              <a:xfrm>
                <a:off x="2020824" y="3157013"/>
                <a:ext cx="368808" cy="1696197"/>
              </a:xfrm>
              <a:prstGeom prst="leftBrac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7E8E380-7108-49C7-A744-00A32B3FFAFA}"/>
                </a:ext>
              </a:extLst>
            </p:cNvPr>
            <p:cNvSpPr txBox="1"/>
            <p:nvPr/>
          </p:nvSpPr>
          <p:spPr>
            <a:xfrm>
              <a:off x="2430591" y="5514542"/>
              <a:ext cx="169310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dirty="0">
                  <a:latin typeface="Times New Roman"/>
                  <a:cs typeface="Times New Roman"/>
                </a:rPr>
                <a:t>Enfoque de </a:t>
              </a:r>
              <a:r>
                <a:rPr lang="es-ES" sz="1600" i="1" dirty="0" err="1">
                  <a:latin typeface="Times New Roman"/>
                  <a:cs typeface="Times New Roman"/>
                </a:rPr>
                <a:t>clustering</a:t>
              </a:r>
              <a:endParaRPr lang="es-PE" sz="1600" i="1" dirty="0">
                <a:latin typeface="Times New Roman"/>
                <a:cs typeface="Times New Roman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B13EE5D0-1870-43A6-9068-4D7538D6058F}"/>
                </a:ext>
              </a:extLst>
            </p:cNvPr>
            <p:cNvSpPr txBox="1"/>
            <p:nvPr/>
          </p:nvSpPr>
          <p:spPr>
            <a:xfrm>
              <a:off x="4402900" y="5514541"/>
              <a:ext cx="1693100" cy="584775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600" dirty="0">
                  <a:latin typeface="Times New Roman"/>
                  <a:cs typeface="Times New Roman"/>
                </a:rPr>
                <a:t>Explorar distintos niveles de k</a:t>
              </a:r>
              <a:endParaRPr lang="es-PE" sz="1600" dirty="0">
                <a:latin typeface="Times New Roman"/>
                <a:cs typeface="Times New Roman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E018815-9607-4192-83A5-CDD2A027A398}"/>
                </a:ext>
              </a:extLst>
            </p:cNvPr>
            <p:cNvSpPr txBox="1"/>
            <p:nvPr/>
          </p:nvSpPr>
          <p:spPr>
            <a:xfrm>
              <a:off x="6416168" y="5514541"/>
              <a:ext cx="1693100" cy="1015663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200" dirty="0">
                  <a:latin typeface="Times New Roman"/>
                  <a:cs typeface="Times New Roman"/>
                </a:rPr>
                <a:t>Incorporación de variables de acceso, gasto, carga energética y condición socioeconómica</a:t>
              </a:r>
              <a:endParaRPr lang="es-PE" sz="1200" dirty="0">
                <a:latin typeface="Times New Roman"/>
                <a:cs typeface="Times New Roman"/>
              </a:endParaRPr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1DFD5BE-D27B-4551-B025-13E7E407215F}"/>
                </a:ext>
              </a:extLst>
            </p:cNvPr>
            <p:cNvSpPr txBox="1"/>
            <p:nvPr/>
          </p:nvSpPr>
          <p:spPr>
            <a:xfrm>
              <a:off x="8347518" y="5514541"/>
              <a:ext cx="1693100" cy="73866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lang="es-ES" sz="1400" dirty="0">
                  <a:latin typeface="Times New Roman"/>
                  <a:cs typeface="Times New Roman"/>
                </a:rPr>
                <a:t>Algoritmo descubre agrupaciones naturales de hogares</a:t>
              </a:r>
              <a:endParaRPr lang="es-PE" sz="1400" dirty="0">
                <a:latin typeface="Times New Roman"/>
                <a:cs typeface="Times New Roman"/>
              </a:endParaRPr>
            </a:p>
          </p:txBody>
        </p:sp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F9711EED-66DA-4928-9630-59C7A11EA64B}"/>
                </a:ext>
              </a:extLst>
            </p:cNvPr>
            <p:cNvSpPr/>
            <p:nvPr/>
          </p:nvSpPr>
          <p:spPr>
            <a:xfrm>
              <a:off x="330643" y="5539096"/>
              <a:ext cx="1371601" cy="714199"/>
            </a:xfrm>
            <a:prstGeom prst="roundRect">
              <a:avLst/>
            </a:prstGeom>
            <a:noFill/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600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3</a:t>
              </a:r>
            </a:p>
            <a:p>
              <a:pPr algn="ctr"/>
              <a:r>
                <a:rPr lang="es-PE" sz="16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Valor agregado</a:t>
              </a:r>
              <a:endParaRPr lang="es-PE" sz="1600" dirty="0">
                <a:solidFill>
                  <a:schemeClr val="tx1"/>
                </a:solidFill>
              </a:endParaRPr>
            </a:p>
          </p:txBody>
        </p:sp>
        <p:sp>
          <p:nvSpPr>
            <p:cNvPr id="26" name="Abrir llave 25">
              <a:extLst>
                <a:ext uri="{FF2B5EF4-FFF2-40B4-BE49-F238E27FC236}">
                  <a16:creationId xmlns:a16="http://schemas.microsoft.com/office/drawing/2014/main" id="{39B094E0-8D8E-401D-81B8-506C61A61170}"/>
                </a:ext>
              </a:extLst>
            </p:cNvPr>
            <p:cNvSpPr/>
            <p:nvPr/>
          </p:nvSpPr>
          <p:spPr>
            <a:xfrm>
              <a:off x="2020824" y="5292247"/>
              <a:ext cx="368808" cy="1262512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PE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61052803-7D2E-458B-9D27-C9E35FEB1A87}"/>
                </a:ext>
              </a:extLst>
            </p:cNvPr>
            <p:cNvCxnSpPr>
              <a:stCxn id="17" idx="2"/>
              <a:endCxn id="21" idx="0"/>
            </p:cNvCxnSpPr>
            <p:nvPr/>
          </p:nvCxnSpPr>
          <p:spPr>
            <a:xfrm flipH="1">
              <a:off x="3277141" y="4748840"/>
              <a:ext cx="3097273" cy="76570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de flecha 45">
              <a:extLst>
                <a:ext uri="{FF2B5EF4-FFF2-40B4-BE49-F238E27FC236}">
                  <a16:creationId xmlns:a16="http://schemas.microsoft.com/office/drawing/2014/main" id="{BA4DBA91-EF86-4CFB-901A-0F90546B2841}"/>
                </a:ext>
              </a:extLst>
            </p:cNvPr>
            <p:cNvCxnSpPr>
              <a:cxnSpLocks/>
              <a:stCxn id="17" idx="2"/>
              <a:endCxn id="22" idx="0"/>
            </p:cNvCxnSpPr>
            <p:nvPr/>
          </p:nvCxnSpPr>
          <p:spPr>
            <a:xfrm flipH="1">
              <a:off x="5249450" y="4748840"/>
              <a:ext cx="112496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de flecha 48">
              <a:extLst>
                <a:ext uri="{FF2B5EF4-FFF2-40B4-BE49-F238E27FC236}">
                  <a16:creationId xmlns:a16="http://schemas.microsoft.com/office/drawing/2014/main" id="{8F78FD4B-9EC8-4F83-B472-25432DA33D57}"/>
                </a:ext>
              </a:extLst>
            </p:cNvPr>
            <p:cNvCxnSpPr>
              <a:cxnSpLocks/>
              <a:stCxn id="17" idx="2"/>
              <a:endCxn id="23" idx="0"/>
            </p:cNvCxnSpPr>
            <p:nvPr/>
          </p:nvCxnSpPr>
          <p:spPr>
            <a:xfrm>
              <a:off x="6374414" y="4748840"/>
              <a:ext cx="88830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de flecha 51">
              <a:extLst>
                <a:ext uri="{FF2B5EF4-FFF2-40B4-BE49-F238E27FC236}">
                  <a16:creationId xmlns:a16="http://schemas.microsoft.com/office/drawing/2014/main" id="{CBDC2F6E-3D09-45BE-8B64-5F6157410335}"/>
                </a:ext>
              </a:extLst>
            </p:cNvPr>
            <p:cNvCxnSpPr>
              <a:cxnSpLocks/>
              <a:stCxn id="17" idx="2"/>
              <a:endCxn id="24" idx="0"/>
            </p:cNvCxnSpPr>
            <p:nvPr/>
          </p:nvCxnSpPr>
          <p:spPr>
            <a:xfrm>
              <a:off x="6374414" y="4748840"/>
              <a:ext cx="2819654" cy="7657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1364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515D8A41-74C1-E59A-ED6F-41766D210C69}"/>
              </a:ext>
            </a:extLst>
          </p:cNvPr>
          <p:cNvSpPr/>
          <p:nvPr/>
        </p:nvSpPr>
        <p:spPr>
          <a:xfrm rot="16200000">
            <a:off x="6923505" y="1524000"/>
            <a:ext cx="6858000" cy="381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ECEC734-E80F-BC59-2BA9-E1569DA34ED3}"/>
              </a:ext>
            </a:extLst>
          </p:cNvPr>
          <p:cNvSpPr/>
          <p:nvPr/>
        </p:nvSpPr>
        <p:spPr>
          <a:xfrm rot="16200000">
            <a:off x="7369082" y="1930154"/>
            <a:ext cx="2156847" cy="2274135"/>
          </a:xfrm>
          <a:prstGeom prst="roundRect">
            <a:avLst>
              <a:gd name="adj" fmla="val 96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A1CCAC-11C9-F9C2-68F8-5DE5F53AD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8747" y="207983"/>
            <a:ext cx="8037513" cy="553998"/>
          </a:xfrm>
        </p:spPr>
        <p:txBody>
          <a:bodyPr/>
          <a:lstStyle/>
          <a:p>
            <a:r>
              <a:rPr lang="es-ES_tradnl" noProof="1"/>
              <a:t>Heatmap de valores perdidos</a:t>
            </a:r>
          </a:p>
        </p:txBody>
      </p:sp>
      <p:pic>
        <p:nvPicPr>
          <p:cNvPr id="27" name="Picture Placeholder 26" descr="Woman using cell phone at digital data science display">
            <a:extLst>
              <a:ext uri="{FF2B5EF4-FFF2-40B4-BE49-F238E27FC236}">
                <a16:creationId xmlns:a16="http://schemas.microsoft.com/office/drawing/2014/main" id="{F093771A-4653-D8CA-C8F7-396DD1AE592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43468" y="1310317"/>
            <a:ext cx="4907960" cy="4407311"/>
          </a:xfrm>
        </p:spPr>
      </p:pic>
      <p:sp>
        <p:nvSpPr>
          <p:cNvPr id="7" name="Rectangle 18">
            <a:extLst>
              <a:ext uri="{FF2B5EF4-FFF2-40B4-BE49-F238E27FC236}">
                <a16:creationId xmlns:a16="http://schemas.microsoft.com/office/drawing/2014/main" id="{7B80738D-FB74-1ED7-9943-435FDC6372C0}"/>
              </a:ext>
            </a:extLst>
          </p:cNvPr>
          <p:cNvSpPr txBox="1"/>
          <p:nvPr/>
        </p:nvSpPr>
        <p:spPr>
          <a:xfrm>
            <a:off x="635278" y="1390613"/>
            <a:ext cx="6675160" cy="64633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es-ES_tradnl" sz="1400" noProof="1">
                <a:solidFill>
                  <a:schemeClr val="tx1"/>
                </a:solidFill>
              </a:rPr>
              <a:t>Las variables de gasto energético por tipo de combustible concentran la mayor parte de los valores perdidos —particularmente petróleo (99,72%), vela (98,26%) y carbón (95,3%).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D440D5-80A6-DDB2-E2CB-257C230E9718}"/>
              </a:ext>
            </a:extLst>
          </p:cNvPr>
          <p:cNvSpPr txBox="1"/>
          <p:nvPr/>
        </p:nvSpPr>
        <p:spPr>
          <a:xfrm>
            <a:off x="1384385" y="983104"/>
            <a:ext cx="2131853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s-ES_tradnl" sz="2000" b="1" noProof="1">
                <a:solidFill>
                  <a:schemeClr val="accent1"/>
                </a:solidFill>
              </a:rPr>
              <a:t>Valores perdidos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5887107-0A27-684C-DF84-7D82D6224C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7" y="761981"/>
            <a:ext cx="503802" cy="5038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C48D3D0-9D3F-BA80-97ED-B2AE87A77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47" y="2161774"/>
            <a:ext cx="5891645" cy="46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38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accel="10000" decel="4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" decel="40000" fill="hold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" grpId="0"/>
      <p:bldP spid="7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45F40CE-4690-3E91-D872-D15946605FCA}"/>
              </a:ext>
            </a:extLst>
          </p:cNvPr>
          <p:cNvSpPr/>
          <p:nvPr/>
        </p:nvSpPr>
        <p:spPr>
          <a:xfrm>
            <a:off x="6916198" y="2289936"/>
            <a:ext cx="1565783" cy="1339659"/>
          </a:xfrm>
          <a:custGeom>
            <a:avLst/>
            <a:gdLst>
              <a:gd name="connsiteX0" fmla="*/ 782892 w 1565783"/>
              <a:gd name="connsiteY0" fmla="*/ 0 h 1339659"/>
              <a:gd name="connsiteX1" fmla="*/ 0 w 1565783"/>
              <a:gd name="connsiteY1" fmla="*/ 1339660 h 1339659"/>
              <a:gd name="connsiteX2" fmla="*/ 1565783 w 1565783"/>
              <a:gd name="connsiteY2" fmla="*/ 1339660 h 1339659"/>
              <a:gd name="connsiteX3" fmla="*/ 782892 w 1565783"/>
              <a:gd name="connsiteY3" fmla="*/ 0 h 133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65783" h="1339659">
                <a:moveTo>
                  <a:pt x="782892" y="0"/>
                </a:moveTo>
                <a:lnTo>
                  <a:pt x="0" y="1339660"/>
                </a:lnTo>
                <a:lnTo>
                  <a:pt x="1565783" y="1339660"/>
                </a:lnTo>
                <a:lnTo>
                  <a:pt x="782892" y="0"/>
                </a:ln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B1F7234-3ED5-9B62-CDB2-22C25604311E}"/>
              </a:ext>
            </a:extLst>
          </p:cNvPr>
          <p:cNvSpPr/>
          <p:nvPr/>
        </p:nvSpPr>
        <p:spPr>
          <a:xfrm>
            <a:off x="7394608" y="3629596"/>
            <a:ext cx="1087374" cy="930338"/>
          </a:xfrm>
          <a:custGeom>
            <a:avLst/>
            <a:gdLst>
              <a:gd name="connsiteX0" fmla="*/ 543687 w 1087374"/>
              <a:gd name="connsiteY0" fmla="*/ 930338 h 930338"/>
              <a:gd name="connsiteX1" fmla="*/ 1087374 w 1087374"/>
              <a:gd name="connsiteY1" fmla="*/ 0 h 930338"/>
              <a:gd name="connsiteX2" fmla="*/ 0 w 1087374"/>
              <a:gd name="connsiteY2" fmla="*/ 0 h 930338"/>
              <a:gd name="connsiteX3" fmla="*/ 543687 w 1087374"/>
              <a:gd name="connsiteY3" fmla="*/ 930338 h 930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7374" h="930338">
                <a:moveTo>
                  <a:pt x="543687" y="930338"/>
                </a:moveTo>
                <a:lnTo>
                  <a:pt x="1087374" y="0"/>
                </a:lnTo>
                <a:lnTo>
                  <a:pt x="0" y="0"/>
                </a:lnTo>
                <a:lnTo>
                  <a:pt x="543687" y="930338"/>
                </a:lnTo>
                <a:close/>
              </a:path>
            </a:pathLst>
          </a:custGeom>
          <a:solidFill>
            <a:schemeClr val="accent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CE5341-E20D-9865-A1B1-D8EE5EF06A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926" y="158483"/>
            <a:ext cx="5410073" cy="886397"/>
          </a:xfrm>
        </p:spPr>
        <p:txBody>
          <a:bodyPr/>
          <a:lstStyle/>
          <a:p>
            <a:r>
              <a:rPr lang="es-ES_tradnl" sz="3200" noProof="1"/>
              <a:t>Correlación de valores perdidos</a:t>
            </a:r>
          </a:p>
        </p:txBody>
      </p:sp>
      <p:pic>
        <p:nvPicPr>
          <p:cNvPr id="41" name="Picture Placeholder 40">
            <a:extLst>
              <a:ext uri="{FF2B5EF4-FFF2-40B4-BE49-F238E27FC236}">
                <a16:creationId xmlns:a16="http://schemas.microsoft.com/office/drawing/2014/main" id="{8AC07181-603C-D644-82D8-9AC923228104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592825" y="824358"/>
            <a:ext cx="5599176" cy="6033643"/>
          </a:xfr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AAF151E5-36BB-9F76-739C-FF73F433DB70}"/>
              </a:ext>
            </a:extLst>
          </p:cNvPr>
          <p:cNvGrpSpPr/>
          <p:nvPr/>
        </p:nvGrpSpPr>
        <p:grpSpPr>
          <a:xfrm>
            <a:off x="-1038478" y="1194348"/>
            <a:ext cx="8289925" cy="1321062"/>
            <a:chOff x="-1053154" y="4884422"/>
            <a:chExt cx="8289925" cy="132106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4C6917FC-6819-4054-849C-62731157F6D7}"/>
                </a:ext>
              </a:extLst>
            </p:cNvPr>
            <p:cNvSpPr/>
            <p:nvPr/>
          </p:nvSpPr>
          <p:spPr>
            <a:xfrm>
              <a:off x="-1053154" y="4884422"/>
              <a:ext cx="8289925" cy="1321062"/>
            </a:xfrm>
            <a:prstGeom prst="parallelogram">
              <a:avLst>
                <a:gd name="adj" fmla="val 59664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936004-8EB0-A0C0-6DF8-7A140864CECC}"/>
                </a:ext>
              </a:extLst>
            </p:cNvPr>
            <p:cNvGrpSpPr/>
            <p:nvPr/>
          </p:nvGrpSpPr>
          <p:grpSpPr>
            <a:xfrm>
              <a:off x="1888205" y="5138099"/>
              <a:ext cx="4689943" cy="936819"/>
              <a:chOff x="1888205" y="5137938"/>
              <a:chExt cx="4689943" cy="936819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95C88A-758C-992D-082C-17857CB3124A}"/>
                  </a:ext>
                </a:extLst>
              </p:cNvPr>
              <p:cNvSpPr txBox="1"/>
              <p:nvPr/>
            </p:nvSpPr>
            <p:spPr>
              <a:xfrm>
                <a:off x="1888205" y="5520759"/>
                <a:ext cx="4689943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>
                <a:defPPr>
                  <a:defRPr lang="en-US"/>
                </a:defPPr>
                <a:lvl1pPr>
                  <a:defRPr sz="1400" b="0" i="0">
                    <a:solidFill>
                      <a:schemeClr val="tx1">
                        <a:lumMod val="50000"/>
                        <a:lumOff val="50000"/>
                      </a:schemeClr>
                    </a:solidFill>
                    <a:effectLst/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just"/>
                <a:r>
                  <a:rPr lang="es-ES_tradnl" sz="1200" noProof="1">
                    <a:solidFill>
                      <a:schemeClr val="bg1"/>
                    </a:solidFill>
                  </a:rPr>
                  <a:t>Los missings entre gas GLP y gas natural presentan una correlación negativa moderada (−0,57), lo que sugiere que ambos combustibles actúan como sustitutos entre los hogares encuestados. 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9BD56E-B303-35C3-C1B0-BEAD5F0BA218}"/>
                  </a:ext>
                </a:extLst>
              </p:cNvPr>
              <p:cNvSpPr txBox="1"/>
              <p:nvPr/>
            </p:nvSpPr>
            <p:spPr>
              <a:xfrm>
                <a:off x="1888205" y="5137938"/>
                <a:ext cx="409693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r>
                  <a:rPr lang="es-ES_tradnl" sz="2000" b="1" noProof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Desconocimiento uso energía</a:t>
                </a:r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B08C7E3-50C8-3DB0-C269-0B075A23F51F}"/>
                </a:ext>
              </a:extLst>
            </p:cNvPr>
            <p:cNvSpPr/>
            <p:nvPr/>
          </p:nvSpPr>
          <p:spPr>
            <a:xfrm>
              <a:off x="686134" y="5123234"/>
              <a:ext cx="843440" cy="843438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 112">
              <a:extLst>
                <a:ext uri="{FF2B5EF4-FFF2-40B4-BE49-F238E27FC236}">
                  <a16:creationId xmlns:a16="http://schemas.microsoft.com/office/drawing/2014/main" id="{2BB9018F-8432-7C97-68BF-31925A66B0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7150" y="5334249"/>
              <a:ext cx="421409" cy="421409"/>
            </a:xfrm>
            <a:custGeom>
              <a:avLst/>
              <a:gdLst>
                <a:gd name="T0" fmla="*/ 12 w 313"/>
                <a:gd name="T1" fmla="*/ 156 h 313"/>
                <a:gd name="T2" fmla="*/ 18 w 313"/>
                <a:gd name="T3" fmla="*/ 84 h 313"/>
                <a:gd name="T4" fmla="*/ 22 w 313"/>
                <a:gd name="T5" fmla="*/ 230 h 313"/>
                <a:gd name="T6" fmla="*/ 94 w 313"/>
                <a:gd name="T7" fmla="*/ 26 h 313"/>
                <a:gd name="T8" fmla="*/ 226 w 313"/>
                <a:gd name="T9" fmla="*/ 29 h 313"/>
                <a:gd name="T10" fmla="*/ 157 w 313"/>
                <a:gd name="T11" fmla="*/ 0 h 313"/>
                <a:gd name="T12" fmla="*/ 94 w 313"/>
                <a:gd name="T13" fmla="*/ 26 h 313"/>
                <a:gd name="T14" fmla="*/ 281 w 313"/>
                <a:gd name="T15" fmla="*/ 62 h 313"/>
                <a:gd name="T16" fmla="*/ 292 w 313"/>
                <a:gd name="T17" fmla="*/ 32 h 313"/>
                <a:gd name="T18" fmla="*/ 262 w 313"/>
                <a:gd name="T19" fmla="*/ 21 h 313"/>
                <a:gd name="T20" fmla="*/ 237 w 313"/>
                <a:gd name="T21" fmla="*/ 28 h 313"/>
                <a:gd name="T22" fmla="*/ 125 w 313"/>
                <a:gd name="T23" fmla="*/ 74 h 313"/>
                <a:gd name="T24" fmla="*/ 63 w 313"/>
                <a:gd name="T25" fmla="*/ 31 h 313"/>
                <a:gd name="T26" fmla="*/ 34 w 313"/>
                <a:gd name="T27" fmla="*/ 22 h 313"/>
                <a:gd name="T28" fmla="*/ 22 w 313"/>
                <a:gd name="T29" fmla="*/ 52 h 313"/>
                <a:gd name="T30" fmla="*/ 29 w 313"/>
                <a:gd name="T31" fmla="*/ 74 h 313"/>
                <a:gd name="T32" fmla="*/ 75 w 313"/>
                <a:gd name="T33" fmla="*/ 191 h 313"/>
                <a:gd name="T34" fmla="*/ 32 w 313"/>
                <a:gd name="T35" fmla="*/ 251 h 313"/>
                <a:gd name="T36" fmla="*/ 22 w 313"/>
                <a:gd name="T37" fmla="*/ 280 h 313"/>
                <a:gd name="T38" fmla="*/ 43 w 313"/>
                <a:gd name="T39" fmla="*/ 295 h 313"/>
                <a:gd name="T40" fmla="*/ 157 w 313"/>
                <a:gd name="T41" fmla="*/ 313 h 313"/>
                <a:gd name="T42" fmla="*/ 247 w 313"/>
                <a:gd name="T43" fmla="*/ 284 h 313"/>
                <a:gd name="T44" fmla="*/ 270 w 313"/>
                <a:gd name="T45" fmla="*/ 296 h 313"/>
                <a:gd name="T46" fmla="*/ 291 w 313"/>
                <a:gd name="T47" fmla="*/ 282 h 313"/>
                <a:gd name="T48" fmla="*/ 281 w 313"/>
                <a:gd name="T49" fmla="*/ 251 h 313"/>
                <a:gd name="T50" fmla="*/ 238 w 313"/>
                <a:gd name="T51" fmla="*/ 190 h 313"/>
                <a:gd name="T52" fmla="*/ 280 w 313"/>
                <a:gd name="T53" fmla="*/ 82 h 313"/>
                <a:gd name="T54" fmla="*/ 272 w 313"/>
                <a:gd name="T55" fmla="*/ 29 h 313"/>
                <a:gd name="T56" fmla="*/ 284 w 313"/>
                <a:gd name="T57" fmla="*/ 42 h 313"/>
                <a:gd name="T58" fmla="*/ 260 w 313"/>
                <a:gd name="T59" fmla="*/ 39 h 313"/>
                <a:gd name="T60" fmla="*/ 274 w 313"/>
                <a:gd name="T61" fmla="*/ 72 h 313"/>
                <a:gd name="T62" fmla="*/ 242 w 313"/>
                <a:gd name="T63" fmla="*/ 40 h 313"/>
                <a:gd name="T64" fmla="*/ 157 w 313"/>
                <a:gd name="T65" fmla="*/ 233 h 313"/>
                <a:gd name="T66" fmla="*/ 88 w 313"/>
                <a:gd name="T67" fmla="*/ 124 h 313"/>
                <a:gd name="T68" fmla="*/ 31 w 313"/>
                <a:gd name="T69" fmla="*/ 44 h 313"/>
                <a:gd name="T70" fmla="*/ 42 w 313"/>
                <a:gd name="T71" fmla="*/ 30 h 313"/>
                <a:gd name="T72" fmla="*/ 54 w 313"/>
                <a:gd name="T73" fmla="*/ 39 h 313"/>
                <a:gd name="T74" fmla="*/ 41 w 313"/>
                <a:gd name="T75" fmla="*/ 69 h 313"/>
                <a:gd name="T76" fmla="*/ 82 w 313"/>
                <a:gd name="T77" fmla="*/ 110 h 313"/>
                <a:gd name="T78" fmla="*/ 43 w 313"/>
                <a:gd name="T79" fmla="*/ 283 h 313"/>
                <a:gd name="T80" fmla="*/ 30 w 313"/>
                <a:gd name="T81" fmla="*/ 270 h 313"/>
                <a:gd name="T82" fmla="*/ 53 w 313"/>
                <a:gd name="T83" fmla="*/ 274 h 313"/>
                <a:gd name="T84" fmla="*/ 81 w 313"/>
                <a:gd name="T85" fmla="*/ 202 h 313"/>
                <a:gd name="T86" fmla="*/ 41 w 313"/>
                <a:gd name="T87" fmla="*/ 242 h 313"/>
                <a:gd name="T88" fmla="*/ 123 w 313"/>
                <a:gd name="T89" fmla="*/ 238 h 313"/>
                <a:gd name="T90" fmla="*/ 232 w 313"/>
                <a:gd name="T91" fmla="*/ 279 h 313"/>
                <a:gd name="T92" fmla="*/ 201 w 313"/>
                <a:gd name="T93" fmla="*/ 233 h 313"/>
                <a:gd name="T94" fmla="*/ 259 w 313"/>
                <a:gd name="T95" fmla="*/ 259 h 313"/>
                <a:gd name="T96" fmla="*/ 272 w 313"/>
                <a:gd name="T97" fmla="*/ 284 h 313"/>
                <a:gd name="T98" fmla="*/ 259 w 313"/>
                <a:gd name="T99" fmla="*/ 274 h 313"/>
                <a:gd name="T100" fmla="*/ 283 w 313"/>
                <a:gd name="T101" fmla="*/ 272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3" h="313">
                  <a:moveTo>
                    <a:pt x="25" y="229"/>
                  </a:moveTo>
                  <a:cubicBezTo>
                    <a:pt x="28" y="228"/>
                    <a:pt x="29" y="224"/>
                    <a:pt x="28" y="221"/>
                  </a:cubicBezTo>
                  <a:cubicBezTo>
                    <a:pt x="18" y="202"/>
                    <a:pt x="12" y="180"/>
                    <a:pt x="12" y="156"/>
                  </a:cubicBezTo>
                  <a:cubicBezTo>
                    <a:pt x="12" y="132"/>
                    <a:pt x="18" y="110"/>
                    <a:pt x="29" y="90"/>
                  </a:cubicBezTo>
                  <a:cubicBezTo>
                    <a:pt x="30" y="87"/>
                    <a:pt x="29" y="83"/>
                    <a:pt x="26" y="82"/>
                  </a:cubicBezTo>
                  <a:cubicBezTo>
                    <a:pt x="23" y="80"/>
                    <a:pt x="19" y="81"/>
                    <a:pt x="18" y="84"/>
                  </a:cubicBezTo>
                  <a:cubicBezTo>
                    <a:pt x="7" y="106"/>
                    <a:pt x="0" y="130"/>
                    <a:pt x="0" y="156"/>
                  </a:cubicBezTo>
                  <a:cubicBezTo>
                    <a:pt x="0" y="182"/>
                    <a:pt x="6" y="205"/>
                    <a:pt x="17" y="226"/>
                  </a:cubicBezTo>
                  <a:cubicBezTo>
                    <a:pt x="18" y="229"/>
                    <a:pt x="20" y="230"/>
                    <a:pt x="22" y="230"/>
                  </a:cubicBezTo>
                  <a:cubicBezTo>
                    <a:pt x="23" y="230"/>
                    <a:pt x="24" y="230"/>
                    <a:pt x="25" y="229"/>
                  </a:cubicBezTo>
                  <a:close/>
                  <a:moveTo>
                    <a:pt x="94" y="26"/>
                  </a:moveTo>
                  <a:cubicBezTo>
                    <a:pt x="94" y="26"/>
                    <a:pt x="94" y="26"/>
                    <a:pt x="94" y="26"/>
                  </a:cubicBezTo>
                  <a:cubicBezTo>
                    <a:pt x="113" y="17"/>
                    <a:pt x="134" y="12"/>
                    <a:pt x="157" y="12"/>
                  </a:cubicBezTo>
                  <a:cubicBezTo>
                    <a:pt x="181" y="12"/>
                    <a:pt x="203" y="18"/>
                    <a:pt x="223" y="28"/>
                  </a:cubicBezTo>
                  <a:cubicBezTo>
                    <a:pt x="224" y="29"/>
                    <a:pt x="225" y="29"/>
                    <a:pt x="226" y="29"/>
                  </a:cubicBezTo>
                  <a:cubicBezTo>
                    <a:pt x="228" y="29"/>
                    <a:pt x="230" y="28"/>
                    <a:pt x="231" y="26"/>
                  </a:cubicBezTo>
                  <a:cubicBezTo>
                    <a:pt x="233" y="23"/>
                    <a:pt x="232" y="19"/>
                    <a:pt x="229" y="18"/>
                  </a:cubicBezTo>
                  <a:cubicBezTo>
                    <a:pt x="207" y="6"/>
                    <a:pt x="183" y="0"/>
                    <a:pt x="157" y="0"/>
                  </a:cubicBezTo>
                  <a:cubicBezTo>
                    <a:pt x="133" y="0"/>
                    <a:pt x="110" y="6"/>
                    <a:pt x="89" y="15"/>
                  </a:cubicBezTo>
                  <a:cubicBezTo>
                    <a:pt x="86" y="17"/>
                    <a:pt x="85" y="20"/>
                    <a:pt x="86" y="23"/>
                  </a:cubicBezTo>
                  <a:cubicBezTo>
                    <a:pt x="88" y="26"/>
                    <a:pt x="91" y="28"/>
                    <a:pt x="94" y="26"/>
                  </a:cubicBezTo>
                  <a:close/>
                  <a:moveTo>
                    <a:pt x="281" y="251"/>
                  </a:moveTo>
                  <a:cubicBezTo>
                    <a:pt x="301" y="225"/>
                    <a:pt x="313" y="192"/>
                    <a:pt x="313" y="156"/>
                  </a:cubicBezTo>
                  <a:cubicBezTo>
                    <a:pt x="313" y="121"/>
                    <a:pt x="301" y="89"/>
                    <a:pt x="281" y="62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5" y="49"/>
                    <a:pt x="296" y="45"/>
                    <a:pt x="296" y="42"/>
                  </a:cubicBezTo>
                  <a:cubicBezTo>
                    <a:pt x="296" y="38"/>
                    <a:pt x="295" y="35"/>
                    <a:pt x="292" y="32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79" y="18"/>
                    <a:pt x="275" y="17"/>
                    <a:pt x="272" y="17"/>
                  </a:cubicBezTo>
                  <a:cubicBezTo>
                    <a:pt x="268" y="17"/>
                    <a:pt x="265" y="18"/>
                    <a:pt x="262" y="21"/>
                  </a:cubicBezTo>
                  <a:cubicBezTo>
                    <a:pt x="251" y="32"/>
                    <a:pt x="251" y="32"/>
                    <a:pt x="251" y="32"/>
                  </a:cubicBezTo>
                  <a:cubicBezTo>
                    <a:pt x="249" y="30"/>
                    <a:pt x="247" y="29"/>
                    <a:pt x="245" y="27"/>
                  </a:cubicBezTo>
                  <a:cubicBezTo>
                    <a:pt x="243" y="26"/>
                    <a:pt x="239" y="26"/>
                    <a:pt x="237" y="28"/>
                  </a:cubicBezTo>
                  <a:cubicBezTo>
                    <a:pt x="191" y="75"/>
                    <a:pt x="191" y="75"/>
                    <a:pt x="191" y="75"/>
                  </a:cubicBezTo>
                  <a:cubicBezTo>
                    <a:pt x="180" y="71"/>
                    <a:pt x="169" y="68"/>
                    <a:pt x="157" y="68"/>
                  </a:cubicBezTo>
                  <a:cubicBezTo>
                    <a:pt x="146" y="68"/>
                    <a:pt x="135" y="70"/>
                    <a:pt x="125" y="74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6" y="25"/>
                    <a:pt x="73" y="24"/>
                    <a:pt x="71" y="26"/>
                  </a:cubicBezTo>
                  <a:cubicBezTo>
                    <a:pt x="68" y="28"/>
                    <a:pt x="65" y="30"/>
                    <a:pt x="63" y="31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1" y="19"/>
                    <a:pt x="47" y="18"/>
                    <a:pt x="43" y="18"/>
                  </a:cubicBezTo>
                  <a:cubicBezTo>
                    <a:pt x="40" y="18"/>
                    <a:pt x="36" y="19"/>
                    <a:pt x="34" y="22"/>
                  </a:cubicBezTo>
                  <a:cubicBezTo>
                    <a:pt x="23" y="32"/>
                    <a:pt x="23" y="32"/>
                    <a:pt x="23" y="32"/>
                  </a:cubicBezTo>
                  <a:cubicBezTo>
                    <a:pt x="20" y="35"/>
                    <a:pt x="18" y="39"/>
                    <a:pt x="18" y="42"/>
                  </a:cubicBezTo>
                  <a:cubicBezTo>
                    <a:pt x="18" y="46"/>
                    <a:pt x="20" y="49"/>
                    <a:pt x="22" y="5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1" y="63"/>
                    <a:pt x="30" y="65"/>
                    <a:pt x="29" y="67"/>
                  </a:cubicBezTo>
                  <a:cubicBezTo>
                    <a:pt x="27" y="69"/>
                    <a:pt x="27" y="72"/>
                    <a:pt x="29" y="74"/>
                  </a:cubicBezTo>
                  <a:cubicBezTo>
                    <a:pt x="76" y="121"/>
                    <a:pt x="76" y="121"/>
                    <a:pt x="76" y="121"/>
                  </a:cubicBezTo>
                  <a:cubicBezTo>
                    <a:pt x="71" y="132"/>
                    <a:pt x="68" y="144"/>
                    <a:pt x="68" y="156"/>
                  </a:cubicBezTo>
                  <a:cubicBezTo>
                    <a:pt x="68" y="169"/>
                    <a:pt x="71" y="180"/>
                    <a:pt x="75" y="191"/>
                  </a:cubicBezTo>
                  <a:cubicBezTo>
                    <a:pt x="29" y="237"/>
                    <a:pt x="29" y="237"/>
                    <a:pt x="29" y="237"/>
                  </a:cubicBezTo>
                  <a:cubicBezTo>
                    <a:pt x="26" y="239"/>
                    <a:pt x="26" y="243"/>
                    <a:pt x="28" y="245"/>
                  </a:cubicBezTo>
                  <a:cubicBezTo>
                    <a:pt x="29" y="247"/>
                    <a:pt x="30" y="249"/>
                    <a:pt x="32" y="251"/>
                  </a:cubicBezTo>
                  <a:cubicBezTo>
                    <a:pt x="22" y="260"/>
                    <a:pt x="22" y="260"/>
                    <a:pt x="22" y="260"/>
                  </a:cubicBezTo>
                  <a:cubicBezTo>
                    <a:pt x="19" y="263"/>
                    <a:pt x="18" y="267"/>
                    <a:pt x="18" y="270"/>
                  </a:cubicBezTo>
                  <a:cubicBezTo>
                    <a:pt x="18" y="274"/>
                    <a:pt x="19" y="277"/>
                    <a:pt x="22" y="280"/>
                  </a:cubicBezTo>
                  <a:cubicBezTo>
                    <a:pt x="32" y="291"/>
                    <a:pt x="32" y="291"/>
                    <a:pt x="32" y="291"/>
                  </a:cubicBezTo>
                  <a:cubicBezTo>
                    <a:pt x="35" y="294"/>
                    <a:pt x="39" y="295"/>
                    <a:pt x="43" y="295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6" y="295"/>
                    <a:pt x="50" y="294"/>
                    <a:pt x="52" y="291"/>
                  </a:cubicBezTo>
                  <a:cubicBezTo>
                    <a:pt x="62" y="281"/>
                    <a:pt x="62" y="281"/>
                    <a:pt x="62" y="281"/>
                  </a:cubicBezTo>
                  <a:cubicBezTo>
                    <a:pt x="89" y="301"/>
                    <a:pt x="121" y="313"/>
                    <a:pt x="157" y="313"/>
                  </a:cubicBezTo>
                  <a:cubicBezTo>
                    <a:pt x="189" y="313"/>
                    <a:pt x="219" y="303"/>
                    <a:pt x="244" y="286"/>
                  </a:cubicBezTo>
                  <a:cubicBezTo>
                    <a:pt x="245" y="286"/>
                    <a:pt x="246" y="285"/>
                    <a:pt x="247" y="284"/>
                  </a:cubicBezTo>
                  <a:cubicBezTo>
                    <a:pt x="247" y="284"/>
                    <a:pt x="247" y="284"/>
                    <a:pt x="247" y="284"/>
                  </a:cubicBezTo>
                  <a:cubicBezTo>
                    <a:pt x="248" y="283"/>
                    <a:pt x="249" y="283"/>
                    <a:pt x="250" y="282"/>
                  </a:cubicBezTo>
                  <a:cubicBezTo>
                    <a:pt x="260" y="292"/>
                    <a:pt x="260" y="292"/>
                    <a:pt x="260" y="292"/>
                  </a:cubicBezTo>
                  <a:cubicBezTo>
                    <a:pt x="263" y="295"/>
                    <a:pt x="267" y="296"/>
                    <a:pt x="270" y="296"/>
                  </a:cubicBezTo>
                  <a:cubicBezTo>
                    <a:pt x="270" y="296"/>
                    <a:pt x="270" y="296"/>
                    <a:pt x="270" y="296"/>
                  </a:cubicBezTo>
                  <a:cubicBezTo>
                    <a:pt x="274" y="296"/>
                    <a:pt x="277" y="295"/>
                    <a:pt x="280" y="292"/>
                  </a:cubicBezTo>
                  <a:cubicBezTo>
                    <a:pt x="291" y="282"/>
                    <a:pt x="291" y="282"/>
                    <a:pt x="291" y="282"/>
                  </a:cubicBezTo>
                  <a:cubicBezTo>
                    <a:pt x="294" y="279"/>
                    <a:pt x="295" y="275"/>
                    <a:pt x="295" y="272"/>
                  </a:cubicBezTo>
                  <a:cubicBezTo>
                    <a:pt x="295" y="268"/>
                    <a:pt x="294" y="265"/>
                    <a:pt x="291" y="262"/>
                  </a:cubicBezTo>
                  <a:lnTo>
                    <a:pt x="281" y="251"/>
                  </a:lnTo>
                  <a:close/>
                  <a:moveTo>
                    <a:pt x="301" y="156"/>
                  </a:moveTo>
                  <a:cubicBezTo>
                    <a:pt x="301" y="184"/>
                    <a:pt x="293" y="210"/>
                    <a:pt x="280" y="232"/>
                  </a:cubicBezTo>
                  <a:cubicBezTo>
                    <a:pt x="238" y="190"/>
                    <a:pt x="238" y="190"/>
                    <a:pt x="238" y="190"/>
                  </a:cubicBezTo>
                  <a:cubicBezTo>
                    <a:pt x="243" y="180"/>
                    <a:pt x="245" y="168"/>
                    <a:pt x="245" y="156"/>
                  </a:cubicBezTo>
                  <a:cubicBezTo>
                    <a:pt x="245" y="145"/>
                    <a:pt x="243" y="134"/>
                    <a:pt x="239" y="124"/>
                  </a:cubicBezTo>
                  <a:cubicBezTo>
                    <a:pt x="280" y="82"/>
                    <a:pt x="280" y="82"/>
                    <a:pt x="280" y="82"/>
                  </a:cubicBezTo>
                  <a:cubicBezTo>
                    <a:pt x="293" y="104"/>
                    <a:pt x="301" y="129"/>
                    <a:pt x="301" y="156"/>
                  </a:cubicBezTo>
                  <a:close/>
                  <a:moveTo>
                    <a:pt x="270" y="29"/>
                  </a:moveTo>
                  <a:cubicBezTo>
                    <a:pt x="271" y="29"/>
                    <a:pt x="271" y="29"/>
                    <a:pt x="272" y="29"/>
                  </a:cubicBezTo>
                  <a:cubicBezTo>
                    <a:pt x="272" y="29"/>
                    <a:pt x="273" y="29"/>
                    <a:pt x="273" y="29"/>
                  </a:cubicBezTo>
                  <a:cubicBezTo>
                    <a:pt x="284" y="40"/>
                    <a:pt x="284" y="40"/>
                    <a:pt x="284" y="40"/>
                  </a:cubicBezTo>
                  <a:cubicBezTo>
                    <a:pt x="284" y="41"/>
                    <a:pt x="284" y="41"/>
                    <a:pt x="284" y="42"/>
                  </a:cubicBezTo>
                  <a:cubicBezTo>
                    <a:pt x="284" y="42"/>
                    <a:pt x="284" y="43"/>
                    <a:pt x="284" y="43"/>
                  </a:cubicBezTo>
                  <a:cubicBezTo>
                    <a:pt x="274" y="53"/>
                    <a:pt x="274" y="53"/>
                    <a:pt x="274" y="53"/>
                  </a:cubicBezTo>
                  <a:cubicBezTo>
                    <a:pt x="270" y="48"/>
                    <a:pt x="265" y="44"/>
                    <a:pt x="260" y="39"/>
                  </a:cubicBezTo>
                  <a:lnTo>
                    <a:pt x="270" y="29"/>
                  </a:lnTo>
                  <a:close/>
                  <a:moveTo>
                    <a:pt x="242" y="40"/>
                  </a:moveTo>
                  <a:cubicBezTo>
                    <a:pt x="254" y="49"/>
                    <a:pt x="265" y="60"/>
                    <a:pt x="274" y="72"/>
                  </a:cubicBezTo>
                  <a:cubicBezTo>
                    <a:pt x="233" y="112"/>
                    <a:pt x="233" y="112"/>
                    <a:pt x="233" y="112"/>
                  </a:cubicBezTo>
                  <a:cubicBezTo>
                    <a:pt x="226" y="99"/>
                    <a:pt x="215" y="88"/>
                    <a:pt x="202" y="81"/>
                  </a:cubicBezTo>
                  <a:lnTo>
                    <a:pt x="242" y="40"/>
                  </a:lnTo>
                  <a:close/>
                  <a:moveTo>
                    <a:pt x="157" y="80"/>
                  </a:moveTo>
                  <a:cubicBezTo>
                    <a:pt x="199" y="80"/>
                    <a:pt x="233" y="114"/>
                    <a:pt x="233" y="156"/>
                  </a:cubicBezTo>
                  <a:cubicBezTo>
                    <a:pt x="233" y="199"/>
                    <a:pt x="199" y="233"/>
                    <a:pt x="157" y="233"/>
                  </a:cubicBezTo>
                  <a:cubicBezTo>
                    <a:pt x="115" y="233"/>
                    <a:pt x="80" y="199"/>
                    <a:pt x="80" y="156"/>
                  </a:cubicBezTo>
                  <a:cubicBezTo>
                    <a:pt x="80" y="145"/>
                    <a:pt x="83" y="134"/>
                    <a:pt x="87" y="124"/>
                  </a:cubicBezTo>
                  <a:cubicBezTo>
                    <a:pt x="88" y="124"/>
                    <a:pt x="88" y="124"/>
                    <a:pt x="88" y="124"/>
                  </a:cubicBezTo>
                  <a:cubicBezTo>
                    <a:pt x="89" y="123"/>
                    <a:pt x="89" y="122"/>
                    <a:pt x="90" y="120"/>
                  </a:cubicBezTo>
                  <a:cubicBezTo>
                    <a:pt x="102" y="96"/>
                    <a:pt x="128" y="80"/>
                    <a:pt x="157" y="80"/>
                  </a:cubicBezTo>
                  <a:close/>
                  <a:moveTo>
                    <a:pt x="31" y="44"/>
                  </a:moveTo>
                  <a:cubicBezTo>
                    <a:pt x="31" y="43"/>
                    <a:pt x="30" y="43"/>
                    <a:pt x="30" y="42"/>
                  </a:cubicBezTo>
                  <a:cubicBezTo>
                    <a:pt x="30" y="42"/>
                    <a:pt x="31" y="41"/>
                    <a:pt x="31" y="4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3" y="30"/>
                    <a:pt x="43" y="30"/>
                  </a:cubicBezTo>
                  <a:cubicBezTo>
                    <a:pt x="44" y="30"/>
                    <a:pt x="44" y="30"/>
                    <a:pt x="45" y="3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49" y="43"/>
                    <a:pt x="44" y="48"/>
                    <a:pt x="40" y="53"/>
                  </a:cubicBezTo>
                  <a:lnTo>
                    <a:pt x="31" y="44"/>
                  </a:lnTo>
                  <a:close/>
                  <a:moveTo>
                    <a:pt x="41" y="69"/>
                  </a:moveTo>
                  <a:cubicBezTo>
                    <a:pt x="50" y="58"/>
                    <a:pt x="61" y="47"/>
                    <a:pt x="73" y="39"/>
                  </a:cubicBezTo>
                  <a:cubicBezTo>
                    <a:pt x="114" y="79"/>
                    <a:pt x="114" y="79"/>
                    <a:pt x="114" y="79"/>
                  </a:cubicBezTo>
                  <a:cubicBezTo>
                    <a:pt x="101" y="87"/>
                    <a:pt x="90" y="97"/>
                    <a:pt x="82" y="110"/>
                  </a:cubicBezTo>
                  <a:lnTo>
                    <a:pt x="41" y="69"/>
                  </a:lnTo>
                  <a:close/>
                  <a:moveTo>
                    <a:pt x="44" y="283"/>
                  </a:moveTo>
                  <a:cubicBezTo>
                    <a:pt x="43" y="283"/>
                    <a:pt x="43" y="283"/>
                    <a:pt x="43" y="283"/>
                  </a:cubicBezTo>
                  <a:cubicBezTo>
                    <a:pt x="42" y="283"/>
                    <a:pt x="41" y="283"/>
                    <a:pt x="41" y="283"/>
                  </a:cubicBezTo>
                  <a:cubicBezTo>
                    <a:pt x="30" y="272"/>
                    <a:pt x="30" y="272"/>
                    <a:pt x="30" y="272"/>
                  </a:cubicBezTo>
                  <a:cubicBezTo>
                    <a:pt x="30" y="271"/>
                    <a:pt x="30" y="271"/>
                    <a:pt x="30" y="270"/>
                  </a:cubicBezTo>
                  <a:cubicBezTo>
                    <a:pt x="30" y="270"/>
                    <a:pt x="30" y="269"/>
                    <a:pt x="30" y="269"/>
                  </a:cubicBezTo>
                  <a:cubicBezTo>
                    <a:pt x="39" y="260"/>
                    <a:pt x="39" y="260"/>
                    <a:pt x="39" y="260"/>
                  </a:cubicBezTo>
                  <a:cubicBezTo>
                    <a:pt x="44" y="265"/>
                    <a:pt x="48" y="269"/>
                    <a:pt x="53" y="274"/>
                  </a:cubicBezTo>
                  <a:lnTo>
                    <a:pt x="44" y="283"/>
                  </a:lnTo>
                  <a:close/>
                  <a:moveTo>
                    <a:pt x="41" y="242"/>
                  </a:moveTo>
                  <a:cubicBezTo>
                    <a:pt x="81" y="202"/>
                    <a:pt x="81" y="202"/>
                    <a:pt x="81" y="202"/>
                  </a:cubicBezTo>
                  <a:cubicBezTo>
                    <a:pt x="89" y="215"/>
                    <a:pt x="99" y="225"/>
                    <a:pt x="112" y="233"/>
                  </a:cubicBezTo>
                  <a:cubicBezTo>
                    <a:pt x="72" y="273"/>
                    <a:pt x="72" y="273"/>
                    <a:pt x="72" y="273"/>
                  </a:cubicBezTo>
                  <a:cubicBezTo>
                    <a:pt x="60" y="264"/>
                    <a:pt x="49" y="254"/>
                    <a:pt x="41" y="242"/>
                  </a:cubicBezTo>
                  <a:close/>
                  <a:moveTo>
                    <a:pt x="157" y="301"/>
                  </a:moveTo>
                  <a:cubicBezTo>
                    <a:pt x="129" y="301"/>
                    <a:pt x="104" y="293"/>
                    <a:pt x="82" y="280"/>
                  </a:cubicBezTo>
                  <a:cubicBezTo>
                    <a:pt x="123" y="238"/>
                    <a:pt x="123" y="238"/>
                    <a:pt x="123" y="238"/>
                  </a:cubicBezTo>
                  <a:cubicBezTo>
                    <a:pt x="134" y="242"/>
                    <a:pt x="145" y="245"/>
                    <a:pt x="157" y="245"/>
                  </a:cubicBezTo>
                  <a:cubicBezTo>
                    <a:pt x="168" y="245"/>
                    <a:pt x="180" y="243"/>
                    <a:pt x="190" y="238"/>
                  </a:cubicBezTo>
                  <a:cubicBezTo>
                    <a:pt x="232" y="279"/>
                    <a:pt x="232" y="279"/>
                    <a:pt x="232" y="279"/>
                  </a:cubicBezTo>
                  <a:cubicBezTo>
                    <a:pt x="210" y="293"/>
                    <a:pt x="184" y="301"/>
                    <a:pt x="157" y="301"/>
                  </a:cubicBezTo>
                  <a:close/>
                  <a:moveTo>
                    <a:pt x="243" y="272"/>
                  </a:moveTo>
                  <a:cubicBezTo>
                    <a:pt x="201" y="233"/>
                    <a:pt x="201" y="233"/>
                    <a:pt x="201" y="233"/>
                  </a:cubicBezTo>
                  <a:cubicBezTo>
                    <a:pt x="214" y="225"/>
                    <a:pt x="225" y="214"/>
                    <a:pt x="233" y="201"/>
                  </a:cubicBezTo>
                  <a:cubicBezTo>
                    <a:pt x="273" y="242"/>
                    <a:pt x="273" y="242"/>
                    <a:pt x="273" y="242"/>
                  </a:cubicBezTo>
                  <a:cubicBezTo>
                    <a:pt x="269" y="248"/>
                    <a:pt x="264" y="253"/>
                    <a:pt x="259" y="259"/>
                  </a:cubicBezTo>
                  <a:cubicBezTo>
                    <a:pt x="254" y="264"/>
                    <a:pt x="248" y="268"/>
                    <a:pt x="243" y="272"/>
                  </a:cubicBezTo>
                  <a:close/>
                  <a:moveTo>
                    <a:pt x="283" y="273"/>
                  </a:moveTo>
                  <a:cubicBezTo>
                    <a:pt x="272" y="284"/>
                    <a:pt x="272" y="284"/>
                    <a:pt x="272" y="284"/>
                  </a:cubicBezTo>
                  <a:cubicBezTo>
                    <a:pt x="271" y="284"/>
                    <a:pt x="271" y="284"/>
                    <a:pt x="270" y="284"/>
                  </a:cubicBezTo>
                  <a:cubicBezTo>
                    <a:pt x="270" y="284"/>
                    <a:pt x="269" y="284"/>
                    <a:pt x="269" y="284"/>
                  </a:cubicBezTo>
                  <a:cubicBezTo>
                    <a:pt x="259" y="274"/>
                    <a:pt x="259" y="274"/>
                    <a:pt x="259" y="274"/>
                  </a:cubicBezTo>
                  <a:cubicBezTo>
                    <a:pt x="264" y="270"/>
                    <a:pt x="269" y="265"/>
                    <a:pt x="273" y="261"/>
                  </a:cubicBezTo>
                  <a:cubicBezTo>
                    <a:pt x="283" y="270"/>
                    <a:pt x="283" y="270"/>
                    <a:pt x="283" y="270"/>
                  </a:cubicBezTo>
                  <a:cubicBezTo>
                    <a:pt x="283" y="271"/>
                    <a:pt x="283" y="271"/>
                    <a:pt x="283" y="272"/>
                  </a:cubicBezTo>
                  <a:cubicBezTo>
                    <a:pt x="283" y="272"/>
                    <a:pt x="283" y="273"/>
                    <a:pt x="283" y="27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966969B-374E-44E3-1350-5D84A2F57D19}"/>
              </a:ext>
            </a:extLst>
          </p:cNvPr>
          <p:cNvSpPr/>
          <p:nvPr/>
        </p:nvSpPr>
        <p:spPr>
          <a:xfrm>
            <a:off x="6592825" y="824358"/>
            <a:ext cx="5599175" cy="6033642"/>
          </a:xfrm>
          <a:custGeom>
            <a:avLst/>
            <a:gdLst>
              <a:gd name="connsiteX0" fmla="*/ 0 w 5599175"/>
              <a:gd name="connsiteY0" fmla="*/ 6033643 h 6033642"/>
              <a:gd name="connsiteX1" fmla="*/ 5599176 w 5599175"/>
              <a:gd name="connsiteY1" fmla="*/ 6033643 h 6033642"/>
              <a:gd name="connsiteX2" fmla="*/ 5599176 w 5599175"/>
              <a:gd name="connsiteY2" fmla="*/ 3547237 h 6033642"/>
              <a:gd name="connsiteX3" fmla="*/ 3526155 w 5599175"/>
              <a:gd name="connsiteY3" fmla="*/ 0 h 6033642"/>
              <a:gd name="connsiteX4" fmla="*/ 0 w 5599175"/>
              <a:gd name="connsiteY4" fmla="*/ 6033643 h 603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9175" h="6033642">
                <a:moveTo>
                  <a:pt x="0" y="6033643"/>
                </a:moveTo>
                <a:lnTo>
                  <a:pt x="5599176" y="6033643"/>
                </a:lnTo>
                <a:lnTo>
                  <a:pt x="5599176" y="3547237"/>
                </a:lnTo>
                <a:lnTo>
                  <a:pt x="3526155" y="0"/>
                </a:lnTo>
                <a:lnTo>
                  <a:pt x="0" y="6033643"/>
                </a:lnTo>
                <a:close/>
              </a:path>
            </a:pathLst>
          </a:custGeom>
          <a:solidFill>
            <a:schemeClr val="tx1">
              <a:alpha val="66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8EC71C3-CC7A-2E17-D071-B48D4CC8C7DF}"/>
              </a:ext>
            </a:extLst>
          </p:cNvPr>
          <p:cNvSpPr/>
          <p:nvPr/>
        </p:nvSpPr>
        <p:spPr>
          <a:xfrm>
            <a:off x="6358447" y="0"/>
            <a:ext cx="4242371" cy="3629596"/>
          </a:xfrm>
          <a:custGeom>
            <a:avLst/>
            <a:gdLst>
              <a:gd name="connsiteX0" fmla="*/ 2121154 w 4242371"/>
              <a:gd name="connsiteY0" fmla="*/ 3629597 h 3629596"/>
              <a:gd name="connsiteX1" fmla="*/ 4242372 w 4242371"/>
              <a:gd name="connsiteY1" fmla="*/ 0 h 3629596"/>
              <a:gd name="connsiteX2" fmla="*/ 0 w 4242371"/>
              <a:gd name="connsiteY2" fmla="*/ 0 h 3629596"/>
              <a:gd name="connsiteX3" fmla="*/ 2121154 w 4242371"/>
              <a:gd name="connsiteY3" fmla="*/ 3629597 h 3629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2371" h="3629596">
                <a:moveTo>
                  <a:pt x="2121154" y="3629597"/>
                </a:moveTo>
                <a:lnTo>
                  <a:pt x="4242372" y="0"/>
                </a:lnTo>
                <a:lnTo>
                  <a:pt x="0" y="0"/>
                </a:lnTo>
                <a:lnTo>
                  <a:pt x="2121154" y="3629597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AEF7CC40-6A10-D54C-8F7F-2143FFC0A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826" y="2592455"/>
            <a:ext cx="5078665" cy="426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83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" grpId="0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C5DD5A-EB2E-233C-AF6D-92297A017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4" y="979698"/>
            <a:ext cx="8037196" cy="553998"/>
          </a:xfrm>
        </p:spPr>
        <p:txBody>
          <a:bodyPr/>
          <a:lstStyle/>
          <a:p>
            <a:r>
              <a:rPr lang="es-ES_tradnl" noProof="1"/>
              <a:t>Metodología</a:t>
            </a:r>
            <a:endParaRPr lang="es-ES_tradnl" b="0" noProof="1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259958DF-77F4-10DC-F8D9-458C9906A6B3}"/>
              </a:ext>
            </a:extLst>
          </p:cNvPr>
          <p:cNvSpPr txBox="1"/>
          <p:nvPr/>
        </p:nvSpPr>
        <p:spPr>
          <a:xfrm>
            <a:off x="4813280" y="829356"/>
            <a:ext cx="6625708" cy="738664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just"/>
            <a:r>
              <a:rPr lang="es-ES_tradnl" noProof="1">
                <a:solidFill>
                  <a:schemeClr val="tx1"/>
                </a:solidFill>
              </a:rPr>
              <a:t>Se seleccionan y preprocesan variables de acceso energético, gasto y condición socioeconómica para agrupar hogares mediante clustering y caracterizar los perfiles de vulnerabilidad resultantes.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BF0E4DB-09E1-12DF-5EFF-22B4EA639085}"/>
              </a:ext>
            </a:extLst>
          </p:cNvPr>
          <p:cNvGrpSpPr/>
          <p:nvPr/>
        </p:nvGrpSpPr>
        <p:grpSpPr>
          <a:xfrm>
            <a:off x="695324" y="4029954"/>
            <a:ext cx="2685955" cy="2828046"/>
            <a:chOff x="695324" y="4029954"/>
            <a:chExt cx="2685955" cy="2828046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48BED7D-2FD0-C26F-7F6F-FE87AC4718ED}"/>
                </a:ext>
              </a:extLst>
            </p:cNvPr>
            <p:cNvSpPr/>
            <p:nvPr/>
          </p:nvSpPr>
          <p:spPr>
            <a:xfrm rot="10800000">
              <a:off x="695324" y="4029954"/>
              <a:ext cx="2685955" cy="2828046"/>
            </a:xfrm>
            <a:custGeom>
              <a:avLst/>
              <a:gdLst>
                <a:gd name="connsiteX0" fmla="*/ 2685955 w 2685955"/>
                <a:gd name="connsiteY0" fmla="*/ 2828046 h 2828046"/>
                <a:gd name="connsiteX1" fmla="*/ 994166 w 2685955"/>
                <a:gd name="connsiteY1" fmla="*/ 2828046 h 2828046"/>
                <a:gd name="connsiteX2" fmla="*/ 0 w 2685955"/>
                <a:gd name="connsiteY2" fmla="*/ 2828046 h 2828046"/>
                <a:gd name="connsiteX3" fmla="*/ 0 w 2685955"/>
                <a:gd name="connsiteY3" fmla="*/ 156 h 2828046"/>
                <a:gd name="connsiteX4" fmla="*/ 0 w 2685955"/>
                <a:gd name="connsiteY4" fmla="*/ 0 h 2828046"/>
                <a:gd name="connsiteX5" fmla="*/ 1691789 w 2685955"/>
                <a:gd name="connsiteY5" fmla="*/ 0 h 2828046"/>
                <a:gd name="connsiteX6" fmla="*/ 2685955 w 2685955"/>
                <a:gd name="connsiteY6" fmla="*/ 0 h 2828046"/>
                <a:gd name="connsiteX7" fmla="*/ 2685955 w 2685955"/>
                <a:gd name="connsiteY7" fmla="*/ 2827890 h 282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2828046">
                  <a:moveTo>
                    <a:pt x="2685955" y="2828046"/>
                  </a:moveTo>
                  <a:lnTo>
                    <a:pt x="994166" y="2828046"/>
                  </a:lnTo>
                  <a:lnTo>
                    <a:pt x="0" y="2828046"/>
                  </a:lnTo>
                  <a:lnTo>
                    <a:pt x="0" y="156"/>
                  </a:lnTo>
                  <a:lnTo>
                    <a:pt x="0" y="0"/>
                  </a:lnTo>
                  <a:lnTo>
                    <a:pt x="1691789" y="0"/>
                  </a:lnTo>
                  <a:lnTo>
                    <a:pt x="2685955" y="0"/>
                  </a:lnTo>
                  <a:lnTo>
                    <a:pt x="2685955" y="2827890"/>
                  </a:lnTo>
                  <a:close/>
                </a:path>
              </a:pathLst>
            </a:custGeom>
            <a:solidFill>
              <a:schemeClr val="bg1"/>
            </a:solidFill>
            <a:ln w="0" cap="flat">
              <a:noFill/>
              <a:prstDash val="solid"/>
              <a:miter/>
            </a:ln>
            <a:effectLst>
              <a:outerShdw blurRad="152400" sx="102000" sy="102000" algn="ctr" rotWithShape="0">
                <a:prstClr val="black">
                  <a:alpha val="5000"/>
                </a:prstClr>
              </a:outerShdw>
            </a:effectLst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A888853-BDBA-296E-954F-308CD02D4D35}"/>
                </a:ext>
              </a:extLst>
            </p:cNvPr>
            <p:cNvGrpSpPr/>
            <p:nvPr/>
          </p:nvGrpSpPr>
          <p:grpSpPr>
            <a:xfrm>
              <a:off x="900588" y="5077412"/>
              <a:ext cx="2275428" cy="1585058"/>
              <a:chOff x="1346851" y="2714370"/>
              <a:chExt cx="4554226" cy="1585058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CD8CD49-8DA7-3F14-08EC-A5CD5A1C07B8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1">
                    <a:latin typeface="Segoe UI" panose="020B0502040204020203" pitchFamily="34" charset="0"/>
                    <a:cs typeface="Segoe UI" panose="020B0502040204020203" pitchFamily="34" charset="0"/>
                  </a:rPr>
                  <a:t>Selección</a:t>
                </a:r>
                <a:endParaRPr lang="en-US" sz="20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D70F746-5458-4E86-9145-620BEBECB275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/>
                  <a:t>Identificar las variables de acceso energético, gasto energético y condición socioeconómica que entrarán al modelo.</a:t>
                </a:r>
                <a:r>
                  <a:rPr lang="en-US" sz="1400" dirty="0"/>
                  <a:t> 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F618E0E-3210-E853-58F4-1813BED9799D}"/>
              </a:ext>
            </a:extLst>
          </p:cNvPr>
          <p:cNvGrpSpPr/>
          <p:nvPr/>
        </p:nvGrpSpPr>
        <p:grpSpPr>
          <a:xfrm>
            <a:off x="3381435" y="3150023"/>
            <a:ext cx="2685955" cy="3707821"/>
            <a:chOff x="3381435" y="3150023"/>
            <a:chExt cx="2685955" cy="370782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1B9AF089-2530-1AC6-3537-09752BF280C1}"/>
                </a:ext>
              </a:extLst>
            </p:cNvPr>
            <p:cNvSpPr/>
            <p:nvPr/>
          </p:nvSpPr>
          <p:spPr>
            <a:xfrm rot="10800000">
              <a:off x="3381435" y="3150023"/>
              <a:ext cx="2685955" cy="3707821"/>
            </a:xfrm>
            <a:custGeom>
              <a:avLst/>
              <a:gdLst>
                <a:gd name="connsiteX0" fmla="*/ 2685955 w 2685955"/>
                <a:gd name="connsiteY0" fmla="*/ 3707821 h 3707821"/>
                <a:gd name="connsiteX1" fmla="*/ 0 w 2685955"/>
                <a:gd name="connsiteY1" fmla="*/ 3707821 h 3707821"/>
                <a:gd name="connsiteX2" fmla="*/ 0 w 2685955"/>
                <a:gd name="connsiteY2" fmla="*/ 3707820 h 3707821"/>
                <a:gd name="connsiteX3" fmla="*/ 0 w 2685955"/>
                <a:gd name="connsiteY3" fmla="*/ 1 h 3707821"/>
                <a:gd name="connsiteX4" fmla="*/ 0 w 2685955"/>
                <a:gd name="connsiteY4" fmla="*/ 0 h 3707821"/>
                <a:gd name="connsiteX5" fmla="*/ 2685955 w 2685955"/>
                <a:gd name="connsiteY5" fmla="*/ 0 h 3707821"/>
                <a:gd name="connsiteX6" fmla="*/ 2685955 w 2685955"/>
                <a:gd name="connsiteY6" fmla="*/ 1 h 3707821"/>
                <a:gd name="connsiteX7" fmla="*/ 2685955 w 2685955"/>
                <a:gd name="connsiteY7" fmla="*/ 3707820 h 3707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3707821">
                  <a:moveTo>
                    <a:pt x="2685955" y="3707821"/>
                  </a:moveTo>
                  <a:lnTo>
                    <a:pt x="0" y="3707821"/>
                  </a:lnTo>
                  <a:lnTo>
                    <a:pt x="0" y="3707820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370782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A742332-C270-0B88-788D-E88C84F4B095}"/>
                </a:ext>
              </a:extLst>
            </p:cNvPr>
            <p:cNvGrpSpPr/>
            <p:nvPr/>
          </p:nvGrpSpPr>
          <p:grpSpPr>
            <a:xfrm>
              <a:off x="3576208" y="4240732"/>
              <a:ext cx="2275428" cy="1369614"/>
              <a:chOff x="1346851" y="2714370"/>
              <a:chExt cx="4554226" cy="1369614"/>
            </a:xfrm>
          </p:grpSpPr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E75DA75-011F-C930-31A5-D820DEC91390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1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Procesamiento</a:t>
                </a:r>
                <a:endPara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7A3CB6-0733-EFCE-E9F6-A5E9A9327289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Tratar los valores perdidos, estandarizar las variables continuas y codificar las categóricas.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505FE84-62CE-300D-53D4-BC2F8D685FC1}"/>
              </a:ext>
            </a:extLst>
          </p:cNvPr>
          <p:cNvGrpSpPr/>
          <p:nvPr/>
        </p:nvGrpSpPr>
        <p:grpSpPr>
          <a:xfrm>
            <a:off x="6067077" y="3566905"/>
            <a:ext cx="2685956" cy="3290938"/>
            <a:chOff x="6067077" y="3566905"/>
            <a:chExt cx="2685956" cy="3290938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4AE4273-01FF-BF3D-3421-33C3C2946BB9}"/>
                </a:ext>
              </a:extLst>
            </p:cNvPr>
            <p:cNvSpPr/>
            <p:nvPr/>
          </p:nvSpPr>
          <p:spPr>
            <a:xfrm rot="10800000">
              <a:off x="6067077" y="3566905"/>
              <a:ext cx="2685956" cy="3290938"/>
            </a:xfrm>
            <a:custGeom>
              <a:avLst/>
              <a:gdLst>
                <a:gd name="connsiteX0" fmla="*/ 2685956 w 2685956"/>
                <a:gd name="connsiteY0" fmla="*/ 3290938 h 3290938"/>
                <a:gd name="connsiteX1" fmla="*/ 1 w 2685956"/>
                <a:gd name="connsiteY1" fmla="*/ 3290938 h 3290938"/>
                <a:gd name="connsiteX2" fmla="*/ 1 w 2685956"/>
                <a:gd name="connsiteY2" fmla="*/ 3290937 h 3290938"/>
                <a:gd name="connsiteX3" fmla="*/ 0 w 2685956"/>
                <a:gd name="connsiteY3" fmla="*/ 3290937 h 3290938"/>
                <a:gd name="connsiteX4" fmla="*/ 0 w 2685956"/>
                <a:gd name="connsiteY4" fmla="*/ 0 h 3290938"/>
                <a:gd name="connsiteX5" fmla="*/ 2685955 w 2685956"/>
                <a:gd name="connsiteY5" fmla="*/ 0 h 3290938"/>
                <a:gd name="connsiteX6" fmla="*/ 2685955 w 2685956"/>
                <a:gd name="connsiteY6" fmla="*/ 1 h 3290938"/>
                <a:gd name="connsiteX7" fmla="*/ 2685956 w 2685956"/>
                <a:gd name="connsiteY7" fmla="*/ 1 h 329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6" h="3290938">
                  <a:moveTo>
                    <a:pt x="2685956" y="3290938"/>
                  </a:moveTo>
                  <a:lnTo>
                    <a:pt x="1" y="3290938"/>
                  </a:lnTo>
                  <a:lnTo>
                    <a:pt x="1" y="3290937"/>
                  </a:lnTo>
                  <a:lnTo>
                    <a:pt x="0" y="3290937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6" y="1"/>
                  </a:lnTo>
                  <a:close/>
                </a:path>
              </a:pathLst>
            </a:custGeom>
            <a:solidFill>
              <a:schemeClr val="accent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E8638E-C057-9ED9-625D-1C666187BC5F}"/>
                </a:ext>
              </a:extLst>
            </p:cNvPr>
            <p:cNvGrpSpPr/>
            <p:nvPr/>
          </p:nvGrpSpPr>
          <p:grpSpPr>
            <a:xfrm>
              <a:off x="6272341" y="4666439"/>
              <a:ext cx="2275428" cy="1369614"/>
              <a:chOff x="1346851" y="2714370"/>
              <a:chExt cx="4554226" cy="1369614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000CB69-F229-CA5E-A3EC-24031439D4E3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defRPr/>
                </a:pPr>
                <a:r>
                  <a:rPr lang="en-US" sz="20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Clustering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7DFD425-4D9E-ECF8-2F9F-08CB7E966A7B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861774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Aplicar el algoritmo K-prototypes o K-means para agrupar los hogares según similitud de perfiles.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6B89C6-4291-CF42-8EDE-EF1832BF498F}"/>
              </a:ext>
            </a:extLst>
          </p:cNvPr>
          <p:cNvGrpSpPr/>
          <p:nvPr/>
        </p:nvGrpSpPr>
        <p:grpSpPr>
          <a:xfrm>
            <a:off x="8753033" y="2626571"/>
            <a:ext cx="2685955" cy="4231272"/>
            <a:chOff x="8753033" y="2626571"/>
            <a:chExt cx="2685955" cy="423127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1E186A8-45BE-79A7-E865-519722B06B41}"/>
                </a:ext>
              </a:extLst>
            </p:cNvPr>
            <p:cNvSpPr/>
            <p:nvPr/>
          </p:nvSpPr>
          <p:spPr>
            <a:xfrm rot="10800000">
              <a:off x="8753033" y="2626571"/>
              <a:ext cx="2685955" cy="4231272"/>
            </a:xfrm>
            <a:custGeom>
              <a:avLst/>
              <a:gdLst>
                <a:gd name="connsiteX0" fmla="*/ 2685955 w 2685955"/>
                <a:gd name="connsiteY0" fmla="*/ 4231272 h 4231272"/>
                <a:gd name="connsiteX1" fmla="*/ 0 w 2685955"/>
                <a:gd name="connsiteY1" fmla="*/ 4231272 h 4231272"/>
                <a:gd name="connsiteX2" fmla="*/ 0 w 2685955"/>
                <a:gd name="connsiteY2" fmla="*/ 4231271 h 4231272"/>
                <a:gd name="connsiteX3" fmla="*/ 0 w 2685955"/>
                <a:gd name="connsiteY3" fmla="*/ 1 h 4231272"/>
                <a:gd name="connsiteX4" fmla="*/ 0 w 2685955"/>
                <a:gd name="connsiteY4" fmla="*/ 0 h 4231272"/>
                <a:gd name="connsiteX5" fmla="*/ 2685955 w 2685955"/>
                <a:gd name="connsiteY5" fmla="*/ 0 h 4231272"/>
                <a:gd name="connsiteX6" fmla="*/ 2685955 w 2685955"/>
                <a:gd name="connsiteY6" fmla="*/ 1 h 4231272"/>
                <a:gd name="connsiteX7" fmla="*/ 2685955 w 2685955"/>
                <a:gd name="connsiteY7" fmla="*/ 4231271 h 423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5955" h="4231272">
                  <a:moveTo>
                    <a:pt x="2685955" y="4231272"/>
                  </a:moveTo>
                  <a:lnTo>
                    <a:pt x="0" y="4231272"/>
                  </a:lnTo>
                  <a:lnTo>
                    <a:pt x="0" y="4231271"/>
                  </a:lnTo>
                  <a:lnTo>
                    <a:pt x="0" y="1"/>
                  </a:lnTo>
                  <a:lnTo>
                    <a:pt x="0" y="0"/>
                  </a:lnTo>
                  <a:lnTo>
                    <a:pt x="2685955" y="0"/>
                  </a:lnTo>
                  <a:lnTo>
                    <a:pt x="2685955" y="1"/>
                  </a:lnTo>
                  <a:lnTo>
                    <a:pt x="2685955" y="4231271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0D60E6A-0259-85F0-078C-C9D51A1E2012}"/>
                </a:ext>
              </a:extLst>
            </p:cNvPr>
            <p:cNvGrpSpPr/>
            <p:nvPr/>
          </p:nvGrpSpPr>
          <p:grpSpPr>
            <a:xfrm>
              <a:off x="8958296" y="3750394"/>
              <a:ext cx="2275428" cy="1585058"/>
              <a:chOff x="1346851" y="2714370"/>
              <a:chExt cx="4554226" cy="1585058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B4487F1-1C1D-1440-B0C2-4F704E0A57CB}"/>
                  </a:ext>
                </a:extLst>
              </p:cNvPr>
              <p:cNvSpPr txBox="1"/>
              <p:nvPr/>
            </p:nvSpPr>
            <p:spPr>
              <a:xfrm>
                <a:off x="1481060" y="2714370"/>
                <a:ext cx="428580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s-ES_tradnl" sz="2000" b="1" noProof="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Caracterización</a:t>
                </a:r>
                <a:endParaRPr lang="en-US" sz="20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CDD670D-4E7A-AE1C-E2FF-D1B044D4FF9F}"/>
                  </a:ext>
                </a:extLst>
              </p:cNvPr>
              <p:cNvSpPr txBox="1"/>
              <p:nvPr/>
            </p:nvSpPr>
            <p:spPr>
              <a:xfrm>
                <a:off x="1346851" y="3222210"/>
                <a:ext cx="4554226" cy="107721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>
                  <a:defRPr sz="1600">
                    <a:latin typeface="Segoe UI" panose="020B0502040204020203" pitchFamily="34" charset="0"/>
                    <a:cs typeface="Segoe UI" panose="020B0502040204020203" pitchFamily="34" charset="0"/>
                  </a:defRPr>
                </a:lvl1pPr>
              </a:lstStyle>
              <a:p>
                <a:pPr algn="ctr"/>
                <a:r>
                  <a:rPr lang="es-EC" sz="1400" dirty="0">
                    <a:solidFill>
                      <a:schemeClr val="bg1"/>
                    </a:solidFill>
                  </a:rPr>
                  <a:t>Describir cada clúster resultante y cruzarlo con los indicadores de pobreza existentes para identificar vulnerabilidades.</a:t>
                </a:r>
                <a:r>
                  <a:rPr lang="en-US" sz="1400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8B495A1-3E81-A8ED-BB68-02F65C2F29E3}"/>
              </a:ext>
            </a:extLst>
          </p:cNvPr>
          <p:cNvGrpSpPr/>
          <p:nvPr/>
        </p:nvGrpSpPr>
        <p:grpSpPr>
          <a:xfrm>
            <a:off x="4087927" y="2513382"/>
            <a:ext cx="1272971" cy="1272971"/>
            <a:chOff x="4087927" y="2513382"/>
            <a:chExt cx="1272971" cy="1272971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F7D0E02B-740F-79E8-B83B-A12F191308AA}"/>
                </a:ext>
              </a:extLst>
            </p:cNvPr>
            <p:cNvGrpSpPr/>
            <p:nvPr/>
          </p:nvGrpSpPr>
          <p:grpSpPr>
            <a:xfrm>
              <a:off x="4087927" y="2513382"/>
              <a:ext cx="1272971" cy="1272971"/>
              <a:chOff x="4087927" y="2513382"/>
              <a:chExt cx="1272971" cy="1272971"/>
            </a:xfrm>
          </p:grpSpPr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490D6878-18CD-AB72-4930-933933534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7927" y="2513382"/>
                <a:ext cx="1272971" cy="1272971"/>
              </a:xfrm>
              <a:prstGeom prst="ellipse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7CAB702E-1C26-D9B3-48D8-5B394B389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3389" y="2618844"/>
                <a:ext cx="1062047" cy="1062047"/>
              </a:xfrm>
              <a:prstGeom prst="ellipse">
                <a:avLst/>
              </a:prstGeom>
              <a:noFill/>
              <a:ln w="25400" cap="flat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EB2B5DD-21CA-C02D-C694-895E9FA272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4344" y="2932153"/>
              <a:ext cx="520136" cy="435429"/>
            </a:xfrm>
            <a:custGeom>
              <a:avLst/>
              <a:gdLst>
                <a:gd name="T0" fmla="*/ 116 w 175"/>
                <a:gd name="T1" fmla="*/ 23 h 146"/>
                <a:gd name="T2" fmla="*/ 59 w 175"/>
                <a:gd name="T3" fmla="*/ 18 h 146"/>
                <a:gd name="T4" fmla="*/ 41 w 175"/>
                <a:gd name="T5" fmla="*/ 57 h 146"/>
                <a:gd name="T6" fmla="*/ 51 w 175"/>
                <a:gd name="T7" fmla="*/ 72 h 146"/>
                <a:gd name="T8" fmla="*/ 67 w 175"/>
                <a:gd name="T9" fmla="*/ 64 h 146"/>
                <a:gd name="T10" fmla="*/ 75 w 175"/>
                <a:gd name="T11" fmla="*/ 51 h 146"/>
                <a:gd name="T12" fmla="*/ 129 w 175"/>
                <a:gd name="T13" fmla="*/ 96 h 146"/>
                <a:gd name="T14" fmla="*/ 122 w 175"/>
                <a:gd name="T15" fmla="*/ 102 h 146"/>
                <a:gd name="T16" fmla="*/ 106 w 175"/>
                <a:gd name="T17" fmla="*/ 91 h 146"/>
                <a:gd name="T18" fmla="*/ 117 w 175"/>
                <a:gd name="T19" fmla="*/ 107 h 146"/>
                <a:gd name="T20" fmla="*/ 111 w 175"/>
                <a:gd name="T21" fmla="*/ 114 h 146"/>
                <a:gd name="T22" fmla="*/ 95 w 175"/>
                <a:gd name="T23" fmla="*/ 103 h 146"/>
                <a:gd name="T24" fmla="*/ 106 w 175"/>
                <a:gd name="T25" fmla="*/ 119 h 146"/>
                <a:gd name="T26" fmla="*/ 99 w 175"/>
                <a:gd name="T27" fmla="*/ 125 h 146"/>
                <a:gd name="T28" fmla="*/ 83 w 175"/>
                <a:gd name="T29" fmla="*/ 114 h 146"/>
                <a:gd name="T30" fmla="*/ 94 w 175"/>
                <a:gd name="T31" fmla="*/ 131 h 146"/>
                <a:gd name="T32" fmla="*/ 88 w 175"/>
                <a:gd name="T33" fmla="*/ 137 h 146"/>
                <a:gd name="T34" fmla="*/ 73 w 175"/>
                <a:gd name="T35" fmla="*/ 114 h 146"/>
                <a:gd name="T36" fmla="*/ 61 w 175"/>
                <a:gd name="T37" fmla="*/ 102 h 146"/>
                <a:gd name="T38" fmla="*/ 50 w 175"/>
                <a:gd name="T39" fmla="*/ 91 h 146"/>
                <a:gd name="T40" fmla="*/ 38 w 175"/>
                <a:gd name="T41" fmla="*/ 79 h 146"/>
                <a:gd name="T42" fmla="*/ 6 w 175"/>
                <a:gd name="T43" fmla="*/ 56 h 146"/>
                <a:gd name="T44" fmla="*/ 1 w 175"/>
                <a:gd name="T45" fmla="*/ 61 h 146"/>
                <a:gd name="T46" fmla="*/ 16 w 175"/>
                <a:gd name="T47" fmla="*/ 89 h 146"/>
                <a:gd name="T48" fmla="*/ 28 w 175"/>
                <a:gd name="T49" fmla="*/ 101 h 146"/>
                <a:gd name="T50" fmla="*/ 39 w 175"/>
                <a:gd name="T51" fmla="*/ 112 h 146"/>
                <a:gd name="T52" fmla="*/ 51 w 175"/>
                <a:gd name="T53" fmla="*/ 124 h 146"/>
                <a:gd name="T54" fmla="*/ 62 w 175"/>
                <a:gd name="T55" fmla="*/ 136 h 146"/>
                <a:gd name="T56" fmla="*/ 83 w 175"/>
                <a:gd name="T57" fmla="*/ 142 h 146"/>
                <a:gd name="T58" fmla="*/ 102 w 175"/>
                <a:gd name="T59" fmla="*/ 134 h 146"/>
                <a:gd name="T60" fmla="*/ 114 w 175"/>
                <a:gd name="T61" fmla="*/ 122 h 146"/>
                <a:gd name="T62" fmla="*/ 125 w 175"/>
                <a:gd name="T63" fmla="*/ 110 h 146"/>
                <a:gd name="T64" fmla="*/ 134 w 175"/>
                <a:gd name="T65" fmla="*/ 91 h 146"/>
                <a:gd name="T66" fmla="*/ 151 w 175"/>
                <a:gd name="T67" fmla="*/ 62 h 146"/>
                <a:gd name="T68" fmla="*/ 118 w 175"/>
                <a:gd name="T69" fmla="*/ 24 h 146"/>
                <a:gd name="T70" fmla="*/ 143 w 175"/>
                <a:gd name="T71" fmla="*/ 2 h 146"/>
                <a:gd name="T72" fmla="*/ 123 w 175"/>
                <a:gd name="T73" fmla="*/ 13 h 146"/>
                <a:gd name="T74" fmla="*/ 152 w 175"/>
                <a:gd name="T75" fmla="*/ 52 h 146"/>
                <a:gd name="T76" fmla="*/ 173 w 175"/>
                <a:gd name="T77" fmla="*/ 42 h 146"/>
                <a:gd name="T78" fmla="*/ 157 w 175"/>
                <a:gd name="T79" fmla="*/ 47 h 146"/>
                <a:gd name="T80" fmla="*/ 157 w 175"/>
                <a:gd name="T81" fmla="*/ 35 h 146"/>
                <a:gd name="T82" fmla="*/ 157 w 175"/>
                <a:gd name="T83" fmla="*/ 4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75" h="146">
                  <a:moveTo>
                    <a:pt x="118" y="24"/>
                  </a:moveTo>
                  <a:cubicBezTo>
                    <a:pt x="118" y="23"/>
                    <a:pt x="117" y="23"/>
                    <a:pt x="116" y="23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70" y="8"/>
                    <a:pt x="61" y="15"/>
                    <a:pt x="59" y="18"/>
                  </a:cubicBezTo>
                  <a:cubicBezTo>
                    <a:pt x="57" y="19"/>
                    <a:pt x="56" y="21"/>
                    <a:pt x="56" y="22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0" y="59"/>
                    <a:pt x="40" y="61"/>
                    <a:pt x="42" y="64"/>
                  </a:cubicBezTo>
                  <a:cubicBezTo>
                    <a:pt x="44" y="68"/>
                    <a:pt x="47" y="71"/>
                    <a:pt x="51" y="72"/>
                  </a:cubicBezTo>
                  <a:cubicBezTo>
                    <a:pt x="56" y="73"/>
                    <a:pt x="61" y="71"/>
                    <a:pt x="64" y="67"/>
                  </a:cubicBezTo>
                  <a:cubicBezTo>
                    <a:pt x="65" y="66"/>
                    <a:pt x="66" y="65"/>
                    <a:pt x="67" y="64"/>
                  </a:cubicBezTo>
                  <a:cubicBezTo>
                    <a:pt x="72" y="55"/>
                    <a:pt x="72" y="55"/>
                    <a:pt x="72" y="55"/>
                  </a:cubicBezTo>
                  <a:cubicBezTo>
                    <a:pt x="72" y="54"/>
                    <a:pt x="74" y="52"/>
                    <a:pt x="75" y="51"/>
                  </a:cubicBezTo>
                  <a:cubicBezTo>
                    <a:pt x="79" y="47"/>
                    <a:pt x="81" y="49"/>
                    <a:pt x="82" y="49"/>
                  </a:cubicBezTo>
                  <a:cubicBezTo>
                    <a:pt x="90" y="57"/>
                    <a:pt x="129" y="96"/>
                    <a:pt x="129" y="96"/>
                  </a:cubicBezTo>
                  <a:cubicBezTo>
                    <a:pt x="130" y="97"/>
                    <a:pt x="130" y="100"/>
                    <a:pt x="128" y="102"/>
                  </a:cubicBezTo>
                  <a:cubicBezTo>
                    <a:pt x="126" y="103"/>
                    <a:pt x="124" y="104"/>
                    <a:pt x="122" y="102"/>
                  </a:cubicBezTo>
                  <a:cubicBezTo>
                    <a:pt x="111" y="91"/>
                    <a:pt x="111" y="91"/>
                    <a:pt x="111" y="91"/>
                  </a:cubicBezTo>
                  <a:cubicBezTo>
                    <a:pt x="110" y="90"/>
                    <a:pt x="108" y="90"/>
                    <a:pt x="106" y="91"/>
                  </a:cubicBezTo>
                  <a:cubicBezTo>
                    <a:pt x="105" y="93"/>
                    <a:pt x="105" y="95"/>
                    <a:pt x="106" y="96"/>
                  </a:cubicBezTo>
                  <a:cubicBezTo>
                    <a:pt x="117" y="107"/>
                    <a:pt x="117" y="107"/>
                    <a:pt x="117" y="107"/>
                  </a:cubicBezTo>
                  <a:cubicBezTo>
                    <a:pt x="119" y="109"/>
                    <a:pt x="118" y="111"/>
                    <a:pt x="117" y="113"/>
                  </a:cubicBezTo>
                  <a:cubicBezTo>
                    <a:pt x="115" y="115"/>
                    <a:pt x="112" y="115"/>
                    <a:pt x="111" y="114"/>
                  </a:cubicBezTo>
                  <a:cubicBezTo>
                    <a:pt x="100" y="103"/>
                    <a:pt x="100" y="103"/>
                    <a:pt x="100" y="103"/>
                  </a:cubicBezTo>
                  <a:cubicBezTo>
                    <a:pt x="98" y="101"/>
                    <a:pt x="96" y="101"/>
                    <a:pt x="95" y="103"/>
                  </a:cubicBezTo>
                  <a:cubicBezTo>
                    <a:pt x="93" y="104"/>
                    <a:pt x="93" y="107"/>
                    <a:pt x="95" y="108"/>
                  </a:cubicBezTo>
                  <a:cubicBezTo>
                    <a:pt x="106" y="119"/>
                    <a:pt x="106" y="119"/>
                    <a:pt x="106" y="119"/>
                  </a:cubicBezTo>
                  <a:cubicBezTo>
                    <a:pt x="107" y="120"/>
                    <a:pt x="107" y="123"/>
                    <a:pt x="105" y="125"/>
                  </a:cubicBezTo>
                  <a:cubicBezTo>
                    <a:pt x="103" y="127"/>
                    <a:pt x="101" y="127"/>
                    <a:pt x="99" y="125"/>
                  </a:cubicBezTo>
                  <a:cubicBezTo>
                    <a:pt x="88" y="114"/>
                    <a:pt x="88" y="114"/>
                    <a:pt x="88" y="114"/>
                  </a:cubicBezTo>
                  <a:cubicBezTo>
                    <a:pt x="87" y="113"/>
                    <a:pt x="85" y="113"/>
                    <a:pt x="83" y="114"/>
                  </a:cubicBezTo>
                  <a:cubicBezTo>
                    <a:pt x="82" y="116"/>
                    <a:pt x="82" y="118"/>
                    <a:pt x="83" y="120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6" y="132"/>
                    <a:pt x="95" y="135"/>
                    <a:pt x="93" y="136"/>
                  </a:cubicBezTo>
                  <a:cubicBezTo>
                    <a:pt x="92" y="138"/>
                    <a:pt x="89" y="138"/>
                    <a:pt x="88" y="137"/>
                  </a:cubicBezTo>
                  <a:cubicBezTo>
                    <a:pt x="74" y="124"/>
                    <a:pt x="74" y="124"/>
                    <a:pt x="74" y="124"/>
                  </a:cubicBezTo>
                  <a:cubicBezTo>
                    <a:pt x="76" y="121"/>
                    <a:pt x="76" y="116"/>
                    <a:pt x="73" y="114"/>
                  </a:cubicBezTo>
                  <a:cubicBezTo>
                    <a:pt x="70" y="110"/>
                    <a:pt x="65" y="110"/>
                    <a:pt x="62" y="113"/>
                  </a:cubicBezTo>
                  <a:cubicBezTo>
                    <a:pt x="65" y="110"/>
                    <a:pt x="65" y="105"/>
                    <a:pt x="61" y="102"/>
                  </a:cubicBezTo>
                  <a:cubicBezTo>
                    <a:pt x="58" y="99"/>
                    <a:pt x="53" y="99"/>
                    <a:pt x="50" y="101"/>
                  </a:cubicBezTo>
                  <a:cubicBezTo>
                    <a:pt x="53" y="99"/>
                    <a:pt x="53" y="94"/>
                    <a:pt x="50" y="91"/>
                  </a:cubicBezTo>
                  <a:cubicBezTo>
                    <a:pt x="47" y="87"/>
                    <a:pt x="42" y="87"/>
                    <a:pt x="39" y="90"/>
                  </a:cubicBezTo>
                  <a:cubicBezTo>
                    <a:pt x="42" y="87"/>
                    <a:pt x="41" y="82"/>
                    <a:pt x="38" y="79"/>
                  </a:cubicBezTo>
                  <a:cubicBezTo>
                    <a:pt x="35" y="76"/>
                    <a:pt x="31" y="76"/>
                    <a:pt x="28" y="78"/>
                  </a:cubicBezTo>
                  <a:cubicBezTo>
                    <a:pt x="6" y="56"/>
                    <a:pt x="6" y="56"/>
                    <a:pt x="6" y="56"/>
                  </a:cubicBezTo>
                  <a:cubicBezTo>
                    <a:pt x="5" y="55"/>
                    <a:pt x="3" y="55"/>
                    <a:pt x="1" y="56"/>
                  </a:cubicBezTo>
                  <a:cubicBezTo>
                    <a:pt x="0" y="58"/>
                    <a:pt x="0" y="60"/>
                    <a:pt x="1" y="61"/>
                  </a:cubicBezTo>
                  <a:cubicBezTo>
                    <a:pt x="23" y="83"/>
                    <a:pt x="23" y="83"/>
                    <a:pt x="23" y="83"/>
                  </a:cubicBezTo>
                  <a:cubicBezTo>
                    <a:pt x="16" y="89"/>
                    <a:pt x="16" y="89"/>
                    <a:pt x="16" y="89"/>
                  </a:cubicBezTo>
                  <a:cubicBezTo>
                    <a:pt x="14" y="92"/>
                    <a:pt x="14" y="97"/>
                    <a:pt x="17" y="100"/>
                  </a:cubicBezTo>
                  <a:cubicBezTo>
                    <a:pt x="20" y="103"/>
                    <a:pt x="25" y="104"/>
                    <a:pt x="28" y="101"/>
                  </a:cubicBezTo>
                  <a:cubicBezTo>
                    <a:pt x="25" y="104"/>
                    <a:pt x="25" y="109"/>
                    <a:pt x="29" y="112"/>
                  </a:cubicBezTo>
                  <a:cubicBezTo>
                    <a:pt x="32" y="115"/>
                    <a:pt x="37" y="115"/>
                    <a:pt x="39" y="112"/>
                  </a:cubicBezTo>
                  <a:cubicBezTo>
                    <a:pt x="37" y="115"/>
                    <a:pt x="37" y="120"/>
                    <a:pt x="40" y="123"/>
                  </a:cubicBezTo>
                  <a:cubicBezTo>
                    <a:pt x="43" y="127"/>
                    <a:pt x="48" y="127"/>
                    <a:pt x="51" y="124"/>
                  </a:cubicBezTo>
                  <a:cubicBezTo>
                    <a:pt x="48" y="127"/>
                    <a:pt x="48" y="132"/>
                    <a:pt x="52" y="135"/>
                  </a:cubicBezTo>
                  <a:cubicBezTo>
                    <a:pt x="55" y="138"/>
                    <a:pt x="60" y="138"/>
                    <a:pt x="62" y="136"/>
                  </a:cubicBezTo>
                  <a:cubicBezTo>
                    <a:pt x="69" y="129"/>
                    <a:pt x="69" y="129"/>
                    <a:pt x="69" y="129"/>
                  </a:cubicBezTo>
                  <a:cubicBezTo>
                    <a:pt x="83" y="142"/>
                    <a:pt x="83" y="142"/>
                    <a:pt x="83" y="142"/>
                  </a:cubicBezTo>
                  <a:cubicBezTo>
                    <a:pt x="87" y="146"/>
                    <a:pt x="94" y="146"/>
                    <a:pt x="99" y="141"/>
                  </a:cubicBezTo>
                  <a:cubicBezTo>
                    <a:pt x="101" y="139"/>
                    <a:pt x="102" y="136"/>
                    <a:pt x="102" y="134"/>
                  </a:cubicBezTo>
                  <a:cubicBezTo>
                    <a:pt x="105" y="133"/>
                    <a:pt x="108" y="132"/>
                    <a:pt x="110" y="130"/>
                  </a:cubicBezTo>
                  <a:cubicBezTo>
                    <a:pt x="112" y="128"/>
                    <a:pt x="114" y="125"/>
                    <a:pt x="114" y="122"/>
                  </a:cubicBezTo>
                  <a:cubicBezTo>
                    <a:pt x="117" y="122"/>
                    <a:pt x="119" y="121"/>
                    <a:pt x="122" y="118"/>
                  </a:cubicBezTo>
                  <a:cubicBezTo>
                    <a:pt x="124" y="116"/>
                    <a:pt x="125" y="113"/>
                    <a:pt x="125" y="110"/>
                  </a:cubicBezTo>
                  <a:cubicBezTo>
                    <a:pt x="128" y="110"/>
                    <a:pt x="131" y="109"/>
                    <a:pt x="133" y="107"/>
                  </a:cubicBezTo>
                  <a:cubicBezTo>
                    <a:pt x="138" y="102"/>
                    <a:pt x="138" y="95"/>
                    <a:pt x="134" y="91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51" y="62"/>
                    <a:pt x="151" y="62"/>
                    <a:pt x="151" y="62"/>
                  </a:cubicBezTo>
                  <a:cubicBezTo>
                    <a:pt x="153" y="61"/>
                    <a:pt x="153" y="58"/>
                    <a:pt x="151" y="57"/>
                  </a:cubicBezTo>
                  <a:lnTo>
                    <a:pt x="118" y="24"/>
                  </a:lnTo>
                  <a:close/>
                  <a:moveTo>
                    <a:pt x="173" y="32"/>
                  </a:moveTo>
                  <a:cubicBezTo>
                    <a:pt x="143" y="2"/>
                    <a:pt x="143" y="2"/>
                    <a:pt x="143" y="2"/>
                  </a:cubicBezTo>
                  <a:cubicBezTo>
                    <a:pt x="140" y="0"/>
                    <a:pt x="136" y="0"/>
                    <a:pt x="133" y="2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0" y="15"/>
                    <a:pt x="120" y="20"/>
                    <a:pt x="123" y="23"/>
                  </a:cubicBezTo>
                  <a:cubicBezTo>
                    <a:pt x="152" y="52"/>
                    <a:pt x="152" y="52"/>
                    <a:pt x="152" y="52"/>
                  </a:cubicBezTo>
                  <a:cubicBezTo>
                    <a:pt x="155" y="55"/>
                    <a:pt x="159" y="55"/>
                    <a:pt x="162" y="52"/>
                  </a:cubicBezTo>
                  <a:cubicBezTo>
                    <a:pt x="173" y="42"/>
                    <a:pt x="173" y="42"/>
                    <a:pt x="173" y="42"/>
                  </a:cubicBezTo>
                  <a:cubicBezTo>
                    <a:pt x="175" y="39"/>
                    <a:pt x="175" y="35"/>
                    <a:pt x="173" y="32"/>
                  </a:cubicBezTo>
                  <a:close/>
                  <a:moveTo>
                    <a:pt x="157" y="47"/>
                  </a:moveTo>
                  <a:cubicBezTo>
                    <a:pt x="154" y="47"/>
                    <a:pt x="151" y="44"/>
                    <a:pt x="151" y="41"/>
                  </a:cubicBezTo>
                  <a:cubicBezTo>
                    <a:pt x="151" y="37"/>
                    <a:pt x="154" y="35"/>
                    <a:pt x="157" y="35"/>
                  </a:cubicBezTo>
                  <a:cubicBezTo>
                    <a:pt x="160" y="35"/>
                    <a:pt x="163" y="37"/>
                    <a:pt x="163" y="41"/>
                  </a:cubicBezTo>
                  <a:cubicBezTo>
                    <a:pt x="163" y="44"/>
                    <a:pt x="160" y="47"/>
                    <a:pt x="157" y="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2434D79-85F1-A1C2-5BCE-C31F3AC7A8F6}"/>
              </a:ext>
            </a:extLst>
          </p:cNvPr>
          <p:cNvGrpSpPr/>
          <p:nvPr/>
        </p:nvGrpSpPr>
        <p:grpSpPr>
          <a:xfrm>
            <a:off x="6773570" y="2930418"/>
            <a:ext cx="1272971" cy="1272971"/>
            <a:chOff x="6773570" y="2930418"/>
            <a:chExt cx="1272971" cy="1272971"/>
          </a:xfrm>
        </p:grpSpPr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72951542-F861-9048-339B-5B0A32B8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570" y="293041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250939B6-CE1B-6684-E90B-661EB2241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9032" y="303588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E015678-704D-415B-C77A-45FE57FC1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01931" y="3258165"/>
              <a:ext cx="616249" cy="617477"/>
            </a:xfrm>
            <a:custGeom>
              <a:avLst/>
              <a:gdLst>
                <a:gd name="T0" fmla="*/ 106 w 251"/>
                <a:gd name="T1" fmla="*/ 60 h 251"/>
                <a:gd name="T2" fmla="*/ 79 w 251"/>
                <a:gd name="T3" fmla="*/ 75 h 251"/>
                <a:gd name="T4" fmla="*/ 78 w 251"/>
                <a:gd name="T5" fmla="*/ 81 h 251"/>
                <a:gd name="T6" fmla="*/ 81 w 251"/>
                <a:gd name="T7" fmla="*/ 82 h 251"/>
                <a:gd name="T8" fmla="*/ 84 w 251"/>
                <a:gd name="T9" fmla="*/ 81 h 251"/>
                <a:gd name="T10" fmla="*/ 108 w 251"/>
                <a:gd name="T11" fmla="*/ 68 h 251"/>
                <a:gd name="T12" fmla="*/ 110 w 251"/>
                <a:gd name="T13" fmla="*/ 63 h 251"/>
                <a:gd name="T14" fmla="*/ 106 w 251"/>
                <a:gd name="T15" fmla="*/ 60 h 251"/>
                <a:gd name="T16" fmla="*/ 71 w 251"/>
                <a:gd name="T17" fmla="*/ 91 h 251"/>
                <a:gd name="T18" fmla="*/ 66 w 251"/>
                <a:gd name="T19" fmla="*/ 92 h 251"/>
                <a:gd name="T20" fmla="*/ 62 w 251"/>
                <a:gd name="T21" fmla="*/ 101 h 251"/>
                <a:gd name="T22" fmla="*/ 64 w 251"/>
                <a:gd name="T23" fmla="*/ 106 h 251"/>
                <a:gd name="T24" fmla="*/ 65 w 251"/>
                <a:gd name="T25" fmla="*/ 107 h 251"/>
                <a:gd name="T26" fmla="*/ 69 w 251"/>
                <a:gd name="T27" fmla="*/ 104 h 251"/>
                <a:gd name="T28" fmla="*/ 72 w 251"/>
                <a:gd name="T29" fmla="*/ 96 h 251"/>
                <a:gd name="T30" fmla="*/ 71 w 251"/>
                <a:gd name="T31" fmla="*/ 91 h 251"/>
                <a:gd name="T32" fmla="*/ 243 w 251"/>
                <a:gd name="T33" fmla="*/ 119 h 251"/>
                <a:gd name="T34" fmla="*/ 221 w 251"/>
                <a:gd name="T35" fmla="*/ 119 h 251"/>
                <a:gd name="T36" fmla="*/ 137 w 251"/>
                <a:gd name="T37" fmla="*/ 29 h 251"/>
                <a:gd name="T38" fmla="*/ 137 w 251"/>
                <a:gd name="T39" fmla="*/ 8 h 251"/>
                <a:gd name="T40" fmla="*/ 129 w 251"/>
                <a:gd name="T41" fmla="*/ 0 h 251"/>
                <a:gd name="T42" fmla="*/ 121 w 251"/>
                <a:gd name="T43" fmla="*/ 8 h 251"/>
                <a:gd name="T44" fmla="*/ 121 w 251"/>
                <a:gd name="T45" fmla="*/ 29 h 251"/>
                <a:gd name="T46" fmla="*/ 32 w 251"/>
                <a:gd name="T47" fmla="*/ 119 h 251"/>
                <a:gd name="T48" fmla="*/ 8 w 251"/>
                <a:gd name="T49" fmla="*/ 119 h 251"/>
                <a:gd name="T50" fmla="*/ 0 w 251"/>
                <a:gd name="T51" fmla="*/ 127 h 251"/>
                <a:gd name="T52" fmla="*/ 8 w 251"/>
                <a:gd name="T53" fmla="*/ 135 h 251"/>
                <a:gd name="T54" fmla="*/ 33 w 251"/>
                <a:gd name="T55" fmla="*/ 135 h 251"/>
                <a:gd name="T56" fmla="*/ 121 w 251"/>
                <a:gd name="T57" fmla="*/ 217 h 251"/>
                <a:gd name="T58" fmla="*/ 121 w 251"/>
                <a:gd name="T59" fmla="*/ 243 h 251"/>
                <a:gd name="T60" fmla="*/ 129 w 251"/>
                <a:gd name="T61" fmla="*/ 251 h 251"/>
                <a:gd name="T62" fmla="*/ 137 w 251"/>
                <a:gd name="T63" fmla="*/ 243 h 251"/>
                <a:gd name="T64" fmla="*/ 137 w 251"/>
                <a:gd name="T65" fmla="*/ 217 h 251"/>
                <a:gd name="T66" fmla="*/ 220 w 251"/>
                <a:gd name="T67" fmla="*/ 135 h 251"/>
                <a:gd name="T68" fmla="*/ 243 w 251"/>
                <a:gd name="T69" fmla="*/ 135 h 251"/>
                <a:gd name="T70" fmla="*/ 251 w 251"/>
                <a:gd name="T71" fmla="*/ 127 h 251"/>
                <a:gd name="T72" fmla="*/ 243 w 251"/>
                <a:gd name="T73" fmla="*/ 119 h 251"/>
                <a:gd name="T74" fmla="*/ 189 w 251"/>
                <a:gd name="T75" fmla="*/ 135 h 251"/>
                <a:gd name="T76" fmla="*/ 205 w 251"/>
                <a:gd name="T77" fmla="*/ 135 h 251"/>
                <a:gd name="T78" fmla="*/ 137 w 251"/>
                <a:gd name="T79" fmla="*/ 202 h 251"/>
                <a:gd name="T80" fmla="*/ 137 w 251"/>
                <a:gd name="T81" fmla="*/ 189 h 251"/>
                <a:gd name="T82" fmla="*/ 129 w 251"/>
                <a:gd name="T83" fmla="*/ 181 h 251"/>
                <a:gd name="T84" fmla="*/ 121 w 251"/>
                <a:gd name="T85" fmla="*/ 189 h 251"/>
                <a:gd name="T86" fmla="*/ 121 w 251"/>
                <a:gd name="T87" fmla="*/ 202 h 251"/>
                <a:gd name="T88" fmla="*/ 48 w 251"/>
                <a:gd name="T89" fmla="*/ 135 h 251"/>
                <a:gd name="T90" fmla="*/ 62 w 251"/>
                <a:gd name="T91" fmla="*/ 135 h 251"/>
                <a:gd name="T92" fmla="*/ 69 w 251"/>
                <a:gd name="T93" fmla="*/ 127 h 251"/>
                <a:gd name="T94" fmla="*/ 62 w 251"/>
                <a:gd name="T95" fmla="*/ 119 h 251"/>
                <a:gd name="T96" fmla="*/ 48 w 251"/>
                <a:gd name="T97" fmla="*/ 119 h 251"/>
                <a:gd name="T98" fmla="*/ 121 w 251"/>
                <a:gd name="T99" fmla="*/ 44 h 251"/>
                <a:gd name="T100" fmla="*/ 121 w 251"/>
                <a:gd name="T101" fmla="*/ 62 h 251"/>
                <a:gd name="T102" fmla="*/ 129 w 251"/>
                <a:gd name="T103" fmla="*/ 69 h 251"/>
                <a:gd name="T104" fmla="*/ 137 w 251"/>
                <a:gd name="T105" fmla="*/ 62 h 251"/>
                <a:gd name="T106" fmla="*/ 137 w 251"/>
                <a:gd name="T107" fmla="*/ 45 h 251"/>
                <a:gd name="T108" fmla="*/ 206 w 251"/>
                <a:gd name="T109" fmla="*/ 119 h 251"/>
                <a:gd name="T110" fmla="*/ 189 w 251"/>
                <a:gd name="T111" fmla="*/ 119 h 251"/>
                <a:gd name="T112" fmla="*/ 181 w 251"/>
                <a:gd name="T113" fmla="*/ 127 h 251"/>
                <a:gd name="T114" fmla="*/ 189 w 251"/>
                <a:gd name="T115" fmla="*/ 135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1" h="251">
                  <a:moveTo>
                    <a:pt x="106" y="60"/>
                  </a:moveTo>
                  <a:cubicBezTo>
                    <a:pt x="96" y="63"/>
                    <a:pt x="86" y="68"/>
                    <a:pt x="79" y="75"/>
                  </a:cubicBezTo>
                  <a:cubicBezTo>
                    <a:pt x="77" y="77"/>
                    <a:pt x="77" y="79"/>
                    <a:pt x="78" y="81"/>
                  </a:cubicBezTo>
                  <a:cubicBezTo>
                    <a:pt x="79" y="82"/>
                    <a:pt x="80" y="82"/>
                    <a:pt x="81" y="82"/>
                  </a:cubicBezTo>
                  <a:cubicBezTo>
                    <a:pt x="82" y="82"/>
                    <a:pt x="83" y="82"/>
                    <a:pt x="84" y="81"/>
                  </a:cubicBezTo>
                  <a:cubicBezTo>
                    <a:pt x="91" y="75"/>
                    <a:pt x="99" y="70"/>
                    <a:pt x="108" y="68"/>
                  </a:cubicBezTo>
                  <a:cubicBezTo>
                    <a:pt x="110" y="67"/>
                    <a:pt x="111" y="65"/>
                    <a:pt x="110" y="63"/>
                  </a:cubicBezTo>
                  <a:cubicBezTo>
                    <a:pt x="110" y="61"/>
                    <a:pt x="108" y="60"/>
                    <a:pt x="106" y="60"/>
                  </a:cubicBezTo>
                  <a:close/>
                  <a:moveTo>
                    <a:pt x="71" y="91"/>
                  </a:moveTo>
                  <a:cubicBezTo>
                    <a:pt x="69" y="90"/>
                    <a:pt x="67" y="90"/>
                    <a:pt x="66" y="92"/>
                  </a:cubicBezTo>
                  <a:cubicBezTo>
                    <a:pt x="64" y="95"/>
                    <a:pt x="63" y="98"/>
                    <a:pt x="62" y="101"/>
                  </a:cubicBezTo>
                  <a:cubicBezTo>
                    <a:pt x="61" y="103"/>
                    <a:pt x="62" y="106"/>
                    <a:pt x="64" y="106"/>
                  </a:cubicBezTo>
                  <a:cubicBezTo>
                    <a:pt x="64" y="106"/>
                    <a:pt x="65" y="107"/>
                    <a:pt x="65" y="107"/>
                  </a:cubicBezTo>
                  <a:cubicBezTo>
                    <a:pt x="67" y="107"/>
                    <a:pt x="68" y="106"/>
                    <a:pt x="69" y="104"/>
                  </a:cubicBezTo>
                  <a:cubicBezTo>
                    <a:pt x="70" y="101"/>
                    <a:pt x="71" y="99"/>
                    <a:pt x="72" y="96"/>
                  </a:cubicBezTo>
                  <a:cubicBezTo>
                    <a:pt x="73" y="94"/>
                    <a:pt x="73" y="92"/>
                    <a:pt x="71" y="91"/>
                  </a:cubicBezTo>
                  <a:close/>
                  <a:moveTo>
                    <a:pt x="243" y="119"/>
                  </a:moveTo>
                  <a:cubicBezTo>
                    <a:pt x="221" y="119"/>
                    <a:pt x="221" y="119"/>
                    <a:pt x="221" y="119"/>
                  </a:cubicBezTo>
                  <a:cubicBezTo>
                    <a:pt x="219" y="72"/>
                    <a:pt x="183" y="34"/>
                    <a:pt x="137" y="29"/>
                  </a:cubicBezTo>
                  <a:cubicBezTo>
                    <a:pt x="137" y="8"/>
                    <a:pt x="137" y="8"/>
                    <a:pt x="137" y="8"/>
                  </a:cubicBezTo>
                  <a:cubicBezTo>
                    <a:pt x="137" y="3"/>
                    <a:pt x="133" y="0"/>
                    <a:pt x="129" y="0"/>
                  </a:cubicBezTo>
                  <a:cubicBezTo>
                    <a:pt x="125" y="0"/>
                    <a:pt x="121" y="3"/>
                    <a:pt x="121" y="8"/>
                  </a:cubicBezTo>
                  <a:cubicBezTo>
                    <a:pt x="121" y="29"/>
                    <a:pt x="121" y="29"/>
                    <a:pt x="121" y="29"/>
                  </a:cubicBezTo>
                  <a:cubicBezTo>
                    <a:pt x="73" y="32"/>
                    <a:pt x="34" y="71"/>
                    <a:pt x="32" y="119"/>
                  </a:cubicBezTo>
                  <a:cubicBezTo>
                    <a:pt x="8" y="119"/>
                    <a:pt x="8" y="119"/>
                    <a:pt x="8" y="119"/>
                  </a:cubicBezTo>
                  <a:cubicBezTo>
                    <a:pt x="3" y="119"/>
                    <a:pt x="0" y="123"/>
                    <a:pt x="0" y="127"/>
                  </a:cubicBezTo>
                  <a:cubicBezTo>
                    <a:pt x="0" y="131"/>
                    <a:pt x="3" y="135"/>
                    <a:pt x="8" y="135"/>
                  </a:cubicBezTo>
                  <a:cubicBezTo>
                    <a:pt x="33" y="135"/>
                    <a:pt x="33" y="135"/>
                    <a:pt x="33" y="135"/>
                  </a:cubicBezTo>
                  <a:cubicBezTo>
                    <a:pt x="38" y="180"/>
                    <a:pt x="75" y="215"/>
                    <a:pt x="121" y="217"/>
                  </a:cubicBezTo>
                  <a:cubicBezTo>
                    <a:pt x="121" y="243"/>
                    <a:pt x="121" y="243"/>
                    <a:pt x="121" y="243"/>
                  </a:cubicBezTo>
                  <a:cubicBezTo>
                    <a:pt x="121" y="247"/>
                    <a:pt x="125" y="251"/>
                    <a:pt x="129" y="251"/>
                  </a:cubicBezTo>
                  <a:cubicBezTo>
                    <a:pt x="133" y="251"/>
                    <a:pt x="137" y="247"/>
                    <a:pt x="137" y="243"/>
                  </a:cubicBezTo>
                  <a:cubicBezTo>
                    <a:pt x="137" y="217"/>
                    <a:pt x="137" y="217"/>
                    <a:pt x="137" y="217"/>
                  </a:cubicBezTo>
                  <a:cubicBezTo>
                    <a:pt x="180" y="213"/>
                    <a:pt x="215" y="178"/>
                    <a:pt x="220" y="135"/>
                  </a:cubicBezTo>
                  <a:cubicBezTo>
                    <a:pt x="243" y="135"/>
                    <a:pt x="243" y="135"/>
                    <a:pt x="243" y="135"/>
                  </a:cubicBezTo>
                  <a:cubicBezTo>
                    <a:pt x="247" y="135"/>
                    <a:pt x="251" y="131"/>
                    <a:pt x="251" y="127"/>
                  </a:cubicBezTo>
                  <a:cubicBezTo>
                    <a:pt x="251" y="123"/>
                    <a:pt x="247" y="119"/>
                    <a:pt x="243" y="119"/>
                  </a:cubicBezTo>
                  <a:close/>
                  <a:moveTo>
                    <a:pt x="189" y="135"/>
                  </a:moveTo>
                  <a:cubicBezTo>
                    <a:pt x="205" y="135"/>
                    <a:pt x="205" y="135"/>
                    <a:pt x="205" y="135"/>
                  </a:cubicBezTo>
                  <a:cubicBezTo>
                    <a:pt x="200" y="170"/>
                    <a:pt x="172" y="197"/>
                    <a:pt x="137" y="202"/>
                  </a:cubicBezTo>
                  <a:cubicBezTo>
                    <a:pt x="137" y="189"/>
                    <a:pt x="137" y="189"/>
                    <a:pt x="137" y="189"/>
                  </a:cubicBezTo>
                  <a:cubicBezTo>
                    <a:pt x="137" y="185"/>
                    <a:pt x="133" y="181"/>
                    <a:pt x="129" y="181"/>
                  </a:cubicBezTo>
                  <a:cubicBezTo>
                    <a:pt x="125" y="181"/>
                    <a:pt x="121" y="185"/>
                    <a:pt x="121" y="189"/>
                  </a:cubicBezTo>
                  <a:cubicBezTo>
                    <a:pt x="121" y="202"/>
                    <a:pt x="121" y="202"/>
                    <a:pt x="121" y="202"/>
                  </a:cubicBezTo>
                  <a:cubicBezTo>
                    <a:pt x="84" y="199"/>
                    <a:pt x="54" y="171"/>
                    <a:pt x="48" y="135"/>
                  </a:cubicBezTo>
                  <a:cubicBezTo>
                    <a:pt x="62" y="135"/>
                    <a:pt x="62" y="135"/>
                    <a:pt x="62" y="135"/>
                  </a:cubicBezTo>
                  <a:cubicBezTo>
                    <a:pt x="66" y="135"/>
                    <a:pt x="69" y="131"/>
                    <a:pt x="69" y="127"/>
                  </a:cubicBezTo>
                  <a:cubicBezTo>
                    <a:pt x="69" y="123"/>
                    <a:pt x="66" y="119"/>
                    <a:pt x="62" y="119"/>
                  </a:cubicBezTo>
                  <a:cubicBezTo>
                    <a:pt x="48" y="119"/>
                    <a:pt x="48" y="119"/>
                    <a:pt x="48" y="119"/>
                  </a:cubicBezTo>
                  <a:cubicBezTo>
                    <a:pt x="50" y="79"/>
                    <a:pt x="81" y="47"/>
                    <a:pt x="121" y="44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1" y="66"/>
                    <a:pt x="125" y="69"/>
                    <a:pt x="129" y="69"/>
                  </a:cubicBezTo>
                  <a:cubicBezTo>
                    <a:pt x="133" y="69"/>
                    <a:pt x="137" y="66"/>
                    <a:pt x="137" y="62"/>
                  </a:cubicBezTo>
                  <a:cubicBezTo>
                    <a:pt x="137" y="45"/>
                    <a:pt x="137" y="45"/>
                    <a:pt x="137" y="45"/>
                  </a:cubicBezTo>
                  <a:cubicBezTo>
                    <a:pt x="174" y="49"/>
                    <a:pt x="204" y="81"/>
                    <a:pt x="206" y="11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85" y="119"/>
                    <a:pt x="181" y="123"/>
                    <a:pt x="181" y="127"/>
                  </a:cubicBezTo>
                  <a:cubicBezTo>
                    <a:pt x="181" y="131"/>
                    <a:pt x="185" y="135"/>
                    <a:pt x="189" y="13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AD8EC64-81D4-30DA-B60B-2B3A599CEF8A}"/>
              </a:ext>
            </a:extLst>
          </p:cNvPr>
          <p:cNvGrpSpPr/>
          <p:nvPr/>
        </p:nvGrpSpPr>
        <p:grpSpPr>
          <a:xfrm>
            <a:off x="9459525" y="1990083"/>
            <a:ext cx="1272971" cy="1272971"/>
            <a:chOff x="9459525" y="1990083"/>
            <a:chExt cx="1272971" cy="1272971"/>
          </a:xfrm>
        </p:grpSpPr>
        <p:sp>
          <p:nvSpPr>
            <p:cNvPr id="15" name="Oval 7">
              <a:extLst>
                <a:ext uri="{FF2B5EF4-FFF2-40B4-BE49-F238E27FC236}">
                  <a16:creationId xmlns:a16="http://schemas.microsoft.com/office/drawing/2014/main" id="{2350276B-9DB2-024B-6B0F-517E84EB3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525" y="1990083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8">
              <a:extLst>
                <a:ext uri="{FF2B5EF4-FFF2-40B4-BE49-F238E27FC236}">
                  <a16:creationId xmlns:a16="http://schemas.microsoft.com/office/drawing/2014/main" id="{3CC2C142-3C2E-2656-A014-DDCF0BE39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4987" y="2095545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12F4C22B-2E33-68FF-F2C3-A228C29771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8057" y="2377024"/>
              <a:ext cx="415906" cy="499088"/>
            </a:xfrm>
            <a:custGeom>
              <a:avLst/>
              <a:gdLst>
                <a:gd name="T0" fmla="*/ 140 w 140"/>
                <a:gd name="T1" fmla="*/ 27 h 168"/>
                <a:gd name="T2" fmla="*/ 140 w 140"/>
                <a:gd name="T3" fmla="*/ 9 h 168"/>
                <a:gd name="T4" fmla="*/ 78 w 140"/>
                <a:gd name="T5" fmla="*/ 9 h 168"/>
                <a:gd name="T6" fmla="*/ 78 w 140"/>
                <a:gd name="T7" fmla="*/ 7 h 168"/>
                <a:gd name="T8" fmla="*/ 70 w 140"/>
                <a:gd name="T9" fmla="*/ 0 h 168"/>
                <a:gd name="T10" fmla="*/ 63 w 140"/>
                <a:gd name="T11" fmla="*/ 7 h 168"/>
                <a:gd name="T12" fmla="*/ 63 w 140"/>
                <a:gd name="T13" fmla="*/ 9 h 168"/>
                <a:gd name="T14" fmla="*/ 0 w 140"/>
                <a:gd name="T15" fmla="*/ 9 h 168"/>
                <a:gd name="T16" fmla="*/ 0 w 140"/>
                <a:gd name="T17" fmla="*/ 27 h 168"/>
                <a:gd name="T18" fmla="*/ 11 w 140"/>
                <a:gd name="T19" fmla="*/ 27 h 168"/>
                <a:gd name="T20" fmla="*/ 11 w 140"/>
                <a:gd name="T21" fmla="*/ 106 h 168"/>
                <a:gd name="T22" fmla="*/ 0 w 140"/>
                <a:gd name="T23" fmla="*/ 106 h 168"/>
                <a:gd name="T24" fmla="*/ 0 w 140"/>
                <a:gd name="T25" fmla="*/ 124 h 168"/>
                <a:gd name="T26" fmla="*/ 57 w 140"/>
                <a:gd name="T27" fmla="*/ 124 h 168"/>
                <a:gd name="T28" fmla="*/ 18 w 140"/>
                <a:gd name="T29" fmla="*/ 157 h 168"/>
                <a:gd name="T30" fmla="*/ 18 w 140"/>
                <a:gd name="T31" fmla="*/ 165 h 168"/>
                <a:gd name="T32" fmla="*/ 26 w 140"/>
                <a:gd name="T33" fmla="*/ 166 h 168"/>
                <a:gd name="T34" fmla="*/ 70 w 140"/>
                <a:gd name="T35" fmla="*/ 128 h 168"/>
                <a:gd name="T36" fmla="*/ 114 w 140"/>
                <a:gd name="T37" fmla="*/ 166 h 168"/>
                <a:gd name="T38" fmla="*/ 118 w 140"/>
                <a:gd name="T39" fmla="*/ 167 h 168"/>
                <a:gd name="T40" fmla="*/ 123 w 140"/>
                <a:gd name="T41" fmla="*/ 165 h 168"/>
                <a:gd name="T42" fmla="*/ 122 w 140"/>
                <a:gd name="T43" fmla="*/ 157 h 168"/>
                <a:gd name="T44" fmla="*/ 84 w 140"/>
                <a:gd name="T45" fmla="*/ 124 h 168"/>
                <a:gd name="T46" fmla="*/ 140 w 140"/>
                <a:gd name="T47" fmla="*/ 124 h 168"/>
                <a:gd name="T48" fmla="*/ 140 w 140"/>
                <a:gd name="T49" fmla="*/ 106 h 168"/>
                <a:gd name="T50" fmla="*/ 130 w 140"/>
                <a:gd name="T51" fmla="*/ 106 h 168"/>
                <a:gd name="T52" fmla="*/ 130 w 140"/>
                <a:gd name="T53" fmla="*/ 27 h 168"/>
                <a:gd name="T54" fmla="*/ 140 w 140"/>
                <a:gd name="T55" fmla="*/ 27 h 168"/>
                <a:gd name="T56" fmla="*/ 118 w 140"/>
                <a:gd name="T57" fmla="*/ 106 h 168"/>
                <a:gd name="T58" fmla="*/ 23 w 140"/>
                <a:gd name="T59" fmla="*/ 106 h 168"/>
                <a:gd name="T60" fmla="*/ 23 w 140"/>
                <a:gd name="T61" fmla="*/ 27 h 168"/>
                <a:gd name="T62" fmla="*/ 118 w 140"/>
                <a:gd name="T63" fmla="*/ 27 h 168"/>
                <a:gd name="T64" fmla="*/ 118 w 140"/>
                <a:gd name="T65" fmla="*/ 106 h 168"/>
                <a:gd name="T66" fmla="*/ 67 w 140"/>
                <a:gd name="T67" fmla="*/ 37 h 168"/>
                <a:gd name="T68" fmla="*/ 33 w 140"/>
                <a:gd name="T69" fmla="*/ 37 h 168"/>
                <a:gd name="T70" fmla="*/ 33 w 140"/>
                <a:gd name="T71" fmla="*/ 92 h 168"/>
                <a:gd name="T72" fmla="*/ 67 w 140"/>
                <a:gd name="T73" fmla="*/ 92 h 168"/>
                <a:gd name="T74" fmla="*/ 67 w 140"/>
                <a:gd name="T75" fmla="*/ 37 h 168"/>
                <a:gd name="T76" fmla="*/ 110 w 140"/>
                <a:gd name="T77" fmla="*/ 38 h 168"/>
                <a:gd name="T78" fmla="*/ 81 w 140"/>
                <a:gd name="T79" fmla="*/ 38 h 168"/>
                <a:gd name="T80" fmla="*/ 81 w 140"/>
                <a:gd name="T81" fmla="*/ 46 h 168"/>
                <a:gd name="T82" fmla="*/ 110 w 140"/>
                <a:gd name="T83" fmla="*/ 46 h 168"/>
                <a:gd name="T84" fmla="*/ 110 w 140"/>
                <a:gd name="T85" fmla="*/ 38 h 168"/>
                <a:gd name="T86" fmla="*/ 110 w 140"/>
                <a:gd name="T87" fmla="*/ 61 h 168"/>
                <a:gd name="T88" fmla="*/ 81 w 140"/>
                <a:gd name="T89" fmla="*/ 61 h 168"/>
                <a:gd name="T90" fmla="*/ 81 w 140"/>
                <a:gd name="T91" fmla="*/ 69 h 168"/>
                <a:gd name="T92" fmla="*/ 110 w 140"/>
                <a:gd name="T93" fmla="*/ 69 h 168"/>
                <a:gd name="T94" fmla="*/ 110 w 140"/>
                <a:gd name="T95" fmla="*/ 61 h 168"/>
                <a:gd name="T96" fmla="*/ 110 w 140"/>
                <a:gd name="T97" fmla="*/ 84 h 168"/>
                <a:gd name="T98" fmla="*/ 81 w 140"/>
                <a:gd name="T99" fmla="*/ 84 h 168"/>
                <a:gd name="T100" fmla="*/ 81 w 140"/>
                <a:gd name="T101" fmla="*/ 92 h 168"/>
                <a:gd name="T102" fmla="*/ 110 w 140"/>
                <a:gd name="T103" fmla="*/ 92 h 168"/>
                <a:gd name="T104" fmla="*/ 110 w 140"/>
                <a:gd name="T105" fmla="*/ 8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0" h="168">
                  <a:moveTo>
                    <a:pt x="140" y="27"/>
                  </a:moveTo>
                  <a:cubicBezTo>
                    <a:pt x="140" y="9"/>
                    <a:pt x="140" y="9"/>
                    <a:pt x="140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3"/>
                    <a:pt x="74" y="0"/>
                    <a:pt x="70" y="0"/>
                  </a:cubicBezTo>
                  <a:cubicBezTo>
                    <a:pt x="66" y="0"/>
                    <a:pt x="63" y="3"/>
                    <a:pt x="63" y="7"/>
                  </a:cubicBezTo>
                  <a:cubicBezTo>
                    <a:pt x="63" y="9"/>
                    <a:pt x="63" y="9"/>
                    <a:pt x="63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106"/>
                    <a:pt x="11" y="106"/>
                    <a:pt x="11" y="106"/>
                  </a:cubicBezTo>
                  <a:cubicBezTo>
                    <a:pt x="0" y="106"/>
                    <a:pt x="0" y="106"/>
                    <a:pt x="0" y="106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7" y="124"/>
                    <a:pt x="57" y="124"/>
                    <a:pt x="57" y="124"/>
                  </a:cubicBezTo>
                  <a:cubicBezTo>
                    <a:pt x="18" y="157"/>
                    <a:pt x="18" y="157"/>
                    <a:pt x="18" y="157"/>
                  </a:cubicBezTo>
                  <a:cubicBezTo>
                    <a:pt x="16" y="159"/>
                    <a:pt x="16" y="163"/>
                    <a:pt x="18" y="165"/>
                  </a:cubicBezTo>
                  <a:cubicBezTo>
                    <a:pt x="20" y="168"/>
                    <a:pt x="24" y="168"/>
                    <a:pt x="26" y="166"/>
                  </a:cubicBezTo>
                  <a:cubicBezTo>
                    <a:pt x="70" y="128"/>
                    <a:pt x="70" y="128"/>
                    <a:pt x="70" y="128"/>
                  </a:cubicBezTo>
                  <a:cubicBezTo>
                    <a:pt x="114" y="166"/>
                    <a:pt x="114" y="166"/>
                    <a:pt x="114" y="166"/>
                  </a:cubicBezTo>
                  <a:cubicBezTo>
                    <a:pt x="116" y="167"/>
                    <a:pt x="117" y="167"/>
                    <a:pt x="118" y="167"/>
                  </a:cubicBezTo>
                  <a:cubicBezTo>
                    <a:pt x="120" y="167"/>
                    <a:pt x="122" y="167"/>
                    <a:pt x="123" y="165"/>
                  </a:cubicBezTo>
                  <a:cubicBezTo>
                    <a:pt x="125" y="163"/>
                    <a:pt x="125" y="159"/>
                    <a:pt x="122" y="157"/>
                  </a:cubicBezTo>
                  <a:cubicBezTo>
                    <a:pt x="84" y="124"/>
                    <a:pt x="84" y="124"/>
                    <a:pt x="84" y="124"/>
                  </a:cubicBezTo>
                  <a:cubicBezTo>
                    <a:pt x="140" y="124"/>
                    <a:pt x="140" y="124"/>
                    <a:pt x="140" y="124"/>
                  </a:cubicBezTo>
                  <a:cubicBezTo>
                    <a:pt x="140" y="106"/>
                    <a:pt x="140" y="106"/>
                    <a:pt x="140" y="106"/>
                  </a:cubicBezTo>
                  <a:cubicBezTo>
                    <a:pt x="130" y="106"/>
                    <a:pt x="130" y="106"/>
                    <a:pt x="130" y="106"/>
                  </a:cubicBezTo>
                  <a:cubicBezTo>
                    <a:pt x="130" y="27"/>
                    <a:pt x="130" y="27"/>
                    <a:pt x="130" y="27"/>
                  </a:cubicBezTo>
                  <a:lnTo>
                    <a:pt x="140" y="27"/>
                  </a:lnTo>
                  <a:close/>
                  <a:moveTo>
                    <a:pt x="118" y="106"/>
                  </a:moveTo>
                  <a:cubicBezTo>
                    <a:pt x="23" y="106"/>
                    <a:pt x="23" y="106"/>
                    <a:pt x="23" y="106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118" y="27"/>
                    <a:pt x="118" y="27"/>
                    <a:pt x="118" y="27"/>
                  </a:cubicBezTo>
                  <a:lnTo>
                    <a:pt x="118" y="106"/>
                  </a:lnTo>
                  <a:close/>
                  <a:moveTo>
                    <a:pt x="67" y="37"/>
                  </a:moveTo>
                  <a:cubicBezTo>
                    <a:pt x="33" y="37"/>
                    <a:pt x="33" y="37"/>
                    <a:pt x="33" y="37"/>
                  </a:cubicBezTo>
                  <a:cubicBezTo>
                    <a:pt x="33" y="92"/>
                    <a:pt x="33" y="92"/>
                    <a:pt x="33" y="92"/>
                  </a:cubicBezTo>
                  <a:cubicBezTo>
                    <a:pt x="67" y="92"/>
                    <a:pt x="67" y="92"/>
                    <a:pt x="67" y="92"/>
                  </a:cubicBezTo>
                  <a:lnTo>
                    <a:pt x="67" y="37"/>
                  </a:lnTo>
                  <a:close/>
                  <a:moveTo>
                    <a:pt x="110" y="38"/>
                  </a:moveTo>
                  <a:cubicBezTo>
                    <a:pt x="81" y="38"/>
                    <a:pt x="81" y="38"/>
                    <a:pt x="81" y="38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110" y="46"/>
                    <a:pt x="110" y="46"/>
                    <a:pt x="110" y="46"/>
                  </a:cubicBezTo>
                  <a:lnTo>
                    <a:pt x="110" y="38"/>
                  </a:lnTo>
                  <a:close/>
                  <a:moveTo>
                    <a:pt x="110" y="61"/>
                  </a:moveTo>
                  <a:cubicBezTo>
                    <a:pt x="81" y="61"/>
                    <a:pt x="81" y="61"/>
                    <a:pt x="81" y="61"/>
                  </a:cubicBezTo>
                  <a:cubicBezTo>
                    <a:pt x="81" y="69"/>
                    <a:pt x="81" y="69"/>
                    <a:pt x="81" y="69"/>
                  </a:cubicBezTo>
                  <a:cubicBezTo>
                    <a:pt x="110" y="69"/>
                    <a:pt x="110" y="69"/>
                    <a:pt x="110" y="69"/>
                  </a:cubicBezTo>
                  <a:lnTo>
                    <a:pt x="110" y="61"/>
                  </a:lnTo>
                  <a:close/>
                  <a:moveTo>
                    <a:pt x="110" y="84"/>
                  </a:moveTo>
                  <a:cubicBezTo>
                    <a:pt x="81" y="84"/>
                    <a:pt x="81" y="84"/>
                    <a:pt x="81" y="84"/>
                  </a:cubicBezTo>
                  <a:cubicBezTo>
                    <a:pt x="81" y="92"/>
                    <a:pt x="81" y="92"/>
                    <a:pt x="81" y="92"/>
                  </a:cubicBezTo>
                  <a:cubicBezTo>
                    <a:pt x="110" y="92"/>
                    <a:pt x="110" y="92"/>
                    <a:pt x="110" y="92"/>
                  </a:cubicBezTo>
                  <a:lnTo>
                    <a:pt x="110" y="84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B25CF77-943A-DB6F-8841-A79799F12071}"/>
              </a:ext>
            </a:extLst>
          </p:cNvPr>
          <p:cNvGrpSpPr/>
          <p:nvPr/>
        </p:nvGrpSpPr>
        <p:grpSpPr>
          <a:xfrm>
            <a:off x="1401816" y="3393468"/>
            <a:ext cx="1272971" cy="1272971"/>
            <a:chOff x="1401816" y="3393468"/>
            <a:chExt cx="1272971" cy="1272971"/>
          </a:xfrm>
        </p:grpSpPr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C2915FD-00CD-4997-42DC-C798CB8B2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1816" y="3393468"/>
              <a:ext cx="1272971" cy="1272971"/>
            </a:xfrm>
            <a:prstGeom prst="ellipse">
              <a:avLst/>
            </a:prstGeom>
            <a:solidFill>
              <a:srgbClr val="F0F0F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8">
              <a:extLst>
                <a:ext uri="{FF2B5EF4-FFF2-40B4-BE49-F238E27FC236}">
                  <a16:creationId xmlns:a16="http://schemas.microsoft.com/office/drawing/2014/main" id="{9388C3CE-C4B6-29E1-F0D0-9A461B439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278" y="3498930"/>
              <a:ext cx="1062047" cy="1062047"/>
            </a:xfrm>
            <a:prstGeom prst="ellipse">
              <a:avLst/>
            </a:prstGeom>
            <a:noFill/>
            <a:ln w="25400" cap="flat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2A06137E-F098-A528-C42E-770C2F5B60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06582" y="3810859"/>
              <a:ext cx="463439" cy="438188"/>
            </a:xfrm>
            <a:custGeom>
              <a:avLst/>
              <a:gdLst>
                <a:gd name="T0" fmla="*/ 124 w 156"/>
                <a:gd name="T1" fmla="*/ 19 h 147"/>
                <a:gd name="T2" fmla="*/ 87 w 156"/>
                <a:gd name="T3" fmla="*/ 19 h 147"/>
                <a:gd name="T4" fmla="*/ 87 w 156"/>
                <a:gd name="T5" fmla="*/ 9 h 147"/>
                <a:gd name="T6" fmla="*/ 78 w 156"/>
                <a:gd name="T7" fmla="*/ 0 h 147"/>
                <a:gd name="T8" fmla="*/ 55 w 156"/>
                <a:gd name="T9" fmla="*/ 0 h 147"/>
                <a:gd name="T10" fmla="*/ 46 w 156"/>
                <a:gd name="T11" fmla="*/ 9 h 147"/>
                <a:gd name="T12" fmla="*/ 46 w 156"/>
                <a:gd name="T13" fmla="*/ 19 h 147"/>
                <a:gd name="T14" fmla="*/ 9 w 156"/>
                <a:gd name="T15" fmla="*/ 19 h 147"/>
                <a:gd name="T16" fmla="*/ 0 w 156"/>
                <a:gd name="T17" fmla="*/ 28 h 147"/>
                <a:gd name="T18" fmla="*/ 0 w 156"/>
                <a:gd name="T19" fmla="*/ 74 h 147"/>
                <a:gd name="T20" fmla="*/ 9 w 156"/>
                <a:gd name="T21" fmla="*/ 83 h 147"/>
                <a:gd name="T22" fmla="*/ 46 w 156"/>
                <a:gd name="T23" fmla="*/ 83 h 147"/>
                <a:gd name="T24" fmla="*/ 46 w 156"/>
                <a:gd name="T25" fmla="*/ 138 h 147"/>
                <a:gd name="T26" fmla="*/ 55 w 156"/>
                <a:gd name="T27" fmla="*/ 147 h 147"/>
                <a:gd name="T28" fmla="*/ 78 w 156"/>
                <a:gd name="T29" fmla="*/ 147 h 147"/>
                <a:gd name="T30" fmla="*/ 87 w 156"/>
                <a:gd name="T31" fmla="*/ 138 h 147"/>
                <a:gd name="T32" fmla="*/ 87 w 156"/>
                <a:gd name="T33" fmla="*/ 83 h 147"/>
                <a:gd name="T34" fmla="*/ 124 w 156"/>
                <a:gd name="T35" fmla="*/ 83 h 147"/>
                <a:gd name="T36" fmla="*/ 156 w 156"/>
                <a:gd name="T37" fmla="*/ 51 h 147"/>
                <a:gd name="T38" fmla="*/ 124 w 156"/>
                <a:gd name="T39" fmla="*/ 19 h 147"/>
                <a:gd name="T40" fmla="*/ 60 w 156"/>
                <a:gd name="T41" fmla="*/ 14 h 147"/>
                <a:gd name="T42" fmla="*/ 74 w 156"/>
                <a:gd name="T43" fmla="*/ 14 h 147"/>
                <a:gd name="T44" fmla="*/ 74 w 156"/>
                <a:gd name="T45" fmla="*/ 19 h 147"/>
                <a:gd name="T46" fmla="*/ 60 w 156"/>
                <a:gd name="T47" fmla="*/ 19 h 147"/>
                <a:gd name="T48" fmla="*/ 60 w 156"/>
                <a:gd name="T49" fmla="*/ 14 h 147"/>
                <a:gd name="T50" fmla="*/ 74 w 156"/>
                <a:gd name="T51" fmla="*/ 134 h 147"/>
                <a:gd name="T52" fmla="*/ 60 w 156"/>
                <a:gd name="T53" fmla="*/ 134 h 147"/>
                <a:gd name="T54" fmla="*/ 60 w 156"/>
                <a:gd name="T55" fmla="*/ 83 h 147"/>
                <a:gd name="T56" fmla="*/ 74 w 156"/>
                <a:gd name="T57" fmla="*/ 83 h 147"/>
                <a:gd name="T58" fmla="*/ 74 w 156"/>
                <a:gd name="T59" fmla="*/ 134 h 147"/>
                <a:gd name="T60" fmla="*/ 118 w 156"/>
                <a:gd name="T61" fmla="*/ 69 h 147"/>
                <a:gd name="T62" fmla="*/ 14 w 156"/>
                <a:gd name="T63" fmla="*/ 69 h 147"/>
                <a:gd name="T64" fmla="*/ 14 w 156"/>
                <a:gd name="T65" fmla="*/ 33 h 147"/>
                <a:gd name="T66" fmla="*/ 118 w 156"/>
                <a:gd name="T67" fmla="*/ 33 h 147"/>
                <a:gd name="T68" fmla="*/ 137 w 156"/>
                <a:gd name="T69" fmla="*/ 51 h 147"/>
                <a:gd name="T70" fmla="*/ 118 w 156"/>
                <a:gd name="T71" fmla="*/ 69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56" h="147">
                  <a:moveTo>
                    <a:pt x="124" y="19"/>
                  </a:moveTo>
                  <a:cubicBezTo>
                    <a:pt x="87" y="19"/>
                    <a:pt x="87" y="19"/>
                    <a:pt x="87" y="19"/>
                  </a:cubicBezTo>
                  <a:cubicBezTo>
                    <a:pt x="87" y="9"/>
                    <a:pt x="87" y="9"/>
                    <a:pt x="87" y="9"/>
                  </a:cubicBezTo>
                  <a:cubicBezTo>
                    <a:pt x="87" y="4"/>
                    <a:pt x="83" y="0"/>
                    <a:pt x="78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0" y="0"/>
                    <a:pt x="46" y="4"/>
                    <a:pt x="46" y="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4" y="19"/>
                    <a:pt x="0" y="23"/>
                    <a:pt x="0" y="28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9"/>
                    <a:pt x="4" y="83"/>
                    <a:pt x="9" y="83"/>
                  </a:cubicBezTo>
                  <a:cubicBezTo>
                    <a:pt x="46" y="83"/>
                    <a:pt x="46" y="83"/>
                    <a:pt x="46" y="83"/>
                  </a:cubicBezTo>
                  <a:cubicBezTo>
                    <a:pt x="46" y="138"/>
                    <a:pt x="46" y="138"/>
                    <a:pt x="46" y="138"/>
                  </a:cubicBezTo>
                  <a:cubicBezTo>
                    <a:pt x="46" y="143"/>
                    <a:pt x="50" y="147"/>
                    <a:pt x="55" y="147"/>
                  </a:cubicBezTo>
                  <a:cubicBezTo>
                    <a:pt x="78" y="147"/>
                    <a:pt x="78" y="147"/>
                    <a:pt x="78" y="147"/>
                  </a:cubicBezTo>
                  <a:cubicBezTo>
                    <a:pt x="83" y="147"/>
                    <a:pt x="87" y="143"/>
                    <a:pt x="87" y="138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124" y="83"/>
                    <a:pt x="124" y="83"/>
                    <a:pt x="124" y="83"/>
                  </a:cubicBezTo>
                  <a:cubicBezTo>
                    <a:pt x="156" y="51"/>
                    <a:pt x="156" y="51"/>
                    <a:pt x="156" y="51"/>
                  </a:cubicBezTo>
                  <a:lnTo>
                    <a:pt x="124" y="19"/>
                  </a:lnTo>
                  <a:close/>
                  <a:moveTo>
                    <a:pt x="60" y="14"/>
                  </a:moveTo>
                  <a:cubicBezTo>
                    <a:pt x="74" y="14"/>
                    <a:pt x="74" y="14"/>
                    <a:pt x="74" y="14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60" y="19"/>
                    <a:pt x="60" y="19"/>
                    <a:pt x="60" y="19"/>
                  </a:cubicBezTo>
                  <a:lnTo>
                    <a:pt x="60" y="14"/>
                  </a:lnTo>
                  <a:close/>
                  <a:moveTo>
                    <a:pt x="74" y="134"/>
                  </a:moveTo>
                  <a:cubicBezTo>
                    <a:pt x="60" y="134"/>
                    <a:pt x="60" y="134"/>
                    <a:pt x="60" y="134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74" y="83"/>
                    <a:pt x="74" y="83"/>
                    <a:pt x="74" y="83"/>
                  </a:cubicBezTo>
                  <a:lnTo>
                    <a:pt x="74" y="134"/>
                  </a:lnTo>
                  <a:close/>
                  <a:moveTo>
                    <a:pt x="118" y="69"/>
                  </a:moveTo>
                  <a:cubicBezTo>
                    <a:pt x="14" y="69"/>
                    <a:pt x="14" y="69"/>
                    <a:pt x="14" y="69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18" y="33"/>
                    <a:pt x="118" y="33"/>
                    <a:pt x="118" y="33"/>
                  </a:cubicBezTo>
                  <a:cubicBezTo>
                    <a:pt x="137" y="51"/>
                    <a:pt x="137" y="51"/>
                    <a:pt x="137" y="51"/>
                  </a:cubicBezTo>
                  <a:lnTo>
                    <a:pt x="118" y="6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638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333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20000" decel="8000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20000" decel="8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accel="20000" decel="80000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4" accel="20000" decel="8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C4EC0BB-CAE5-81FF-BDE6-E837C812F0E0}"/>
              </a:ext>
            </a:extLst>
          </p:cNvPr>
          <p:cNvSpPr txBox="1"/>
          <p:nvPr/>
        </p:nvSpPr>
        <p:spPr>
          <a:xfrm>
            <a:off x="1786672" y="3475032"/>
            <a:ext cx="4642110" cy="64633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S_tradnl" noProof="1">
                <a:latin typeface="Calibri" panose="020F0502020204030204" pitchFamily="34" charset="0"/>
                <a:ea typeface="Atyp Display Light" panose="00000400000000000000" pitchFamily="2" charset="0"/>
                <a:cs typeface="Calibri" panose="020F0502020204030204" pitchFamily="34" charset="0"/>
              </a:rPr>
              <a:t>¿Qué perfiles de vulnerabilidad energética no captura el MEPI en los hogares peruanos?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B1E370-0F72-B3B0-8D18-8A6253645765}"/>
              </a:ext>
            </a:extLst>
          </p:cNvPr>
          <p:cNvSpPr txBox="1"/>
          <p:nvPr/>
        </p:nvSpPr>
        <p:spPr>
          <a:xfrm>
            <a:off x="1780138" y="4271978"/>
            <a:ext cx="4642109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dirty="0"/>
              <a:t>¿En qué medida el gasto energético representa una carga desproporcionada para hogares que no son pobres monetariamente?</a:t>
            </a:r>
            <a:endParaRPr lang="en-US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5A7DB8-686D-20A8-A10C-CF1D94783C67}"/>
              </a:ext>
            </a:extLst>
          </p:cNvPr>
          <p:cNvSpPr txBox="1"/>
          <p:nvPr/>
        </p:nvSpPr>
        <p:spPr>
          <a:xfrm>
            <a:off x="1786672" y="5287641"/>
            <a:ext cx="4635575" cy="92333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spcBef>
                <a:spcPts val="1200"/>
              </a:spcBef>
            </a:pPr>
            <a:r>
              <a:rPr lang="es-EC" dirty="0"/>
              <a:t>¿Difieren los patrones de acceso y gasto energético entre hogares urbanos y rurales dentro de un mismo clúster?</a:t>
            </a:r>
            <a:endParaRPr lang="en-US" dirty="0">
              <a:latin typeface="Segoe UI" panose="020B0502040204020203" pitchFamily="34" charset="0"/>
              <a:ea typeface="Atyp Display Light" panose="00000400000000000000" pitchFamily="2" charset="0"/>
              <a:cs typeface="Segoe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8E40C6-FCCD-569A-D89C-4E12EFF413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9788" y="960438"/>
            <a:ext cx="5256212" cy="838200"/>
          </a:xfrm>
        </p:spPr>
        <p:txBody>
          <a:bodyPr/>
          <a:lstStyle/>
          <a:p>
            <a:r>
              <a:rPr lang="es-ES_tradnl" noProof="1"/>
              <a:t>Ideas a investigar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89A7F-BF8C-8CD2-ACE1-D474EF045A34}"/>
              </a:ext>
            </a:extLst>
          </p:cNvPr>
          <p:cNvGrpSpPr/>
          <p:nvPr/>
        </p:nvGrpSpPr>
        <p:grpSpPr>
          <a:xfrm>
            <a:off x="839788" y="1948357"/>
            <a:ext cx="5497950" cy="1114011"/>
            <a:chOff x="788630" y="1747871"/>
            <a:chExt cx="5497950" cy="1114011"/>
          </a:xfrm>
        </p:grpSpPr>
        <p:sp>
          <p:nvSpPr>
            <p:cNvPr id="9" name="Text Placeholder 8">
              <a:extLst>
                <a:ext uri="{FF2B5EF4-FFF2-40B4-BE49-F238E27FC236}">
                  <a16:creationId xmlns:a16="http://schemas.microsoft.com/office/drawing/2014/main" id="{6EF059C1-1F19-397B-18A4-4E4F0A128DB4}"/>
                </a:ext>
              </a:extLst>
            </p:cNvPr>
            <p:cNvSpPr txBox="1">
              <a:spLocks/>
            </p:cNvSpPr>
            <p:nvPr/>
          </p:nvSpPr>
          <p:spPr>
            <a:xfrm>
              <a:off x="788630" y="1747871"/>
              <a:ext cx="3384690" cy="276999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b="1" kern="1200">
                  <a:solidFill>
                    <a:schemeClr val="bg1"/>
                  </a:solidFill>
                  <a:latin typeface="Futura Lt BT" panose="020B0402020204020303" pitchFamily="34" charset="0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s-ES_tradnl" sz="1800" i="0" u="none" strike="noStrike" kern="1200" cap="none" spc="0" normalizeH="0" baseline="0" noProof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Perfiles de vulnerabilidad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755AD5C-8749-174C-C76C-CAAD328C56F3}"/>
                </a:ext>
              </a:extLst>
            </p:cNvPr>
            <p:cNvSpPr txBox="1"/>
            <p:nvPr/>
          </p:nvSpPr>
          <p:spPr>
            <a:xfrm>
              <a:off x="788630" y="2123218"/>
              <a:ext cx="5497950" cy="7386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defTabSz="457200"/>
              <a:r>
                <a:rPr lang="es-EC" sz="1600" dirty="0"/>
                <a:t>Identificar perfiles de vulnerabilidad no captados por el MEPI, con énfasis en la carga del gasto energético y las diferencias urbano-rurales.</a:t>
              </a:r>
              <a:endParaRPr lang="en-US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966C42D-8AC3-4CD0-E060-617513B1C013}"/>
              </a:ext>
            </a:extLst>
          </p:cNvPr>
          <p:cNvGrpSpPr/>
          <p:nvPr/>
        </p:nvGrpSpPr>
        <p:grpSpPr>
          <a:xfrm>
            <a:off x="823270" y="3431735"/>
            <a:ext cx="670250" cy="670250"/>
            <a:chOff x="823270" y="3431735"/>
            <a:chExt cx="670250" cy="67025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362566A-B86E-14E1-B915-E467CAEAD1A2}"/>
                </a:ext>
              </a:extLst>
            </p:cNvPr>
            <p:cNvSpPr/>
            <p:nvPr/>
          </p:nvSpPr>
          <p:spPr>
            <a:xfrm>
              <a:off x="823270" y="3431735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03A004-BCDF-A16D-6ADA-6E12D45B1C36}"/>
                </a:ext>
              </a:extLst>
            </p:cNvPr>
            <p:cNvSpPr/>
            <p:nvPr/>
          </p:nvSpPr>
          <p:spPr>
            <a:xfrm>
              <a:off x="874475" y="3482940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15" name="Graphic 14" descr="Family with girl con relleno sólido">
              <a:extLst>
                <a:ext uri="{FF2B5EF4-FFF2-40B4-BE49-F238E27FC236}">
                  <a16:creationId xmlns:a16="http://schemas.microsoft.com/office/drawing/2014/main" id="{3B66923B-8579-5CC9-6934-490FFBC052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24194" y="3632659"/>
              <a:ext cx="268403" cy="268403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1427DED-2330-A095-34A4-3A3C4FC7312C}"/>
              </a:ext>
            </a:extLst>
          </p:cNvPr>
          <p:cNvGrpSpPr/>
          <p:nvPr/>
        </p:nvGrpSpPr>
        <p:grpSpPr>
          <a:xfrm>
            <a:off x="823270" y="4422958"/>
            <a:ext cx="670250" cy="670250"/>
            <a:chOff x="823270" y="4422958"/>
            <a:chExt cx="670250" cy="67025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8059C31-2F11-6E25-D8B7-E087AC01C87F}"/>
                </a:ext>
              </a:extLst>
            </p:cNvPr>
            <p:cNvSpPr/>
            <p:nvPr/>
          </p:nvSpPr>
          <p:spPr>
            <a:xfrm>
              <a:off x="823270" y="4422958"/>
              <a:ext cx="670250" cy="670250"/>
            </a:xfrm>
            <a:prstGeom prst="ellipse">
              <a:avLst/>
            </a:prstGeom>
            <a:solidFill>
              <a:schemeClr val="accent1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92EDC09-9C14-81A5-A3DC-5C7FC40A24E5}"/>
                </a:ext>
              </a:extLst>
            </p:cNvPr>
            <p:cNvSpPr/>
            <p:nvPr/>
          </p:nvSpPr>
          <p:spPr>
            <a:xfrm>
              <a:off x="874475" y="4474163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0" name="Graphic 19" descr="Coins con relleno sólido">
              <a:extLst>
                <a:ext uri="{FF2B5EF4-FFF2-40B4-BE49-F238E27FC236}">
                  <a16:creationId xmlns:a16="http://schemas.microsoft.com/office/drawing/2014/main" id="{DF3345DE-E1F0-7CF0-5512-0BB4109F24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24194" y="4623882"/>
              <a:ext cx="268403" cy="268403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9A181D-CC78-053D-1C99-77CD5AACF199}"/>
              </a:ext>
            </a:extLst>
          </p:cNvPr>
          <p:cNvGrpSpPr/>
          <p:nvPr/>
        </p:nvGrpSpPr>
        <p:grpSpPr>
          <a:xfrm>
            <a:off x="823270" y="5414181"/>
            <a:ext cx="670250" cy="670250"/>
            <a:chOff x="823270" y="5414181"/>
            <a:chExt cx="670250" cy="6702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B786D7B-DDBF-122F-F077-75B1601AF039}"/>
                </a:ext>
              </a:extLst>
            </p:cNvPr>
            <p:cNvSpPr/>
            <p:nvPr/>
          </p:nvSpPr>
          <p:spPr>
            <a:xfrm>
              <a:off x="823270" y="5414181"/>
              <a:ext cx="670250" cy="670250"/>
            </a:xfrm>
            <a:prstGeom prst="ellipse">
              <a:avLst/>
            </a:prstGeom>
            <a:solidFill>
              <a:schemeClr val="accent2"/>
            </a:solidFill>
            <a:ln w="25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C15A239-43D5-1A5D-BABC-62859963D0E1}"/>
                </a:ext>
              </a:extLst>
            </p:cNvPr>
            <p:cNvSpPr/>
            <p:nvPr/>
          </p:nvSpPr>
          <p:spPr>
            <a:xfrm>
              <a:off x="874475" y="5465386"/>
              <a:ext cx="567840" cy="5678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>
                <a:solidFill>
                  <a:schemeClr val="tx1"/>
                </a:solidFill>
                <a:latin typeface="Segoe UI" panose="020B0502040204020203" pitchFamily="34" charset="0"/>
              </a:endParaRPr>
            </a:p>
          </p:txBody>
        </p:sp>
        <p:pic>
          <p:nvPicPr>
            <p:cNvPr id="25" name="Graphic 24" descr="Fuel con relleno sólido">
              <a:extLst>
                <a:ext uri="{FF2B5EF4-FFF2-40B4-BE49-F238E27FC236}">
                  <a16:creationId xmlns:a16="http://schemas.microsoft.com/office/drawing/2014/main" id="{85A9944C-FF7E-962E-E32B-D14127C83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24194" y="5615105"/>
              <a:ext cx="268403" cy="268403"/>
            </a:xfrm>
            <a:prstGeom prst="rect">
              <a:avLst/>
            </a:prstGeom>
          </p:spPr>
        </p:pic>
      </p:grp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4D0FA0EE-7067-AD02-7E07-8C00785CDA26}"/>
              </a:ext>
            </a:extLst>
          </p:cNvPr>
          <p:cNvSpPr/>
          <p:nvPr/>
        </p:nvSpPr>
        <p:spPr>
          <a:xfrm rot="10800000">
            <a:off x="8055979" y="-1"/>
            <a:ext cx="4136019" cy="5564640"/>
          </a:xfrm>
          <a:prstGeom prst="round1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Segoe UI" panose="020B0502040204020203" pitchFamily="34" charset="0"/>
            </a:endParaRPr>
          </a:p>
        </p:txBody>
      </p:sp>
      <p:pic>
        <p:nvPicPr>
          <p:cNvPr id="39" name="Picture Placeholder 38" descr="Wind turbines at dusk">
            <a:extLst>
              <a:ext uri="{FF2B5EF4-FFF2-40B4-BE49-F238E27FC236}">
                <a16:creationId xmlns:a16="http://schemas.microsoft.com/office/drawing/2014/main" id="{FAA796C9-62B4-78E5-A10A-1641298F9A6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9987" y="1293360"/>
            <a:ext cx="4687819" cy="5564640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03527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  <p:bldP spid="21" grpId="0"/>
      <p:bldP spid="7" grpId="0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28E19A6-AF52-91C5-48AD-6777DDA8799A}"/>
              </a:ext>
            </a:extLst>
          </p:cNvPr>
          <p:cNvSpPr txBox="1"/>
          <p:nvPr/>
        </p:nvSpPr>
        <p:spPr>
          <a:xfrm>
            <a:off x="4608786" y="2967335"/>
            <a:ext cx="2974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C" sz="5400" b="1" dirty="0">
                <a:solidFill>
                  <a:schemeClr val="bg1"/>
                </a:solidFill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815</Words>
  <Application>Microsoft Macintosh PowerPoint</Application>
  <PresentationFormat>Panorámica</PresentationFormat>
  <Paragraphs>120</Paragraphs>
  <Slides>10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Segoe UI</vt:lpstr>
      <vt:lpstr>Times New Roman</vt:lpstr>
      <vt:lpstr>Wingdings</vt:lpstr>
      <vt:lpstr>Tema de Office</vt:lpstr>
      <vt:lpstr>POBREZA ENERGÉTICA EN EL PERÚ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Pasiche Manrique</dc:creator>
  <cp:lastModifiedBy>Ximena Dávalos</cp:lastModifiedBy>
  <cp:revision>25</cp:revision>
  <dcterms:created xsi:type="dcterms:W3CDTF">2026-07-30T20:56:47Z</dcterms:created>
  <dcterms:modified xsi:type="dcterms:W3CDTF">2026-08-03T23:15:43Z</dcterms:modified>
</cp:coreProperties>
</file>