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6"/>
  </p:notesMasterIdLst>
  <p:sldIdLst>
    <p:sldId id="256" r:id="rId3"/>
    <p:sldId id="257" r:id="rId4"/>
    <p:sldId id="268" r:id="rId5"/>
    <p:sldId id="269" r:id="rId6"/>
    <p:sldId id="265" r:id="rId7"/>
    <p:sldId id="277" r:id="rId8"/>
    <p:sldId id="354" r:id="rId9"/>
    <p:sldId id="356" r:id="rId10"/>
    <p:sldId id="358" r:id="rId11"/>
    <p:sldId id="355" r:id="rId12"/>
    <p:sldId id="357" r:id="rId13"/>
    <p:sldId id="285" r:id="rId14"/>
    <p:sldId id="276" r:id="rId15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60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40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11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safely remove this slide. This slide</a:t>
            </a:r>
            <a:r>
              <a:rPr lang="en-US" baseline="0"/>
              <a:t> design was provided by SlideModel.com – You can download more templates, shapes and elements for PowerPoint from http://slidemodel.com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46254F-9338-4BA9-B7AC-A66622A3D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76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 dirty="0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408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3CD0A85-C9FC-4813-A5C3-202D820A2EEF}"/>
              </a:ext>
            </a:extLst>
          </p:cNvPr>
          <p:cNvSpPr/>
          <p:nvPr/>
        </p:nvSpPr>
        <p:spPr>
          <a:xfrm>
            <a:off x="1421825" y="1267083"/>
            <a:ext cx="3014778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400" b="1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4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D1A88D0-AED2-41B3-9F30-20442BC43D39}"/>
              </a:ext>
            </a:extLst>
          </p:cNvPr>
          <p:cNvSpPr/>
          <p:nvPr/>
        </p:nvSpPr>
        <p:spPr>
          <a:xfrm>
            <a:off x="7054452" y="1359396"/>
            <a:ext cx="4278582" cy="791381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¿Por qué es importante?</a:t>
            </a:r>
            <a:endParaRPr lang="es-PE" sz="2400" b="1" dirty="0">
              <a:solidFill>
                <a:schemeClr val="tx1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DCC1B24-F22B-426E-B64C-B8B5E254C052}"/>
              </a:ext>
            </a:extLst>
          </p:cNvPr>
          <p:cNvSpPr txBox="1"/>
          <p:nvPr/>
        </p:nvSpPr>
        <p:spPr>
          <a:xfrm>
            <a:off x="6804588" y="2579139"/>
            <a:ext cx="4778310" cy="401648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Constituye una medición novedosa en el contexto latinoamericano</a:t>
            </a:r>
          </a:p>
          <a:p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Visibiliza a una población que, en la actualidad, a pesar de sufrir privaciones, no es identificada de forma precisa.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Sirve de insumo base para el diseño de políticas públicas energéticas más eficientes.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Permite evaluar la efectividad de las políticas energéticas en el tiempo.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Fortalece la investigación y la literatura económico-energética.</a:t>
            </a:r>
            <a:endParaRPr lang="es-PE" sz="1700" dirty="0">
              <a:latin typeface="Times New Roman"/>
              <a:cs typeface="Times New Roman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6053AD61-B596-4081-BB3B-B9E679A9B9C2}"/>
              </a:ext>
            </a:extLst>
          </p:cNvPr>
          <p:cNvGrpSpPr/>
          <p:nvPr/>
        </p:nvGrpSpPr>
        <p:grpSpPr>
          <a:xfrm>
            <a:off x="-1" y="0"/>
            <a:ext cx="12192001" cy="1084521"/>
            <a:chOff x="-1" y="0"/>
            <a:chExt cx="12192001" cy="1084521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0BE25EA2-91D2-447D-A0D0-FF1E4F163AE7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8" name="Título 1">
              <a:extLst>
                <a:ext uri="{FF2B5EF4-FFF2-40B4-BE49-F238E27FC236}">
                  <a16:creationId xmlns:a16="http://schemas.microsoft.com/office/drawing/2014/main" id="{B6715AE7-72A6-46FC-88D6-8705CA33A2AE}"/>
                </a:ext>
              </a:extLst>
            </p:cNvPr>
            <p:cNvSpPr txBox="1">
              <a:spLocks/>
            </p:cNvSpPr>
            <p:nvPr/>
          </p:nvSpPr>
          <p:spPr>
            <a:xfrm>
              <a:off x="-1" y="83110"/>
              <a:ext cx="7556741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Marco teórico e importancia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D98F81BB-B360-4A0A-A2BD-51761ABF1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0AA42E9E-162A-4FAD-AFB6-6A49D4403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045CF476-A615-41B4-996B-401E58A9D759}"/>
              </a:ext>
            </a:extLst>
          </p:cNvPr>
          <p:cNvGrpSpPr/>
          <p:nvPr/>
        </p:nvGrpSpPr>
        <p:grpSpPr>
          <a:xfrm>
            <a:off x="289530" y="2459825"/>
            <a:ext cx="6007955" cy="2849716"/>
            <a:chOff x="180672" y="3030801"/>
            <a:chExt cx="6007955" cy="2849716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CE08C67-1DCD-4BBB-B666-737C8E5AA43D}"/>
                </a:ext>
              </a:extLst>
            </p:cNvPr>
            <p:cNvSpPr txBox="1"/>
            <p:nvPr/>
          </p:nvSpPr>
          <p:spPr>
            <a:xfrm>
              <a:off x="180672" y="3030801"/>
              <a:ext cx="2639684" cy="206210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“Privación del acceso a servicios modernos de energía, como el uso de combustibles limpios para cocinar como electricidad, gas licuado de petróleo o gas natural, además del acceso de energía eléctrica”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6FEAF700-04B3-45D3-980C-B5BEE3F7812B}"/>
                </a:ext>
              </a:extLst>
            </p:cNvPr>
            <p:cNvSpPr txBox="1"/>
            <p:nvPr/>
          </p:nvSpPr>
          <p:spPr>
            <a:xfrm>
              <a:off x="290659" y="5357297"/>
              <a:ext cx="2752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Nussbaumer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Bazilian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y Modi (2012) 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680F6255-20A2-420E-A879-16E9636B39AF}"/>
                </a:ext>
              </a:extLst>
            </p:cNvPr>
            <p:cNvSpPr txBox="1"/>
            <p:nvPr/>
          </p:nvSpPr>
          <p:spPr>
            <a:xfrm>
              <a:off x="3173849" y="3030801"/>
              <a:ext cx="3014778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“Forma de privación referida a la incapacidad de un hogar para acceder a servicios energéticos adecuados, como iluminación, calefacción, refrigeración, cocción y uso de electrodomésticos, de manera segura y asequible”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1AB2E342-2F01-4391-9FCA-F429DA3865D8}"/>
                </a:ext>
              </a:extLst>
            </p:cNvPr>
            <p:cNvSpPr txBox="1"/>
            <p:nvPr/>
          </p:nvSpPr>
          <p:spPr>
            <a:xfrm>
              <a:off x="3343691" y="5357297"/>
              <a:ext cx="27523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Boardman (1991)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8DFE65E7-759F-FB36-9B8A-60D7AEC9B30F}"/>
              </a:ext>
            </a:extLst>
          </p:cNvPr>
          <p:cNvGrpSpPr/>
          <p:nvPr/>
        </p:nvGrpSpPr>
        <p:grpSpPr>
          <a:xfrm>
            <a:off x="352720" y="5279230"/>
            <a:ext cx="4127973" cy="1316393"/>
            <a:chOff x="434224" y="1396524"/>
            <a:chExt cx="4127973" cy="1316393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74EBAE0C-3BB5-6A2F-B0A0-EFFC53E21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4224" y="1396524"/>
              <a:ext cx="1860744" cy="1142498"/>
            </a:xfrm>
            <a:prstGeom prst="rect">
              <a:avLst/>
            </a:prstGeom>
          </p:spPr>
        </p:pic>
        <p:sp>
          <p:nvSpPr>
            <p:cNvPr id="24" name="Rectángulo: esquinas redondeadas 11">
              <a:extLst>
                <a:ext uri="{FF2B5EF4-FFF2-40B4-BE49-F238E27FC236}">
                  <a16:creationId xmlns:a16="http://schemas.microsoft.com/office/drawing/2014/main" id="{71350739-18C6-C391-79B5-6D51EB021F1D}"/>
                </a:ext>
              </a:extLst>
            </p:cNvPr>
            <p:cNvSpPr/>
            <p:nvPr/>
          </p:nvSpPr>
          <p:spPr>
            <a:xfrm>
              <a:off x="2505909" y="1481925"/>
              <a:ext cx="2056288" cy="1230992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24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ENAHO</a:t>
              </a:r>
              <a:endPara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Encuesta Nacional de Hogares</a:t>
              </a:r>
              <a:endParaRPr lang="es-PE" sz="16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C769C7C-2CF0-F287-76DE-1E500BD96BB2}"/>
              </a:ext>
            </a:extLst>
          </p:cNvPr>
          <p:cNvSpPr txBox="1"/>
          <p:nvPr/>
        </p:nvSpPr>
        <p:spPr>
          <a:xfrm>
            <a:off x="4691634" y="5296629"/>
            <a:ext cx="205628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i="1" dirty="0">
                <a:latin typeface="Times New Roman"/>
                <a:cs typeface="Times New Roman"/>
              </a:rPr>
              <a:t>Institución encargada (1990) de encargada de dirigir los sistemas de estadística y datos del Perú.</a:t>
            </a:r>
            <a:endParaRPr lang="es-EC" sz="1600" dirty="0"/>
          </a:p>
        </p:txBody>
      </p:sp>
    </p:spTree>
    <p:extLst>
      <p:ext uri="{BB962C8B-B14F-4D97-AF65-F5344CB8AC3E}">
        <p14:creationId xmlns:p14="http://schemas.microsoft.com/office/powerpoint/2010/main" val="3106390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30643" y="1223020"/>
            <a:ext cx="11039393" cy="5443930"/>
            <a:chOff x="330643" y="1110829"/>
            <a:chExt cx="11039393" cy="5443930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414594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3" y="2014953"/>
              <a:ext cx="1371601" cy="343312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Situación actual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20827" y="1110829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08212" y="1594800"/>
              <a:ext cx="7332406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7962" y="3291840"/>
              <a:ext cx="9702656" cy="1696197"/>
              <a:chOff x="337962" y="3157013"/>
              <a:chExt cx="9702656" cy="1696197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7962" y="3715148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Cuestión a responder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EB4E1523-6335-476F-A8F5-BD3F8845CB7B}"/>
                  </a:ext>
                </a:extLst>
              </p:cNvPr>
              <p:cNvSpPr txBox="1"/>
              <p:nvPr/>
            </p:nvSpPr>
            <p:spPr>
              <a:xfrm>
                <a:off x="4047266" y="4244681"/>
                <a:ext cx="4654295" cy="369332"/>
              </a:xfrm>
              <a:prstGeom prst="rect">
                <a:avLst/>
              </a:prstGeom>
              <a:noFill/>
              <a:ln>
                <a:noFill/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b="1" dirty="0">
                    <a:latin typeface="Times New Roman"/>
                    <a:cs typeface="Times New Roman"/>
                  </a:rPr>
                  <a:t>Modelo de aprendizaje no supervisado</a:t>
                </a:r>
                <a:endParaRPr lang="es-PE" b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3235988"/>
                <a:ext cx="7332406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E7E8E380-7108-49C7-A744-00A32B3FFAFA}"/>
                </a:ext>
              </a:extLst>
            </p:cNvPr>
            <p:cNvSpPr txBox="1"/>
            <p:nvPr/>
          </p:nvSpPr>
          <p:spPr>
            <a:xfrm>
              <a:off x="2430591" y="5514542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Enfoque de </a:t>
              </a:r>
              <a:r>
                <a:rPr lang="es-ES" sz="1600" i="1" dirty="0" err="1">
                  <a:latin typeface="Times New Roman"/>
                  <a:cs typeface="Times New Roman"/>
                </a:rPr>
                <a:t>clustering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B13EE5D0-1870-43A6-9068-4D7538D6058F}"/>
                </a:ext>
              </a:extLst>
            </p:cNvPr>
            <p:cNvSpPr txBox="1"/>
            <p:nvPr/>
          </p:nvSpPr>
          <p:spPr>
            <a:xfrm>
              <a:off x="4402900" y="5514541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Explorar distintos niveles de k</a:t>
              </a:r>
              <a:endParaRPr lang="es-PE" sz="1600" dirty="0">
                <a:latin typeface="Times New Roman"/>
                <a:cs typeface="Times New Roman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1E018815-9607-4192-83A5-CDD2A027A398}"/>
                </a:ext>
              </a:extLst>
            </p:cNvPr>
            <p:cNvSpPr txBox="1"/>
            <p:nvPr/>
          </p:nvSpPr>
          <p:spPr>
            <a:xfrm>
              <a:off x="6416168" y="5514541"/>
              <a:ext cx="169310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200" dirty="0">
                  <a:latin typeface="Times New Roman"/>
                  <a:cs typeface="Times New Roman"/>
                </a:rPr>
                <a:t>Incorporación de variables de acceso, gasto, carga energética y condición socioeconómica</a:t>
              </a:r>
              <a:endParaRPr lang="es-PE" sz="1200" dirty="0">
                <a:latin typeface="Times New Roman"/>
                <a:cs typeface="Times New Roman"/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E1DFD5BE-D27B-4551-B025-13E7E407215F}"/>
                </a:ext>
              </a:extLst>
            </p:cNvPr>
            <p:cNvSpPr txBox="1"/>
            <p:nvPr/>
          </p:nvSpPr>
          <p:spPr>
            <a:xfrm>
              <a:off x="8347518" y="5514541"/>
              <a:ext cx="1693100" cy="73866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400" dirty="0">
                  <a:latin typeface="Times New Roman"/>
                  <a:cs typeface="Times New Roman"/>
                </a:rPr>
                <a:t>Algoritmo descubre agrupaciones naturales de hogares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3" y="55390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Valor agregado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61052803-7D2E-458B-9D27-C9E35FEB1A87}"/>
                </a:ext>
              </a:extLst>
            </p:cNvPr>
            <p:cNvCxnSpPr>
              <a:stCxn id="17" idx="2"/>
              <a:endCxn id="21" idx="0"/>
            </p:cNvCxnSpPr>
            <p:nvPr/>
          </p:nvCxnSpPr>
          <p:spPr>
            <a:xfrm flipH="1">
              <a:off x="3277141" y="4748840"/>
              <a:ext cx="3097273" cy="7657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de flecha 45">
              <a:extLst>
                <a:ext uri="{FF2B5EF4-FFF2-40B4-BE49-F238E27FC236}">
                  <a16:creationId xmlns:a16="http://schemas.microsoft.com/office/drawing/2014/main" id="{BA4DBA91-EF86-4CFB-901A-0F90546B2841}"/>
                </a:ext>
              </a:extLst>
            </p:cNvPr>
            <p:cNvCxnSpPr>
              <a:cxnSpLocks/>
              <a:stCxn id="17" idx="2"/>
              <a:endCxn id="22" idx="0"/>
            </p:cNvCxnSpPr>
            <p:nvPr/>
          </p:nvCxnSpPr>
          <p:spPr>
            <a:xfrm flipH="1">
              <a:off x="5249450" y="4748840"/>
              <a:ext cx="112496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de flecha 48">
              <a:extLst>
                <a:ext uri="{FF2B5EF4-FFF2-40B4-BE49-F238E27FC236}">
                  <a16:creationId xmlns:a16="http://schemas.microsoft.com/office/drawing/2014/main" id="{8F78FD4B-9EC8-4F83-B472-25432DA33D57}"/>
                </a:ext>
              </a:extLst>
            </p:cNvPr>
            <p:cNvCxnSpPr>
              <a:cxnSpLocks/>
              <a:stCxn id="17" idx="2"/>
              <a:endCxn id="23" idx="0"/>
            </p:cNvCxnSpPr>
            <p:nvPr/>
          </p:nvCxnSpPr>
          <p:spPr>
            <a:xfrm>
              <a:off x="6374414" y="4748840"/>
              <a:ext cx="88830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CBDC2F6E-3D09-45BE-8B64-5F6157410335}"/>
                </a:ext>
              </a:extLst>
            </p:cNvPr>
            <p:cNvCxnSpPr>
              <a:cxnSpLocks/>
              <a:stCxn id="17" idx="2"/>
              <a:endCxn id="24" idx="0"/>
            </p:cNvCxnSpPr>
            <p:nvPr/>
          </p:nvCxnSpPr>
          <p:spPr>
            <a:xfrm>
              <a:off x="6374414" y="4748840"/>
              <a:ext cx="281965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15D8A41-74C1-E59A-ED6F-41766D210C69}"/>
              </a:ext>
            </a:extLst>
          </p:cNvPr>
          <p:cNvSpPr/>
          <p:nvPr/>
        </p:nvSpPr>
        <p:spPr>
          <a:xfrm rot="16200000">
            <a:off x="6923505" y="1524000"/>
            <a:ext cx="6858000" cy="381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CEC734-E80F-BC59-2BA9-E1569DA34ED3}"/>
              </a:ext>
            </a:extLst>
          </p:cNvPr>
          <p:cNvSpPr/>
          <p:nvPr/>
        </p:nvSpPr>
        <p:spPr>
          <a:xfrm rot="16200000">
            <a:off x="7369082" y="1930154"/>
            <a:ext cx="2156847" cy="2274135"/>
          </a:xfrm>
          <a:prstGeom prst="roundRect">
            <a:avLst>
              <a:gd name="adj" fmla="val 960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/>
              <a:t>Heatmap de valores perdidos</a:t>
            </a:r>
          </a:p>
        </p:txBody>
      </p:sp>
      <p:pic>
        <p:nvPicPr>
          <p:cNvPr id="27" name="Picture Placeholder 26" descr="Woman using cell phone at digital data science display">
            <a:extLst>
              <a:ext uri="{FF2B5EF4-FFF2-40B4-BE49-F238E27FC236}">
                <a16:creationId xmlns:a16="http://schemas.microsoft.com/office/drawing/2014/main" id="{F093771A-4653-D8CA-C8F7-396DD1AE592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3468" y="1310317"/>
            <a:ext cx="4907960" cy="4407311"/>
          </a:xfrm>
        </p:spPr>
      </p:pic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635278" y="1390613"/>
            <a:ext cx="6675160" cy="646331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384385" y="983104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7" y="761981"/>
            <a:ext cx="503802" cy="50380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7" y="2161774"/>
            <a:ext cx="5891645" cy="4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1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0000" decel="40000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" grpId="0"/>
      <p:bldP spid="7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/>
          <a:lstStyle/>
          <a:p>
            <a:r>
              <a:rPr lang="es-ES_tradnl" noProof="1"/>
              <a:t>Metodología</a:t>
            </a:r>
            <a:endParaRPr lang="es-ES_tradnl" b="0" noProof="1"/>
          </a:p>
        </p:txBody>
      </p:sp>
      <p:sp>
        <p:nvSpPr>
          <p:cNvPr id="29" name="Rectangle 18">
            <a:extLst>
              <a:ext uri="{FF2B5EF4-FFF2-40B4-BE49-F238E27FC236}">
                <a16:creationId xmlns:a16="http://schemas.microsoft.com/office/drawing/2014/main" id="{259958DF-77F4-10DC-F8D9-458C9906A6B3}"/>
              </a:ext>
            </a:extLst>
          </p:cNvPr>
          <p:cNvSpPr txBox="1"/>
          <p:nvPr/>
        </p:nvSpPr>
        <p:spPr>
          <a:xfrm>
            <a:off x="4813280" y="829356"/>
            <a:ext cx="6625708" cy="738664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900588" y="5077412"/>
              <a:ext cx="2275428" cy="1585058"/>
              <a:chOff x="1346851" y="2714370"/>
              <a:chExt cx="4554226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Identificar las variables de acceso energético, gasto energético y condición socioeconómica que entrarán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369614"/>
              <a:chOff x="1346851" y="2714370"/>
              <a:chExt cx="4554226" cy="1369614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Tratar los valores perdidos, estandarizar las variables continuas y codificar las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Aplicar el algoritmo K-prototypes o K-means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727522" y="2237652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2072329" y="4297980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801025" y="3943743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952247" y="2235333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690745" y="2670745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970492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795764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5352053" y="888072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533465" y="88575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8095600" y="1093867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7455837" y="5002589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1613990" y="5002589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251877" y="276402"/>
            <a:ext cx="33640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</a:t>
            </a:r>
            <a:endParaRPr kumimoji="0" lang="es-ES_tradnl" sz="4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5456216" y="2679998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908762" y="1096186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2213025" y="3168231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6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14" name="Freeform: Shape 18">
            <a:extLst>
              <a:ext uri="{FF2B5EF4-FFF2-40B4-BE49-F238E27FC236}">
                <a16:creationId xmlns:a16="http://schemas.microsoft.com/office/drawing/2014/main" id="{C1B25A9F-3C9D-D052-3EDB-E56071580ED6}"/>
              </a:ext>
            </a:extLst>
          </p:cNvPr>
          <p:cNvSpPr/>
          <p:nvPr/>
        </p:nvSpPr>
        <p:spPr>
          <a:xfrm>
            <a:off x="-714365" y="965854"/>
            <a:ext cx="4242371" cy="3629596"/>
          </a:xfrm>
          <a:custGeom>
            <a:avLst/>
            <a:gdLst>
              <a:gd name="connsiteX0" fmla="*/ 2121154 w 4242371"/>
              <a:gd name="connsiteY0" fmla="*/ 3629597 h 3629596"/>
              <a:gd name="connsiteX1" fmla="*/ 4242372 w 4242371"/>
              <a:gd name="connsiteY1" fmla="*/ 0 h 3629596"/>
              <a:gd name="connsiteX2" fmla="*/ 0 w 4242371"/>
              <a:gd name="connsiteY2" fmla="*/ 0 h 3629596"/>
              <a:gd name="connsiteX3" fmla="*/ 2121154 w 4242371"/>
              <a:gd name="connsiteY3" fmla="*/ 3629597 h 3629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2371" h="3629596">
                <a:moveTo>
                  <a:pt x="2121154" y="3629597"/>
                </a:moveTo>
                <a:lnTo>
                  <a:pt x="4242372" y="0"/>
                </a:lnTo>
                <a:lnTo>
                  <a:pt x="0" y="0"/>
                </a:lnTo>
                <a:lnTo>
                  <a:pt x="2121154" y="3629597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5" name="Freeform: Shape 19">
            <a:extLst>
              <a:ext uri="{FF2B5EF4-FFF2-40B4-BE49-F238E27FC236}">
                <a16:creationId xmlns:a16="http://schemas.microsoft.com/office/drawing/2014/main" id="{7B274DA7-C1C8-508F-2BA7-387F11956115}"/>
              </a:ext>
            </a:extLst>
          </p:cNvPr>
          <p:cNvSpPr/>
          <p:nvPr/>
        </p:nvSpPr>
        <p:spPr>
          <a:xfrm>
            <a:off x="-795164" y="3255791"/>
            <a:ext cx="2215433" cy="1800860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  <p:bldP spid="114" grpId="0" animBg="1"/>
      <p:bldP spid="1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D422-2289-20E7-7520-8C88B716FAD4}"/>
              </a:ext>
            </a:extLst>
          </p:cNvPr>
          <p:cNvSpPr/>
          <p:nvPr/>
        </p:nvSpPr>
        <p:spPr>
          <a:xfrm>
            <a:off x="0" y="0"/>
            <a:ext cx="12192000" cy="2311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FC39F5-D862-3397-0225-CC6EA0435AD8}"/>
              </a:ext>
            </a:extLst>
          </p:cNvPr>
          <p:cNvSpPr/>
          <p:nvPr/>
        </p:nvSpPr>
        <p:spPr>
          <a:xfrm>
            <a:off x="11887200" y="0"/>
            <a:ext cx="304800" cy="231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914400" y="1155699"/>
            <a:ext cx="5181600" cy="90287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5867" b="1" noProof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3029989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3028250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2717801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2717801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21" y="3214274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585048"/>
              </p:ext>
            </p:extLst>
          </p:nvPr>
        </p:nvGraphicFramePr>
        <p:xfrm>
          <a:off x="6244103" y="3734741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8905315"/>
              </p:ext>
            </p:extLst>
          </p:nvPr>
        </p:nvGraphicFramePr>
        <p:xfrm>
          <a:off x="6244102" y="5395569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346106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513395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63287"/>
            <a:ext cx="5256212" cy="522125"/>
          </a:xfrm>
        </p:spPr>
        <p:txBody>
          <a:bodyPr/>
          <a:lstStyle/>
          <a:p>
            <a:r>
              <a:rPr lang="es-ES_tradnl" noProof="1"/>
              <a:t>Ajuste por escenarios</a:t>
            </a:r>
          </a:p>
        </p:txBody>
      </p: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25743298-3B5A-D254-F6F6-4F8D7A54F0D5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1159545"/>
            <a:ext cx="8196944" cy="2688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4085450"/>
            <a:ext cx="8196944" cy="268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803809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3853355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068000"/>
              </p:ext>
            </p:extLst>
          </p:nvPr>
        </p:nvGraphicFramePr>
        <p:xfrm>
          <a:off x="8901708" y="1620955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01708" y="106513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perfiles de consumo energético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652152"/>
              </p:ext>
            </p:extLst>
          </p:nvPr>
        </p:nvGraphicFramePr>
        <p:xfrm>
          <a:off x="8901708" y="3486350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01708" y="292598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estructura de los clústeres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2" grpId="0" animBg="1"/>
      <p:bldP spid="2" grpId="0"/>
      <p:bldP spid="3" grpId="0"/>
      <p:bldP spid="6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12">
            <a:extLst>
              <a:ext uri="{FF2B5EF4-FFF2-40B4-BE49-F238E27FC236}">
                <a16:creationId xmlns:a16="http://schemas.microsoft.com/office/drawing/2014/main" id="{C880D361-CE8E-A5AB-DEED-3F20BFE0EE81}"/>
              </a:ext>
            </a:extLst>
          </p:cNvPr>
          <p:cNvSpPr>
            <a:spLocks/>
          </p:cNvSpPr>
          <p:nvPr/>
        </p:nvSpPr>
        <p:spPr bwMode="auto">
          <a:xfrm>
            <a:off x="5101753" y="4228296"/>
            <a:ext cx="4510844" cy="4510844"/>
          </a:xfrm>
          <a:custGeom>
            <a:avLst/>
            <a:gdLst>
              <a:gd name="T0" fmla="*/ 165 w 357"/>
              <a:gd name="T1" fmla="*/ 349 h 357"/>
              <a:gd name="T2" fmla="*/ 8 w 357"/>
              <a:gd name="T3" fmla="*/ 192 h 357"/>
              <a:gd name="T4" fmla="*/ 8 w 357"/>
              <a:gd name="T5" fmla="*/ 164 h 357"/>
              <a:gd name="T6" fmla="*/ 165 w 357"/>
              <a:gd name="T7" fmla="*/ 7 h 357"/>
              <a:gd name="T8" fmla="*/ 193 w 357"/>
              <a:gd name="T9" fmla="*/ 7 h 357"/>
              <a:gd name="T10" fmla="*/ 350 w 357"/>
              <a:gd name="T11" fmla="*/ 164 h 357"/>
              <a:gd name="T12" fmla="*/ 350 w 357"/>
              <a:gd name="T13" fmla="*/ 192 h 357"/>
              <a:gd name="T14" fmla="*/ 193 w 357"/>
              <a:gd name="T15" fmla="*/ 349 h 357"/>
              <a:gd name="T16" fmla="*/ 165 w 357"/>
              <a:gd name="T17" fmla="*/ 349 h 3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57" h="357">
                <a:moveTo>
                  <a:pt x="165" y="349"/>
                </a:moveTo>
                <a:cubicBezTo>
                  <a:pt x="8" y="192"/>
                  <a:pt x="8" y="192"/>
                  <a:pt x="8" y="192"/>
                </a:cubicBezTo>
                <a:cubicBezTo>
                  <a:pt x="0" y="185"/>
                  <a:pt x="0" y="172"/>
                  <a:pt x="8" y="164"/>
                </a:cubicBezTo>
                <a:cubicBezTo>
                  <a:pt x="165" y="7"/>
                  <a:pt x="165" y="7"/>
                  <a:pt x="165" y="7"/>
                </a:cubicBezTo>
                <a:cubicBezTo>
                  <a:pt x="173" y="0"/>
                  <a:pt x="185" y="0"/>
                  <a:pt x="193" y="7"/>
                </a:cubicBezTo>
                <a:cubicBezTo>
                  <a:pt x="350" y="164"/>
                  <a:pt x="350" y="164"/>
                  <a:pt x="350" y="164"/>
                </a:cubicBezTo>
                <a:cubicBezTo>
                  <a:pt x="357" y="172"/>
                  <a:pt x="357" y="185"/>
                  <a:pt x="350" y="192"/>
                </a:cubicBezTo>
                <a:cubicBezTo>
                  <a:pt x="193" y="349"/>
                  <a:pt x="193" y="349"/>
                  <a:pt x="193" y="349"/>
                </a:cubicBezTo>
                <a:cubicBezTo>
                  <a:pt x="185" y="357"/>
                  <a:pt x="173" y="357"/>
                  <a:pt x="165" y="34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31750" cap="flat">
            <a:solidFill>
              <a:srgbClr val="FFFFFF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AFDEE8-3D6D-4DFA-F882-A118D33436BB}"/>
              </a:ext>
            </a:extLst>
          </p:cNvPr>
          <p:cNvSpPr/>
          <p:nvPr/>
        </p:nvSpPr>
        <p:spPr>
          <a:xfrm>
            <a:off x="5683113" y="0"/>
            <a:ext cx="2397125" cy="4234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A4700-0B77-C32C-0F73-7DA01A207207}"/>
              </a:ext>
            </a:extLst>
          </p:cNvPr>
          <p:cNvSpPr/>
          <p:nvPr/>
        </p:nvSpPr>
        <p:spPr>
          <a:xfrm>
            <a:off x="5137249" y="301213"/>
            <a:ext cx="799980" cy="294759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979488"/>
            <a:ext cx="8037513" cy="553998"/>
          </a:xfrm>
        </p:spPr>
        <p:txBody>
          <a:bodyPr/>
          <a:lstStyle/>
          <a:p>
            <a:r>
              <a:rPr lang="es-ES_tradnl" noProof="1"/>
              <a:t>Perfil general de los clústeres</a:t>
            </a:r>
            <a:endParaRPr lang="es-ES_tradnl" b="0" noProof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740079" y="4083709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695324" y="2202819"/>
            <a:ext cx="5579323" cy="1461982"/>
            <a:chOff x="695324" y="3474360"/>
            <a:chExt cx="5579323" cy="146198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y no al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3098718" y="4183840"/>
            <a:ext cx="2100656" cy="2051403"/>
            <a:chOff x="3098718" y="4183840"/>
            <a:chExt cx="2100656" cy="205140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se explica por la relación entre gasto e ingreso, no por el acceso a la energía.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0000" decel="4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0000" decel="4000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" grpId="0" animBg="1"/>
      <p:bldP spid="10" grpId="0" animBg="1"/>
      <p:bldP spid="2" grpId="0"/>
      <p:bldP spid="11" grpId="0"/>
      <p:bldP spid="11" grpId="1"/>
      <p:bldP spid="15" grpId="0"/>
      <p:bldP spid="15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786673" y="3396581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786674" y="4281029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Perfiles de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8E0345-029E-BD6F-3EB4-DD748913F3F9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4F528197-70E9-2281-C53E-45C41E2A2FC7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6539FE-F651-2805-3196-8BC40A672E45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5.1%)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1A54EBF-EE67-2346-76BE-BB6C32072576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0829" y="866166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86673" y="3289806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86674" y="4388751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8D7E1E1-3CF5-2313-6CC1-02696DC3BD8C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130579" y="272734"/>
            <a:ext cx="5716690" cy="631253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4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088674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3979061"/>
            <a:ext cx="3139020" cy="96380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82B6C0-137C-7F2A-B260-126E6272B64D}"/>
              </a:ext>
            </a:extLst>
          </p:cNvPr>
          <p:cNvSpPr/>
          <p:nvPr/>
        </p:nvSpPr>
        <p:spPr>
          <a:xfrm>
            <a:off x="7613384" y="5199017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B4BDFB-A618-95EA-FEA5-26A202FE3982}"/>
              </a:ext>
            </a:extLst>
          </p:cNvPr>
          <p:cNvSpPr/>
          <p:nvPr/>
        </p:nvSpPr>
        <p:spPr>
          <a:xfrm>
            <a:off x="8693751" y="5199017"/>
            <a:ext cx="3139020" cy="744583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Los resultados disponibles no permiten responderla: no se realizó un análisis intraclúster </a:t>
            </a: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por área.</a:t>
            </a:r>
          </a:p>
        </p:txBody>
      </p:sp>
      <p:pic>
        <p:nvPicPr>
          <p:cNvPr id="43" name="Graphic 42" descr="Graduation cap outline">
            <a:extLst>
              <a:ext uri="{FF2B5EF4-FFF2-40B4-BE49-F238E27FC236}">
                <a16:creationId xmlns:a16="http://schemas.microsoft.com/office/drawing/2014/main" id="{2DD225A6-861B-FB3C-838E-9F46AD061F7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7409" y="5383042"/>
            <a:ext cx="376530" cy="376530"/>
          </a:xfrm>
          <a:prstGeom prst="rect">
            <a:avLst/>
          </a:prstGeom>
        </p:spPr>
      </p:pic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4272699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28E19A6-AF52-91C5-48AD-6777DDA8799A}"/>
              </a:ext>
            </a:extLst>
          </p:cNvPr>
          <p:cNvSpPr txBox="1"/>
          <p:nvPr/>
        </p:nvSpPr>
        <p:spPr>
          <a:xfrm>
            <a:off x="4608786" y="2967335"/>
            <a:ext cx="2974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5400" b="1" dirty="0">
                <a:solidFill>
                  <a:schemeClr val="bg1"/>
                </a:solidFill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8961613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1248</TotalTime>
  <Words>1403</Words>
  <Application>Microsoft Macintosh PowerPoint</Application>
  <PresentationFormat>Panorámica</PresentationFormat>
  <Paragraphs>234</Paragraphs>
  <Slides>13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13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Open Sans</vt:lpstr>
      <vt:lpstr>Segoe UI</vt:lpstr>
      <vt:lpstr>Segoe UI Black</vt:lpstr>
      <vt:lpstr>Times New Roman</vt:lpstr>
      <vt:lpstr>Wingdings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Daniela Sánchez</cp:lastModifiedBy>
  <cp:revision>34</cp:revision>
  <dcterms:created xsi:type="dcterms:W3CDTF">2026-07-30T20:56:47Z</dcterms:created>
  <dcterms:modified xsi:type="dcterms:W3CDTF">2026-09-09T00:22:17Z</dcterms:modified>
</cp:coreProperties>
</file>