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</p:sldMasterIdLst>
  <p:notesMasterIdLst>
    <p:notesMasterId r:id="rId15"/>
  </p:notesMasterIdLst>
  <p:sldIdLst>
    <p:sldId id="256" r:id="rId3"/>
    <p:sldId id="268" r:id="rId4"/>
    <p:sldId id="269" r:id="rId5"/>
    <p:sldId id="265" r:id="rId6"/>
    <p:sldId id="277" r:id="rId7"/>
    <p:sldId id="354" r:id="rId8"/>
    <p:sldId id="356" r:id="rId9"/>
    <p:sldId id="358" r:id="rId10"/>
    <p:sldId id="355" r:id="rId11"/>
    <p:sldId id="357" r:id="rId12"/>
    <p:sldId id="285" r:id="rId13"/>
    <p:sldId id="276" r:id="rId1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4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167BE-E3AE-4464-AF9A-166C597769E2}" type="datetimeFigureOut">
              <a:rPr lang="es-PE" smtClean="0"/>
              <a:t>8/09/26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7445A-1E50-484B-95BB-C22C56705CC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0522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AI generated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5FDAB-FDCE-4D59-BE02-63C4933EB7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92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B9DDD-BFBB-61FC-F14E-B380FF7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92F46-E912-5670-3BAA-226050B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02DB3-975C-9BAE-2294-03359B671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Generated with AI</a:t>
            </a:r>
          </a:p>
          <a:p>
            <a:endParaRPr lang="en-PK" dirty="0"/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CD7DC-68A2-780B-7A3B-4490778F9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C65A-3AC6-406C-B9A9-9C6ED60FF56B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00796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AI generated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5FDAB-FDCE-4D59-BE02-63C4933EB7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69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DA032-E502-0AFA-F80B-7ECA924F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82A39-E570-CB0F-D392-B689D2B37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2E2A2-1413-ABA6-E3E9-CFDADF92C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Generated with AI</a:t>
            </a:r>
          </a:p>
          <a:p>
            <a:endParaRPr lang="en-PK" dirty="0"/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FD873-E7BE-B641-9546-4D98E0F82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C65A-3AC6-406C-B9A9-9C6ED60FF56B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3747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8D435-988A-D0E5-7E99-1DD0AAAA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EFC1F-3B6C-9702-2CF8-5FA5F29FC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374E2-C11C-234B-245E-F4DB6DB66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Generated with AI</a:t>
            </a:r>
          </a:p>
          <a:p>
            <a:endParaRPr lang="en-PK" dirty="0"/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BF75E-1C40-0DD2-D550-2FFD4B3E0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C65A-3AC6-406C-B9A9-9C6ED60FF56B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67921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https://unsplash.com/photos/woman-wearing-blue-denim-jacket-holding-book-jCIMcOpFHig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809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46254F-9338-4BA9-B7AC-A66622A3D0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8F386-1C5F-49D5-874B-0B8EDC0DC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A320CC-5833-40CD-A2BE-61B76C483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B49CEC-5F16-490A-B0A8-B8140CF8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00EBC7-7453-477C-B3E0-EE02B43D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93DDDA-22A4-4C05-B29F-56624E69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162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A9B17-D92F-4D24-8A78-E321E714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726C1-5529-4108-AF20-163840735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8EB093-C8BE-4296-8867-6ED146462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6CACB0-795C-41DC-9007-A67390D4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8FDD55-CABE-4FA1-B434-DE253618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9062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C66EE-ECEE-455C-A52B-425E1A177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226F51-63E6-4E6C-920D-18D19C842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82D7F-4D37-4259-A2CA-CB681CE23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97C142-530B-40E0-8DB8-E3DC4B827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5C4ECF-EEF3-4820-AF49-C4AA7B8E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966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29725-F5F0-4A6E-9D3C-624AA92B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F5BCC7-7BF9-4950-93FD-5F05182B4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E2FC53-328E-4B15-8A0E-1368E1C72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6EFCD4-8D8D-4158-93EE-4A5A9436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232741-3C49-4686-BF1F-745730C2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BC11EB-1A97-4DB7-B43C-ED65E85A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937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B2F39-9A34-4D36-84BC-8A857C56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A32826-B9F5-4470-BB03-01743DE3B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970C66-7D9F-43E0-A94C-38582CEFD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8E3F4D-9ECB-449A-8A21-F7601DD93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C02CC3-60D0-4591-A948-74AE8AE2D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295131-BAE7-48B3-89E5-7D700B45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8522FF-2DB8-4D1B-8F23-F19CDCF2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29B3C4-30F4-4933-BDDA-FF1CB9C3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2077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10F60-ED08-4FC2-A351-4B0340EE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6DEEE4-A613-4761-AC35-2224B491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5E274D-5917-454E-88E5-B7DF5821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68ECB-D504-41ED-8BF5-FD21218F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386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3ABD50-C638-475A-B2F3-AD53DEEEA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F8EDDF6-8777-46A7-87F8-1D134120A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CC1335-B94A-4631-85E3-36094A69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586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2FD93-DCB0-4CF6-A0F1-9F2D2F70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B4442F-23C5-4021-B11E-74F085A7E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7B6E6C-4541-4351-8621-68B8BC0AC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4B3102-0CA3-4351-B524-3BD1C96D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A9A74C-48DC-4BC1-A3A4-EE482B95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FAB76E-50A7-4E40-BA7F-110FF9C8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189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2D57F-752D-44D5-AC36-DB797DFB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4456C6-5959-42FB-985E-93F89BD98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574762-2509-4ED7-8475-B92E5253E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94F0FF-4393-4FDF-80B7-017AE0EC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DBC2F4-8F2E-4ACF-8746-9E301E5A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3259AC-5402-4375-AFBC-80CFE22E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620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3224B-3DB0-46A9-8D7F-7BE4EC16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80A00F-53C5-43EB-B937-A5E3040E6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E8FD66-8469-48C9-A76F-B1034C0A6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B04969-B5BA-4CC0-B175-BB138754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FD4B36-5C48-44FB-8C47-15F0A158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071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4B523D-D3D8-483C-90E4-6A91F1AE5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32B968-9E07-4A31-87CC-8057725FE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1DB91A-BC33-4640-8C60-0111253C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823624-9AFC-4D81-BF29-02251EDC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27C388-0F81-4A32-B4E5-D2ABE04A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2338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10437D5-C91A-8781-BB15-12648BEEBE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64812" y="1588"/>
            <a:ext cx="7923228" cy="4411266"/>
          </a:xfrm>
          <a:custGeom>
            <a:avLst/>
            <a:gdLst>
              <a:gd name="connsiteX0" fmla="*/ 364186 w 7923228"/>
              <a:gd name="connsiteY0" fmla="*/ 0 h 4411266"/>
              <a:gd name="connsiteX1" fmla="*/ 7559042 w 7923228"/>
              <a:gd name="connsiteY1" fmla="*/ 0 h 4411266"/>
              <a:gd name="connsiteX2" fmla="*/ 7863720 w 7923228"/>
              <a:gd name="connsiteY2" fmla="*/ 304800 h 4411266"/>
              <a:gd name="connsiteX3" fmla="*/ 7863720 w 7923228"/>
              <a:gd name="connsiteY3" fmla="*/ 592138 h 4411266"/>
              <a:gd name="connsiteX4" fmla="*/ 4106019 w 7923228"/>
              <a:gd name="connsiteY4" fmla="*/ 4352926 h 4411266"/>
              <a:gd name="connsiteX5" fmla="*/ 3818796 w 7923228"/>
              <a:gd name="connsiteY5" fmla="*/ 4352926 h 4411266"/>
              <a:gd name="connsiteX6" fmla="*/ 59508 w 7923228"/>
              <a:gd name="connsiteY6" fmla="*/ 592138 h 4411266"/>
              <a:gd name="connsiteX7" fmla="*/ 59508 w 7923228"/>
              <a:gd name="connsiteY7" fmla="*/ 304800 h 441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3228" h="4411266">
                <a:moveTo>
                  <a:pt x="364186" y="0"/>
                </a:moveTo>
                <a:cubicBezTo>
                  <a:pt x="364186" y="0"/>
                  <a:pt x="364186" y="0"/>
                  <a:pt x="7559042" y="0"/>
                </a:cubicBezTo>
                <a:cubicBezTo>
                  <a:pt x="7559042" y="0"/>
                  <a:pt x="7559042" y="0"/>
                  <a:pt x="7863720" y="304800"/>
                </a:cubicBezTo>
                <a:cubicBezTo>
                  <a:pt x="7943064" y="384175"/>
                  <a:pt x="7943064" y="512763"/>
                  <a:pt x="7863720" y="592138"/>
                </a:cubicBezTo>
                <a:cubicBezTo>
                  <a:pt x="7863720" y="592138"/>
                  <a:pt x="7863720" y="592138"/>
                  <a:pt x="4106019" y="4352926"/>
                </a:cubicBezTo>
                <a:cubicBezTo>
                  <a:pt x="4026676" y="4430713"/>
                  <a:pt x="3898139" y="4430713"/>
                  <a:pt x="3818796" y="4352926"/>
                </a:cubicBezTo>
                <a:cubicBezTo>
                  <a:pt x="3818796" y="4352926"/>
                  <a:pt x="3818796" y="4352926"/>
                  <a:pt x="59508" y="592138"/>
                </a:cubicBezTo>
                <a:cubicBezTo>
                  <a:pt x="-19836" y="512763"/>
                  <a:pt x="-19836" y="384175"/>
                  <a:pt x="59508" y="30480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8FF24CF-860F-12B0-1778-4D151BF04BF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0953" y="2529407"/>
            <a:ext cx="1176850" cy="1179474"/>
          </a:xfrm>
          <a:custGeom>
            <a:avLst/>
            <a:gdLst>
              <a:gd name="connsiteX0" fmla="*/ 588425 w 1176850"/>
              <a:gd name="connsiteY0" fmla="*/ 0 h 1179474"/>
              <a:gd name="connsiteX1" fmla="*/ 1176850 w 1176850"/>
              <a:gd name="connsiteY1" fmla="*/ 589737 h 1179474"/>
              <a:gd name="connsiteX2" fmla="*/ 588425 w 1176850"/>
              <a:gd name="connsiteY2" fmla="*/ 1179474 h 1179474"/>
              <a:gd name="connsiteX3" fmla="*/ 0 w 1176850"/>
              <a:gd name="connsiteY3" fmla="*/ 589737 h 1179474"/>
              <a:gd name="connsiteX4" fmla="*/ 588425 w 1176850"/>
              <a:gd name="connsiteY4" fmla="*/ 0 h 117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6850" h="1179474">
                <a:moveTo>
                  <a:pt x="588425" y="0"/>
                </a:moveTo>
                <a:cubicBezTo>
                  <a:pt x="913403" y="0"/>
                  <a:pt x="1176850" y="264034"/>
                  <a:pt x="1176850" y="589737"/>
                </a:cubicBezTo>
                <a:cubicBezTo>
                  <a:pt x="1176850" y="915440"/>
                  <a:pt x="913403" y="1179474"/>
                  <a:pt x="588425" y="1179474"/>
                </a:cubicBezTo>
                <a:cubicBezTo>
                  <a:pt x="263447" y="1179474"/>
                  <a:pt x="0" y="915440"/>
                  <a:pt x="0" y="589737"/>
                </a:cubicBezTo>
                <a:cubicBezTo>
                  <a:pt x="0" y="264034"/>
                  <a:pt x="263447" y="0"/>
                  <a:pt x="58842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12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5D7A6B-5A5F-1E05-EBC3-722CB2248C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04576" y="1533696"/>
            <a:ext cx="7185744" cy="7185743"/>
          </a:xfrm>
          <a:custGeom>
            <a:avLst/>
            <a:gdLst>
              <a:gd name="csX0" fmla="*/ 3243192 w 6472640"/>
              <a:gd name="csY0" fmla="*/ 0 h 6472639"/>
              <a:gd name="csX1" fmla="*/ 3499715 w 6472640"/>
              <a:gd name="csY1" fmla="*/ 96196 h 6472639"/>
              <a:gd name="csX2" fmla="*/ 6376444 w 6472640"/>
              <a:gd name="csY2" fmla="*/ 2972925 h 6472639"/>
              <a:gd name="csX3" fmla="*/ 6376444 w 6472640"/>
              <a:gd name="csY3" fmla="*/ 3485972 h 6472639"/>
              <a:gd name="csX4" fmla="*/ 3499715 w 6472640"/>
              <a:gd name="csY4" fmla="*/ 6362701 h 6472639"/>
              <a:gd name="csX5" fmla="*/ 2986668 w 6472640"/>
              <a:gd name="csY5" fmla="*/ 6362701 h 6472639"/>
              <a:gd name="csX6" fmla="*/ 109939 w 6472640"/>
              <a:gd name="csY6" fmla="*/ 3485972 h 6472639"/>
              <a:gd name="csX7" fmla="*/ 109939 w 6472640"/>
              <a:gd name="csY7" fmla="*/ 2972925 h 6472639"/>
              <a:gd name="csX8" fmla="*/ 2986668 w 6472640"/>
              <a:gd name="csY8" fmla="*/ 96196 h 6472639"/>
              <a:gd name="csX9" fmla="*/ 3243192 w 6472640"/>
              <a:gd name="csY9" fmla="*/ 0 h 64726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472640" h="6472639">
                <a:moveTo>
                  <a:pt x="3243192" y="0"/>
                </a:moveTo>
                <a:cubicBezTo>
                  <a:pt x="3334807" y="0"/>
                  <a:pt x="3426423" y="32065"/>
                  <a:pt x="3499715" y="96196"/>
                </a:cubicBezTo>
                <a:cubicBezTo>
                  <a:pt x="6376444" y="2972925"/>
                  <a:pt x="6376444" y="2972925"/>
                  <a:pt x="6376444" y="2972925"/>
                </a:cubicBezTo>
                <a:cubicBezTo>
                  <a:pt x="6504706" y="3119510"/>
                  <a:pt x="6504706" y="3357710"/>
                  <a:pt x="6376444" y="3485972"/>
                </a:cubicBezTo>
                <a:cubicBezTo>
                  <a:pt x="3499715" y="6362701"/>
                  <a:pt x="3499715" y="6362701"/>
                  <a:pt x="3499715" y="6362701"/>
                </a:cubicBezTo>
                <a:cubicBezTo>
                  <a:pt x="3353130" y="6509286"/>
                  <a:pt x="3133253" y="6509286"/>
                  <a:pt x="2986668" y="6362701"/>
                </a:cubicBezTo>
                <a:cubicBezTo>
                  <a:pt x="109939" y="3485972"/>
                  <a:pt x="109939" y="3485972"/>
                  <a:pt x="109939" y="3485972"/>
                </a:cubicBezTo>
                <a:cubicBezTo>
                  <a:pt x="-36646" y="3357710"/>
                  <a:pt x="-36646" y="3119510"/>
                  <a:pt x="109939" y="2972925"/>
                </a:cubicBezTo>
                <a:cubicBezTo>
                  <a:pt x="2986668" y="96196"/>
                  <a:pt x="2986668" y="96196"/>
                  <a:pt x="2986668" y="96196"/>
                </a:cubicBezTo>
                <a:cubicBezTo>
                  <a:pt x="3059961" y="32065"/>
                  <a:pt x="3151576" y="0"/>
                  <a:pt x="32431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028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760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B938969-23EE-A547-49F3-7E3A16594F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960438"/>
            <a:ext cx="5256212" cy="838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031747F-D799-BF43-A2B4-1CB27B5F58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9152" y="1293361"/>
            <a:ext cx="4687819" cy="5564640"/>
          </a:xfrm>
          <a:prstGeom prst="round2SameRect">
            <a:avLst>
              <a:gd name="adj1" fmla="val 4313"/>
              <a:gd name="adj2" fmla="val 0"/>
            </a:avLst>
          </a:pr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1022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dirty="0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40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9A24B46-844E-6F12-908C-6D5F99BBAD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BFEC2A-E7E4-341F-41FE-E0E7D10FECB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575300" y="2362200"/>
            <a:ext cx="5778500" cy="3657600"/>
          </a:xfrm>
          <a:prstGeom prst="roundRect">
            <a:avLst>
              <a:gd name="adj" fmla="val 6389"/>
            </a:avLst>
          </a:pr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228405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054" y="4176728"/>
            <a:ext cx="3817418" cy="764440"/>
          </a:xfrm>
        </p:spPr>
        <p:txBody>
          <a:bodyPr>
            <a:normAutofit/>
          </a:bodyPr>
          <a:lstStyle>
            <a:lvl1pPr marL="0" indent="0" algn="l">
              <a:buNone/>
              <a:defRPr lang="en-US" sz="2400" kern="120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C532430-68DD-E050-CF5E-A3C1209424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053" y="2242116"/>
            <a:ext cx="3817419" cy="1834956"/>
          </a:xfrm>
        </p:spPr>
        <p:txBody>
          <a:bodyPr anchor="b">
            <a:noAutofit/>
          </a:bodyPr>
          <a:lstStyle>
            <a:lvl1pPr algn="l">
              <a:defRPr lang="en-US" sz="4800" kern="120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82418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8256" y="274639"/>
            <a:ext cx="10054144" cy="711081"/>
          </a:xfrm>
        </p:spPr>
        <p:txBody>
          <a:bodyPr>
            <a:noAutofit/>
          </a:bodyPr>
          <a:lstStyle>
            <a:lvl1pPr>
              <a:defRPr sz="4400">
                <a:solidFill>
                  <a:schemeClr val="accent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E0F98F1-58B1-71B5-CED7-25043889BE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6679" y="1052737"/>
            <a:ext cx="10072597" cy="30727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035225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24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23EA47-8A13-5580-E668-11C9EAA9C4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-1"/>
            <a:ext cx="12192000" cy="6858000"/>
          </a:xfrm>
          <a:custGeom>
            <a:avLst/>
            <a:gdLst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0 w 121888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72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F6F8577-4E31-9E00-CB4D-B9ADB3FA3E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0320" y="0"/>
            <a:ext cx="5231679" cy="6858000"/>
          </a:xfrm>
          <a:custGeom>
            <a:avLst/>
            <a:gdLst>
              <a:gd name="connsiteX0" fmla="*/ 1015876 w 5230317"/>
              <a:gd name="connsiteY0" fmla="*/ 0 h 6858000"/>
              <a:gd name="connsiteX1" fmla="*/ 5230317 w 5230317"/>
              <a:gd name="connsiteY1" fmla="*/ 0 h 6858000"/>
              <a:gd name="connsiteX2" fmla="*/ 5230317 w 5230317"/>
              <a:gd name="connsiteY2" fmla="*/ 6858000 h 6858000"/>
              <a:gd name="connsiteX3" fmla="*/ 1015876 w 5230317"/>
              <a:gd name="connsiteY3" fmla="*/ 6858000 h 6858000"/>
              <a:gd name="connsiteX4" fmla="*/ 0 w 5230317"/>
              <a:gd name="connsiteY4" fmla="*/ 5842124 h 6858000"/>
              <a:gd name="connsiteX5" fmla="*/ 0 w 5230317"/>
              <a:gd name="connsiteY5" fmla="*/ 1015876 h 6858000"/>
              <a:gd name="connsiteX6" fmla="*/ 1015876 w 5230317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30317" h="6858000">
                <a:moveTo>
                  <a:pt x="1015876" y="0"/>
                </a:moveTo>
                <a:lnTo>
                  <a:pt x="5230317" y="0"/>
                </a:lnTo>
                <a:lnTo>
                  <a:pt x="5230317" y="6858000"/>
                </a:lnTo>
                <a:lnTo>
                  <a:pt x="1015876" y="6858000"/>
                </a:lnTo>
                <a:cubicBezTo>
                  <a:pt x="454823" y="6858000"/>
                  <a:pt x="0" y="6403177"/>
                  <a:pt x="0" y="5842124"/>
                </a:cubicBezTo>
                <a:lnTo>
                  <a:pt x="0" y="1015876"/>
                </a:lnTo>
                <a:cubicBezTo>
                  <a:pt x="0" y="454823"/>
                  <a:pt x="454823" y="0"/>
                  <a:pt x="101587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253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754AEE8-08A7-1D3D-4CBC-A3538CD579C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2"/>
            <a:ext cx="6951250" cy="6851469"/>
          </a:xfrm>
          <a:custGeom>
            <a:avLst/>
            <a:gdLst>
              <a:gd name="connsiteX0" fmla="*/ 0 w 6949440"/>
              <a:gd name="connsiteY0" fmla="*/ 0 h 6851469"/>
              <a:gd name="connsiteX1" fmla="*/ 5807506 w 6949440"/>
              <a:gd name="connsiteY1" fmla="*/ 0 h 6851469"/>
              <a:gd name="connsiteX2" fmla="*/ 6949440 w 6949440"/>
              <a:gd name="connsiteY2" fmla="*/ 1141934 h 6851469"/>
              <a:gd name="connsiteX3" fmla="*/ 6949440 w 6949440"/>
              <a:gd name="connsiteY3" fmla="*/ 5709535 h 6851469"/>
              <a:gd name="connsiteX4" fmla="*/ 5807506 w 6949440"/>
              <a:gd name="connsiteY4" fmla="*/ 6851469 h 6851469"/>
              <a:gd name="connsiteX5" fmla="*/ 0 w 6949440"/>
              <a:gd name="connsiteY5" fmla="*/ 6851469 h 685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49440" h="6851469">
                <a:moveTo>
                  <a:pt x="0" y="0"/>
                </a:moveTo>
                <a:lnTo>
                  <a:pt x="5807506" y="0"/>
                </a:lnTo>
                <a:cubicBezTo>
                  <a:pt x="6438179" y="0"/>
                  <a:pt x="6949440" y="511261"/>
                  <a:pt x="6949440" y="1141934"/>
                </a:cubicBezTo>
                <a:lnTo>
                  <a:pt x="6949440" y="5709535"/>
                </a:lnTo>
                <a:cubicBezTo>
                  <a:pt x="6949440" y="6340208"/>
                  <a:pt x="6438179" y="6851469"/>
                  <a:pt x="5807506" y="6851469"/>
                </a:cubicBezTo>
                <a:lnTo>
                  <a:pt x="0" y="685146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480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3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031C53-9549-4521-938F-B28EB0D4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E58E12-2C81-4576-851D-08D29BE20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1A2D9E-6620-41CC-9C62-A32F6948C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14DC2-195A-4CFA-A4F5-72114CE69064}" type="datetimeFigureOut">
              <a:rPr lang="es-PE" smtClean="0"/>
              <a:t>8/09/26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7EA88-4960-406B-928D-EADB1C851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69CB1C-2256-4C4D-80D1-DD68F4872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52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1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1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1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2C5CD4C-318D-475F-A6EC-B1E3AF9C03C1}"/>
              </a:ext>
            </a:extLst>
          </p:cNvPr>
          <p:cNvSpPr/>
          <p:nvPr/>
        </p:nvSpPr>
        <p:spPr>
          <a:xfrm>
            <a:off x="0" y="0"/>
            <a:ext cx="407227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05914" y="2700797"/>
            <a:ext cx="6574466" cy="1028744"/>
          </a:xfrm>
        </p:spPr>
        <p:txBody>
          <a:bodyPr>
            <a:noAutofit/>
          </a:bodyPr>
          <a:lstStyle/>
          <a:p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POBREZA ENERGÉTICA EN EL PERÚ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9F56883-4923-494D-B092-C8B5A9C1E546}"/>
              </a:ext>
            </a:extLst>
          </p:cNvPr>
          <p:cNvSpPr txBox="1">
            <a:spLocks/>
          </p:cNvSpPr>
          <p:nvPr/>
        </p:nvSpPr>
        <p:spPr>
          <a:xfrm>
            <a:off x="5681332" y="4278090"/>
            <a:ext cx="4876800" cy="16782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Autores: </a:t>
            </a:r>
          </a:p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Gonzalo Pasiche</a:t>
            </a:r>
          </a:p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Luciano Altamirano</a:t>
            </a:r>
          </a:p>
          <a:p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Profesora: </a:t>
            </a:r>
          </a:p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Noelia Romero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5A56DA0-F451-4B86-ACF9-C36D913885A8}"/>
              </a:ext>
            </a:extLst>
          </p:cNvPr>
          <p:cNvSpPr txBox="1">
            <a:spLocks/>
          </p:cNvSpPr>
          <p:nvPr/>
        </p:nvSpPr>
        <p:spPr>
          <a:xfrm>
            <a:off x="7612911" y="5956336"/>
            <a:ext cx="1038447" cy="5623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D53E388-69F9-42A1-8132-5B932A8AC1C2}"/>
              </a:ext>
            </a:extLst>
          </p:cNvPr>
          <p:cNvSpPr txBox="1">
            <a:spLocks/>
          </p:cNvSpPr>
          <p:nvPr/>
        </p:nvSpPr>
        <p:spPr>
          <a:xfrm>
            <a:off x="147084" y="4031352"/>
            <a:ext cx="3778102" cy="18617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UNIVERSIDAD DE BUENOS AIRES</a:t>
            </a:r>
          </a:p>
          <a:p>
            <a:endParaRPr lang="es-E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Facultad de Ciencias Económicas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DC57820-F706-45CC-AFD9-278D2322C904}"/>
              </a:ext>
            </a:extLst>
          </p:cNvPr>
          <p:cNvSpPr txBox="1">
            <a:spLocks/>
          </p:cNvSpPr>
          <p:nvPr/>
        </p:nvSpPr>
        <p:spPr>
          <a:xfrm>
            <a:off x="5706140" y="1054723"/>
            <a:ext cx="4876800" cy="708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Aplicación de modelo de aprendizaje no supervisado</a:t>
            </a:r>
          </a:p>
          <a:p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Seminario de Taller de Programación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95DCB4B-90EA-45AC-9966-901AE91D738D}"/>
              </a:ext>
            </a:extLst>
          </p:cNvPr>
          <p:cNvCxnSpPr/>
          <p:nvPr/>
        </p:nvCxnSpPr>
        <p:spPr>
          <a:xfrm>
            <a:off x="4563139" y="2254767"/>
            <a:ext cx="7060019" cy="0"/>
          </a:xfrm>
          <a:prstGeom prst="line">
            <a:avLst/>
          </a:prstGeom>
          <a:ln w="28575">
            <a:solidFill>
              <a:srgbClr val="6E17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254773F-07FA-482F-B865-A51063E62C1E}"/>
              </a:ext>
            </a:extLst>
          </p:cNvPr>
          <p:cNvCxnSpPr/>
          <p:nvPr/>
        </p:nvCxnSpPr>
        <p:spPr>
          <a:xfrm>
            <a:off x="4563138" y="4078091"/>
            <a:ext cx="7060019" cy="0"/>
          </a:xfrm>
          <a:prstGeom prst="line">
            <a:avLst/>
          </a:prstGeom>
          <a:ln w="28575">
            <a:solidFill>
              <a:srgbClr val="6E17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EEA3F073-1668-4F76-BC75-B2894594D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59" y="875882"/>
            <a:ext cx="1645958" cy="195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FD7DC9B7-9C25-4D68-968B-DEE735776284}"/>
              </a:ext>
            </a:extLst>
          </p:cNvPr>
          <p:cNvGrpSpPr/>
          <p:nvPr/>
        </p:nvGrpSpPr>
        <p:grpSpPr>
          <a:xfrm>
            <a:off x="0" y="0"/>
            <a:ext cx="12192000" cy="1084521"/>
            <a:chOff x="0" y="0"/>
            <a:chExt cx="12192000" cy="108452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2116D947-9CAA-4B5A-9F7D-67CF0B846E24}"/>
                </a:ext>
              </a:extLst>
            </p:cNvPr>
            <p:cNvSpPr/>
            <p:nvPr/>
          </p:nvSpPr>
          <p:spPr>
            <a:xfrm>
              <a:off x="0" y="0"/>
              <a:ext cx="12192000" cy="10845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Título 1">
              <a:extLst>
                <a:ext uri="{FF2B5EF4-FFF2-40B4-BE49-F238E27FC236}">
                  <a16:creationId xmlns:a16="http://schemas.microsoft.com/office/drawing/2014/main" id="{0B060D1B-56B3-4AD2-8D5C-E47440BABA50}"/>
                </a:ext>
              </a:extLst>
            </p:cNvPr>
            <p:cNvSpPr txBox="1">
              <a:spLocks/>
            </p:cNvSpPr>
            <p:nvPr/>
          </p:nvSpPr>
          <p:spPr>
            <a:xfrm>
              <a:off x="392938" y="83268"/>
              <a:ext cx="7461505" cy="78015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s-E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Pregunta de investigación</a:t>
              </a:r>
              <a:endParaRPr lang="es-E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3FB6AE01-195B-49CF-B0D0-721029F6A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4178" y="203018"/>
              <a:ext cx="597440" cy="708077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53AFE5F-27AF-4AA0-8396-F48CEA637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9176" y="128863"/>
              <a:ext cx="854620" cy="856386"/>
            </a:xfrm>
            <a:prstGeom prst="ellipse">
              <a:avLst/>
            </a:prstGeom>
          </p:spPr>
        </p:pic>
      </p:grpSp>
      <p:sp>
        <p:nvSpPr>
          <p:cNvPr id="16" name="Abrir llave 15">
            <a:extLst>
              <a:ext uri="{FF2B5EF4-FFF2-40B4-BE49-F238E27FC236}">
                <a16:creationId xmlns:a16="http://schemas.microsoft.com/office/drawing/2014/main" id="{D83F79CC-8AEA-412E-A554-5579F64DD04D}"/>
              </a:ext>
            </a:extLst>
          </p:cNvPr>
          <p:cNvSpPr/>
          <p:nvPr/>
        </p:nvSpPr>
        <p:spPr>
          <a:xfrm>
            <a:off x="2020824" y="1167631"/>
            <a:ext cx="368808" cy="178098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0D837309-2033-48E8-95CC-D310A6ED2C86}"/>
              </a:ext>
            </a:extLst>
          </p:cNvPr>
          <p:cNvGrpSpPr/>
          <p:nvPr/>
        </p:nvGrpSpPr>
        <p:grpSpPr>
          <a:xfrm>
            <a:off x="310381" y="1701021"/>
            <a:ext cx="11039394" cy="4959527"/>
            <a:chOff x="330642" y="1595232"/>
            <a:chExt cx="11039394" cy="495952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B8C9C5F-AB2F-48C5-974A-56EA47E80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77556" y="3743698"/>
              <a:ext cx="792480" cy="792480"/>
            </a:xfrm>
            <a:prstGeom prst="rect">
              <a:avLst/>
            </a:prstGeom>
          </p:spPr>
        </p:pic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CACB6F3E-AEFB-4747-A1FB-4DDB1FC66425}"/>
                </a:ext>
              </a:extLst>
            </p:cNvPr>
            <p:cNvSpPr/>
            <p:nvPr/>
          </p:nvSpPr>
          <p:spPr>
            <a:xfrm>
              <a:off x="330642" y="1595232"/>
              <a:ext cx="1371601" cy="714199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es-PE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Definición de pobreza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456B56DC-AC75-42F8-9936-81F92E7B3AD8}"/>
                </a:ext>
              </a:extLst>
            </p:cNvPr>
            <p:cNvSpPr txBox="1"/>
            <p:nvPr/>
          </p:nvSpPr>
          <p:spPr>
            <a:xfrm>
              <a:off x="5737022" y="3053321"/>
              <a:ext cx="1307172" cy="369332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b="1" dirty="0">
                  <a:latin typeface="Times New Roman"/>
                  <a:cs typeface="Times New Roman"/>
                </a:rPr>
                <a:t>MEPI</a:t>
              </a:r>
              <a:endParaRPr lang="es-PE" b="1" dirty="0">
                <a:latin typeface="Times New Roman"/>
                <a:cs typeface="Times New Roman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2AD10C1D-648B-4B67-801E-E0AE31CA8B68}"/>
                </a:ext>
              </a:extLst>
            </p:cNvPr>
            <p:cNvSpPr txBox="1"/>
            <p:nvPr/>
          </p:nvSpPr>
          <p:spPr>
            <a:xfrm>
              <a:off x="2724405" y="3483380"/>
              <a:ext cx="7462964" cy="138499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MEPI mide pobreza energética solo por acceso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Ignora la dimensión económica: No incorpora pobreza monetaria ni carga energética en el presupuesto.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Existen hogares vulnerables que quedan invisibles para el indicador.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No es adecuado para el diseño de políticas: Variable resultado al ser binario (pobre / no pobre), aplana la heterogeneidad real de los hogares. </a:t>
              </a:r>
              <a:endParaRPr lang="es-PE" sz="1400" dirty="0">
                <a:latin typeface="Times New Roman"/>
                <a:cs typeface="Times New Roman"/>
              </a:endParaRPr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4459E33B-95F7-40B2-BEC9-9F1C8B6DCE0A}"/>
                </a:ext>
              </a:extLst>
            </p:cNvPr>
            <p:cNvGrpSpPr/>
            <p:nvPr/>
          </p:nvGrpSpPr>
          <p:grpSpPr>
            <a:xfrm>
              <a:off x="330642" y="3291840"/>
              <a:ext cx="9840534" cy="3019853"/>
              <a:chOff x="330642" y="3157013"/>
              <a:chExt cx="9840534" cy="3019853"/>
            </a:xfrm>
          </p:grpSpPr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61B72B42-F0CC-48C1-9730-55437E3AF15B}"/>
                  </a:ext>
                </a:extLst>
              </p:cNvPr>
              <p:cNvSpPr/>
              <p:nvPr/>
            </p:nvSpPr>
            <p:spPr>
              <a:xfrm>
                <a:off x="330642" y="3648011"/>
                <a:ext cx="1371601" cy="714199"/>
              </a:xfrm>
              <a:prstGeom prst="roundRect">
                <a:avLst/>
              </a:prstGeom>
              <a:noFill/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</a:p>
              <a:p>
                <a:pPr algn="ctr"/>
                <a:r>
                  <a:rPr lang="es-PE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Situación actual</a:t>
                </a:r>
                <a:endParaRPr lang="es-P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E25C04C-D755-4295-88DD-89F5A1EA3352}"/>
                  </a:ext>
                </a:extLst>
              </p:cNvPr>
              <p:cNvSpPr txBox="1"/>
              <p:nvPr/>
            </p:nvSpPr>
            <p:spPr>
              <a:xfrm>
                <a:off x="2708212" y="5345869"/>
                <a:ext cx="7462964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/>
                <a:r>
                  <a:rPr lang="es-ES" sz="1600" i="1" dirty="0">
                    <a:latin typeface="Times New Roman"/>
                    <a:cs typeface="Times New Roman"/>
                  </a:rPr>
                  <a:t>¿Podemos desarrollar un modelo que permita contar con una focalización más fina, en el que se identifique grupos con un perfil accionable distinto, de acuerdo a la orientación de políticas públicas energéticas?</a:t>
                </a:r>
                <a:endParaRPr lang="es-PE" sz="1600" i="1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19" name="Abrir llave 18">
                <a:extLst>
                  <a:ext uri="{FF2B5EF4-FFF2-40B4-BE49-F238E27FC236}">
                    <a16:creationId xmlns:a16="http://schemas.microsoft.com/office/drawing/2014/main" id="{B19D0340-22CB-4264-8219-5EBFE68EA1CF}"/>
                  </a:ext>
                </a:extLst>
              </p:cNvPr>
              <p:cNvSpPr/>
              <p:nvPr/>
            </p:nvSpPr>
            <p:spPr>
              <a:xfrm>
                <a:off x="2020824" y="3157013"/>
                <a:ext cx="368808" cy="1696197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F9711EED-66DA-4928-9630-59C7A11EA64B}"/>
                </a:ext>
              </a:extLst>
            </p:cNvPr>
            <p:cNvSpPr/>
            <p:nvPr/>
          </p:nvSpPr>
          <p:spPr>
            <a:xfrm>
              <a:off x="330642" y="5480696"/>
              <a:ext cx="1371601" cy="714199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  <a:p>
              <a:pPr algn="ctr"/>
              <a:r>
                <a:rPr lang="es-PE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Pregunta de investigación</a:t>
              </a:r>
              <a:endParaRPr lang="es-PE" sz="1600" dirty="0">
                <a:solidFill>
                  <a:schemeClr val="tx1"/>
                </a:solidFill>
              </a:endParaRPr>
            </a:p>
          </p:txBody>
        </p:sp>
        <p:sp>
          <p:nvSpPr>
            <p:cNvPr id="26" name="Abrir llave 25">
              <a:extLst>
                <a:ext uri="{FF2B5EF4-FFF2-40B4-BE49-F238E27FC236}">
                  <a16:creationId xmlns:a16="http://schemas.microsoft.com/office/drawing/2014/main" id="{39B094E0-8D8E-401D-81B8-506C61A61170}"/>
                </a:ext>
              </a:extLst>
            </p:cNvPr>
            <p:cNvSpPr/>
            <p:nvPr/>
          </p:nvSpPr>
          <p:spPr>
            <a:xfrm>
              <a:off x="2020824" y="5292247"/>
              <a:ext cx="368808" cy="126251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2" name="Rectángulo: esquinas redondeadas 10">
            <a:extLst>
              <a:ext uri="{FF2B5EF4-FFF2-40B4-BE49-F238E27FC236}">
                <a16:creationId xmlns:a16="http://schemas.microsoft.com/office/drawing/2014/main" id="{E45D8294-DDF9-4378-F344-1C33DE3FAFA7}"/>
              </a:ext>
            </a:extLst>
          </p:cNvPr>
          <p:cNvSpPr/>
          <p:nvPr/>
        </p:nvSpPr>
        <p:spPr>
          <a:xfrm>
            <a:off x="2704144" y="1566154"/>
            <a:ext cx="1819721" cy="1010180"/>
          </a:xfrm>
          <a:prstGeom prst="roundRect">
            <a:avLst/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PE" sz="2000" b="1" dirty="0">
                <a:solidFill>
                  <a:srgbClr val="000000"/>
                </a:solidFill>
                <a:latin typeface="Times New Roman"/>
                <a:ea typeface="Aptos" panose="020B0004020202020204"/>
                <a:cs typeface="Times New Roman"/>
              </a:rPr>
              <a:t>¿Qué es la pobreza energética?</a:t>
            </a:r>
            <a:endParaRPr lang="es-PE" sz="20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17564AB-6746-D3CC-B66B-0260F3B82E5B}"/>
              </a:ext>
            </a:extLst>
          </p:cNvPr>
          <p:cNvSpPr txBox="1"/>
          <p:nvPr/>
        </p:nvSpPr>
        <p:spPr>
          <a:xfrm>
            <a:off x="4575865" y="1533571"/>
            <a:ext cx="5591243" cy="107721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1600" dirty="0">
                <a:latin typeface="Times New Roman"/>
                <a:cs typeface="Times New Roman"/>
              </a:rPr>
              <a:t>“Privación del acceso a servicios modernos de energía, como el uso de combustibles limpios para cocinar como electricidad, gas licuado de petróleo o gas natural, además del acceso de energía eléctrica”</a:t>
            </a:r>
            <a:r>
              <a:rPr lang="es-ES" sz="1600" i="1" dirty="0">
                <a:latin typeface="Times New Roman"/>
                <a:cs typeface="Times New Roman"/>
              </a:rPr>
              <a:t> </a:t>
            </a:r>
            <a:r>
              <a:rPr lang="es-ES" sz="1600" dirty="0">
                <a:latin typeface="Times New Roman"/>
                <a:cs typeface="Times New Roman"/>
              </a:rPr>
              <a:t>(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Nussbaumer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Bazilian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Modi, 2012, p. </a:t>
            </a:r>
            <a:r>
              <a:rPr lang="es-ES" sz="1600">
                <a:latin typeface="Times New Roman" panose="02020603050405020304" pitchFamily="18" charset="0"/>
                <a:cs typeface="Times New Roman" panose="02020603050405020304" pitchFamily="18" charset="0"/>
              </a:rPr>
              <a:t>235).</a:t>
            </a:r>
            <a:endParaRPr lang="es-PE" sz="1600" i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51364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15D8A41-74C1-E59A-ED6F-41766D210C69}"/>
              </a:ext>
            </a:extLst>
          </p:cNvPr>
          <p:cNvSpPr/>
          <p:nvPr/>
        </p:nvSpPr>
        <p:spPr>
          <a:xfrm rot="16200000">
            <a:off x="6923505" y="1524000"/>
            <a:ext cx="6858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CEC734-E80F-BC59-2BA9-E1569DA34ED3}"/>
              </a:ext>
            </a:extLst>
          </p:cNvPr>
          <p:cNvSpPr/>
          <p:nvPr/>
        </p:nvSpPr>
        <p:spPr>
          <a:xfrm rot="16200000">
            <a:off x="7369082" y="1930154"/>
            <a:ext cx="2156847" cy="2274135"/>
          </a:xfrm>
          <a:prstGeom prst="roundRect">
            <a:avLst>
              <a:gd name="adj" fmla="val 960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A1CCAC-11C9-F9C2-68F8-5DE5F53ADE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7" y="207983"/>
            <a:ext cx="8037513" cy="553998"/>
          </a:xfrm>
        </p:spPr>
        <p:txBody>
          <a:bodyPr/>
          <a:lstStyle/>
          <a:p>
            <a:r>
              <a:rPr lang="es-ES_tradnl" noProof="1"/>
              <a:t>Heatmap de valores perdidos</a:t>
            </a:r>
          </a:p>
        </p:txBody>
      </p:sp>
      <p:pic>
        <p:nvPicPr>
          <p:cNvPr id="27" name="Picture Placeholder 26" descr="Woman using cell phone at digital data science display">
            <a:extLst>
              <a:ext uri="{FF2B5EF4-FFF2-40B4-BE49-F238E27FC236}">
                <a16:creationId xmlns:a16="http://schemas.microsoft.com/office/drawing/2014/main" id="{F093771A-4653-D8CA-C8F7-396DD1AE592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43468" y="1310317"/>
            <a:ext cx="4907960" cy="4407311"/>
          </a:xfrm>
        </p:spPr>
      </p:pic>
      <p:sp>
        <p:nvSpPr>
          <p:cNvPr id="7" name="Rectangle 18">
            <a:extLst>
              <a:ext uri="{FF2B5EF4-FFF2-40B4-BE49-F238E27FC236}">
                <a16:creationId xmlns:a16="http://schemas.microsoft.com/office/drawing/2014/main" id="{7B80738D-FB74-1ED7-9943-435FDC6372C0}"/>
              </a:ext>
            </a:extLst>
          </p:cNvPr>
          <p:cNvSpPr txBox="1"/>
          <p:nvPr/>
        </p:nvSpPr>
        <p:spPr>
          <a:xfrm>
            <a:off x="635278" y="1390613"/>
            <a:ext cx="6675160" cy="646331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es-ES_tradnl" sz="1400" noProof="1">
                <a:solidFill>
                  <a:schemeClr val="tx1"/>
                </a:solidFill>
              </a:rPr>
              <a:t>Las variables de gasto energético por tipo de combustible concentran la mayor parte de los valores perdidos —particularmente petróleo (99,72%), vela (98,26%) y carbón (95,3%).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D440D5-80A6-DDB2-E2CB-257C230E9718}"/>
              </a:ext>
            </a:extLst>
          </p:cNvPr>
          <p:cNvSpPr txBox="1"/>
          <p:nvPr/>
        </p:nvSpPr>
        <p:spPr>
          <a:xfrm>
            <a:off x="1384385" y="983104"/>
            <a:ext cx="21318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_tradnl" sz="2000" b="1" noProof="1">
                <a:solidFill>
                  <a:schemeClr val="accent1"/>
                </a:solidFill>
              </a:rPr>
              <a:t>Valores perdidos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5887107-0A27-684C-DF84-7D82D6224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47" y="761981"/>
            <a:ext cx="503802" cy="50380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C48D3D0-9D3F-BA80-97ED-B2AE87A77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7" y="2161774"/>
            <a:ext cx="5891645" cy="461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808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1" accel="10000" decel="4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10000" decel="4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" decel="40000" fill="hold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1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1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3" grpId="1" animBg="1"/>
      <p:bldP spid="23" grpId="2" animBg="1"/>
      <p:bldP spid="2" grpId="0"/>
      <p:bldP spid="2" grpId="1"/>
      <p:bldP spid="2" grpId="2"/>
      <p:bldP spid="7" grpId="0"/>
      <p:bldP spid="7" grpId="1"/>
      <p:bldP spid="7" grpId="2"/>
      <p:bldP spid="3" grpId="0"/>
      <p:bldP spid="3" grpId="1"/>
      <p:bldP spid="3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C5DD5A-EB2E-233C-AF6D-92297A017E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/>
          <a:lstStyle/>
          <a:p>
            <a:r>
              <a:rPr lang="es-ES_tradnl" noProof="1"/>
              <a:t>Metodología</a:t>
            </a:r>
            <a:endParaRPr lang="es-ES_tradnl" b="0" noProof="1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259958DF-77F4-10DC-F8D9-458C9906A6B3}"/>
              </a:ext>
            </a:extLst>
          </p:cNvPr>
          <p:cNvSpPr txBox="1"/>
          <p:nvPr/>
        </p:nvSpPr>
        <p:spPr>
          <a:xfrm>
            <a:off x="4813280" y="829356"/>
            <a:ext cx="6625708" cy="738664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es-ES_tradnl" noProof="1">
                <a:solidFill>
                  <a:schemeClr val="tx1"/>
                </a:solidFill>
              </a:rPr>
              <a:t>Se seleccionan y preprocesan variables de acceso energético, gasto y condición socioeconómica para agrupar hogares mediante clustering y caracterizar los perfiles de vulnerabilidad resultantes.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BF0E4DB-09E1-12DF-5EFF-22B4EA639085}"/>
              </a:ext>
            </a:extLst>
          </p:cNvPr>
          <p:cNvGrpSpPr/>
          <p:nvPr/>
        </p:nvGrpSpPr>
        <p:grpSpPr>
          <a:xfrm>
            <a:off x="695324" y="4029954"/>
            <a:ext cx="2685955" cy="2828046"/>
            <a:chOff x="695324" y="4029954"/>
            <a:chExt cx="2685955" cy="282804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48BED7D-2FD0-C26F-7F6F-FE87AC4718ED}"/>
                </a:ext>
              </a:extLst>
            </p:cNvPr>
            <p:cNvSpPr/>
            <p:nvPr/>
          </p:nvSpPr>
          <p:spPr>
            <a:xfrm rot="10800000">
              <a:off x="695324" y="4029954"/>
              <a:ext cx="2685955" cy="2828046"/>
            </a:xfrm>
            <a:custGeom>
              <a:avLst/>
              <a:gdLst>
                <a:gd name="connsiteX0" fmla="*/ 2685955 w 2685955"/>
                <a:gd name="connsiteY0" fmla="*/ 2828046 h 2828046"/>
                <a:gd name="connsiteX1" fmla="*/ 994166 w 2685955"/>
                <a:gd name="connsiteY1" fmla="*/ 2828046 h 2828046"/>
                <a:gd name="connsiteX2" fmla="*/ 0 w 2685955"/>
                <a:gd name="connsiteY2" fmla="*/ 2828046 h 2828046"/>
                <a:gd name="connsiteX3" fmla="*/ 0 w 2685955"/>
                <a:gd name="connsiteY3" fmla="*/ 156 h 2828046"/>
                <a:gd name="connsiteX4" fmla="*/ 0 w 2685955"/>
                <a:gd name="connsiteY4" fmla="*/ 0 h 2828046"/>
                <a:gd name="connsiteX5" fmla="*/ 1691789 w 2685955"/>
                <a:gd name="connsiteY5" fmla="*/ 0 h 2828046"/>
                <a:gd name="connsiteX6" fmla="*/ 2685955 w 2685955"/>
                <a:gd name="connsiteY6" fmla="*/ 0 h 2828046"/>
                <a:gd name="connsiteX7" fmla="*/ 2685955 w 2685955"/>
                <a:gd name="connsiteY7" fmla="*/ 2827890 h 282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5" h="2828046">
                  <a:moveTo>
                    <a:pt x="2685955" y="2828046"/>
                  </a:moveTo>
                  <a:lnTo>
                    <a:pt x="994166" y="2828046"/>
                  </a:lnTo>
                  <a:lnTo>
                    <a:pt x="0" y="2828046"/>
                  </a:lnTo>
                  <a:lnTo>
                    <a:pt x="0" y="156"/>
                  </a:lnTo>
                  <a:lnTo>
                    <a:pt x="0" y="0"/>
                  </a:lnTo>
                  <a:lnTo>
                    <a:pt x="1691789" y="0"/>
                  </a:lnTo>
                  <a:lnTo>
                    <a:pt x="2685955" y="0"/>
                  </a:lnTo>
                  <a:lnTo>
                    <a:pt x="2685955" y="282789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  <a:effectLst>
              <a:outerShdw blurRad="1524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A888853-BDBA-296E-954F-308CD02D4D35}"/>
                </a:ext>
              </a:extLst>
            </p:cNvPr>
            <p:cNvGrpSpPr/>
            <p:nvPr/>
          </p:nvGrpSpPr>
          <p:grpSpPr>
            <a:xfrm>
              <a:off x="753012" y="5077412"/>
              <a:ext cx="2550878" cy="1585058"/>
              <a:chOff x="1051480" y="2714370"/>
              <a:chExt cx="5105534" cy="1585058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CD8CD49-8DA7-3F14-08EC-A5CD5A1C07B8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s-ES_tradnl" sz="2000" b="1" noProof="1">
                    <a:latin typeface="Segoe UI" panose="020B0502040204020203" pitchFamily="34" charset="0"/>
                    <a:cs typeface="Segoe UI" panose="020B0502040204020203" pitchFamily="34" charset="0"/>
                  </a:rPr>
                  <a:t>Selección</a:t>
                </a:r>
                <a:endParaRPr lang="en-US" sz="20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D70F746-5458-4E86-9145-620BEBECB275}"/>
                  </a:ext>
                </a:extLst>
              </p:cNvPr>
              <p:cNvSpPr txBox="1"/>
              <p:nvPr/>
            </p:nvSpPr>
            <p:spPr>
              <a:xfrm>
                <a:off x="1051480" y="3222210"/>
                <a:ext cx="5105534" cy="107721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s-EC" sz="1400" dirty="0"/>
                  <a:t>Identificación de las variables de acceso energético, de gasto energético y de condición socioeconómica que se incorporarán al modelo.</a:t>
                </a:r>
                <a:r>
                  <a:rPr lang="en-US" sz="1400" dirty="0"/>
                  <a:t> 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F618E0E-3210-E853-58F4-1813BED9799D}"/>
              </a:ext>
            </a:extLst>
          </p:cNvPr>
          <p:cNvGrpSpPr/>
          <p:nvPr/>
        </p:nvGrpSpPr>
        <p:grpSpPr>
          <a:xfrm>
            <a:off x="3381435" y="3150023"/>
            <a:ext cx="2685955" cy="3707821"/>
            <a:chOff x="3381435" y="3150023"/>
            <a:chExt cx="2685955" cy="370782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B9AF089-2530-1AC6-3537-09752BF280C1}"/>
                </a:ext>
              </a:extLst>
            </p:cNvPr>
            <p:cNvSpPr/>
            <p:nvPr/>
          </p:nvSpPr>
          <p:spPr>
            <a:xfrm rot="10800000">
              <a:off x="3381435" y="3150023"/>
              <a:ext cx="2685955" cy="3707821"/>
            </a:xfrm>
            <a:custGeom>
              <a:avLst/>
              <a:gdLst>
                <a:gd name="connsiteX0" fmla="*/ 2685955 w 2685955"/>
                <a:gd name="connsiteY0" fmla="*/ 3707821 h 3707821"/>
                <a:gd name="connsiteX1" fmla="*/ 0 w 2685955"/>
                <a:gd name="connsiteY1" fmla="*/ 3707821 h 3707821"/>
                <a:gd name="connsiteX2" fmla="*/ 0 w 2685955"/>
                <a:gd name="connsiteY2" fmla="*/ 3707820 h 3707821"/>
                <a:gd name="connsiteX3" fmla="*/ 0 w 2685955"/>
                <a:gd name="connsiteY3" fmla="*/ 1 h 3707821"/>
                <a:gd name="connsiteX4" fmla="*/ 0 w 2685955"/>
                <a:gd name="connsiteY4" fmla="*/ 0 h 3707821"/>
                <a:gd name="connsiteX5" fmla="*/ 2685955 w 2685955"/>
                <a:gd name="connsiteY5" fmla="*/ 0 h 3707821"/>
                <a:gd name="connsiteX6" fmla="*/ 2685955 w 2685955"/>
                <a:gd name="connsiteY6" fmla="*/ 1 h 3707821"/>
                <a:gd name="connsiteX7" fmla="*/ 2685955 w 2685955"/>
                <a:gd name="connsiteY7" fmla="*/ 3707820 h 3707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5" h="3707821">
                  <a:moveTo>
                    <a:pt x="2685955" y="3707821"/>
                  </a:moveTo>
                  <a:lnTo>
                    <a:pt x="0" y="3707821"/>
                  </a:lnTo>
                  <a:lnTo>
                    <a:pt x="0" y="370782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685955" y="0"/>
                  </a:lnTo>
                  <a:lnTo>
                    <a:pt x="2685955" y="1"/>
                  </a:lnTo>
                  <a:lnTo>
                    <a:pt x="2685955" y="3707820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A742332-C270-0B88-788D-E88C84F4B095}"/>
                </a:ext>
              </a:extLst>
            </p:cNvPr>
            <p:cNvGrpSpPr/>
            <p:nvPr/>
          </p:nvGrpSpPr>
          <p:grpSpPr>
            <a:xfrm>
              <a:off x="3576208" y="4240732"/>
              <a:ext cx="2275428" cy="1585058"/>
              <a:chOff x="1346851" y="2714370"/>
              <a:chExt cx="4554226" cy="1585058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E75DA75-011F-C930-31A5-D820DEC91390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s-ES_tradnl" sz="2000" b="1" noProof="1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Procesamiento</a:t>
                </a:r>
                <a:endParaRPr lang="en-US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7A3CB6-0733-EFCE-E9F6-A5E9A9327289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107721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s-EC" sz="1400" dirty="0">
                    <a:solidFill>
                      <a:schemeClr val="bg1"/>
                    </a:solidFill>
                  </a:rPr>
                  <a:t>Tratamiento de los valores perdidos, estandarización de las variables continuas y codificación de las variables categóricas.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505FE84-62CE-300D-53D4-BC2F8D685FC1}"/>
              </a:ext>
            </a:extLst>
          </p:cNvPr>
          <p:cNvGrpSpPr/>
          <p:nvPr/>
        </p:nvGrpSpPr>
        <p:grpSpPr>
          <a:xfrm>
            <a:off x="6067077" y="3566905"/>
            <a:ext cx="2685956" cy="3290938"/>
            <a:chOff x="6067077" y="3566905"/>
            <a:chExt cx="2685956" cy="329093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4AE4273-01FF-BF3D-3421-33C3C2946BB9}"/>
                </a:ext>
              </a:extLst>
            </p:cNvPr>
            <p:cNvSpPr/>
            <p:nvPr/>
          </p:nvSpPr>
          <p:spPr>
            <a:xfrm rot="10800000">
              <a:off x="6067077" y="3566905"/>
              <a:ext cx="2685956" cy="3290938"/>
            </a:xfrm>
            <a:custGeom>
              <a:avLst/>
              <a:gdLst>
                <a:gd name="connsiteX0" fmla="*/ 2685956 w 2685956"/>
                <a:gd name="connsiteY0" fmla="*/ 3290938 h 3290938"/>
                <a:gd name="connsiteX1" fmla="*/ 1 w 2685956"/>
                <a:gd name="connsiteY1" fmla="*/ 3290938 h 3290938"/>
                <a:gd name="connsiteX2" fmla="*/ 1 w 2685956"/>
                <a:gd name="connsiteY2" fmla="*/ 3290937 h 3290938"/>
                <a:gd name="connsiteX3" fmla="*/ 0 w 2685956"/>
                <a:gd name="connsiteY3" fmla="*/ 3290937 h 3290938"/>
                <a:gd name="connsiteX4" fmla="*/ 0 w 2685956"/>
                <a:gd name="connsiteY4" fmla="*/ 0 h 3290938"/>
                <a:gd name="connsiteX5" fmla="*/ 2685955 w 2685956"/>
                <a:gd name="connsiteY5" fmla="*/ 0 h 3290938"/>
                <a:gd name="connsiteX6" fmla="*/ 2685955 w 2685956"/>
                <a:gd name="connsiteY6" fmla="*/ 1 h 3290938"/>
                <a:gd name="connsiteX7" fmla="*/ 2685956 w 2685956"/>
                <a:gd name="connsiteY7" fmla="*/ 1 h 329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6" h="3290938">
                  <a:moveTo>
                    <a:pt x="2685956" y="3290938"/>
                  </a:moveTo>
                  <a:lnTo>
                    <a:pt x="1" y="3290938"/>
                  </a:lnTo>
                  <a:lnTo>
                    <a:pt x="1" y="3290937"/>
                  </a:lnTo>
                  <a:lnTo>
                    <a:pt x="0" y="3290937"/>
                  </a:lnTo>
                  <a:lnTo>
                    <a:pt x="0" y="0"/>
                  </a:lnTo>
                  <a:lnTo>
                    <a:pt x="2685955" y="0"/>
                  </a:lnTo>
                  <a:lnTo>
                    <a:pt x="2685955" y="1"/>
                  </a:lnTo>
                  <a:lnTo>
                    <a:pt x="2685956" y="1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7E8638E-C057-9ED9-625D-1C666187BC5F}"/>
                </a:ext>
              </a:extLst>
            </p:cNvPr>
            <p:cNvGrpSpPr/>
            <p:nvPr/>
          </p:nvGrpSpPr>
          <p:grpSpPr>
            <a:xfrm>
              <a:off x="6272341" y="4666439"/>
              <a:ext cx="2275428" cy="1369614"/>
              <a:chOff x="1346851" y="2714370"/>
              <a:chExt cx="4554226" cy="136961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000CB69-F229-CA5E-A3EC-24031439D4E3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US" sz="20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Clustering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7DFD425-4D9E-ECF8-2F9F-08CB7E966A7B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8617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s-EC" sz="1400" dirty="0">
                    <a:solidFill>
                      <a:schemeClr val="bg1"/>
                    </a:solidFill>
                  </a:rPr>
                  <a:t>Aplicación del algoritmo K-prototypes para agrupar los hogares según similitud de perfiles.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C6B89C6-4291-CF42-8EDE-EF1832BF498F}"/>
              </a:ext>
            </a:extLst>
          </p:cNvPr>
          <p:cNvGrpSpPr/>
          <p:nvPr/>
        </p:nvGrpSpPr>
        <p:grpSpPr>
          <a:xfrm>
            <a:off x="8753033" y="2626571"/>
            <a:ext cx="2685955" cy="4231272"/>
            <a:chOff x="8753033" y="2626571"/>
            <a:chExt cx="2685955" cy="423127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1E186A8-45BE-79A7-E865-519722B06B41}"/>
                </a:ext>
              </a:extLst>
            </p:cNvPr>
            <p:cNvSpPr/>
            <p:nvPr/>
          </p:nvSpPr>
          <p:spPr>
            <a:xfrm rot="10800000">
              <a:off x="8753033" y="2626571"/>
              <a:ext cx="2685955" cy="4231272"/>
            </a:xfrm>
            <a:custGeom>
              <a:avLst/>
              <a:gdLst>
                <a:gd name="connsiteX0" fmla="*/ 2685955 w 2685955"/>
                <a:gd name="connsiteY0" fmla="*/ 4231272 h 4231272"/>
                <a:gd name="connsiteX1" fmla="*/ 0 w 2685955"/>
                <a:gd name="connsiteY1" fmla="*/ 4231272 h 4231272"/>
                <a:gd name="connsiteX2" fmla="*/ 0 w 2685955"/>
                <a:gd name="connsiteY2" fmla="*/ 4231271 h 4231272"/>
                <a:gd name="connsiteX3" fmla="*/ 0 w 2685955"/>
                <a:gd name="connsiteY3" fmla="*/ 1 h 4231272"/>
                <a:gd name="connsiteX4" fmla="*/ 0 w 2685955"/>
                <a:gd name="connsiteY4" fmla="*/ 0 h 4231272"/>
                <a:gd name="connsiteX5" fmla="*/ 2685955 w 2685955"/>
                <a:gd name="connsiteY5" fmla="*/ 0 h 4231272"/>
                <a:gd name="connsiteX6" fmla="*/ 2685955 w 2685955"/>
                <a:gd name="connsiteY6" fmla="*/ 1 h 4231272"/>
                <a:gd name="connsiteX7" fmla="*/ 2685955 w 2685955"/>
                <a:gd name="connsiteY7" fmla="*/ 4231271 h 42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5" h="4231272">
                  <a:moveTo>
                    <a:pt x="2685955" y="4231272"/>
                  </a:moveTo>
                  <a:lnTo>
                    <a:pt x="0" y="4231272"/>
                  </a:lnTo>
                  <a:lnTo>
                    <a:pt x="0" y="423127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685955" y="0"/>
                  </a:lnTo>
                  <a:lnTo>
                    <a:pt x="2685955" y="1"/>
                  </a:lnTo>
                  <a:lnTo>
                    <a:pt x="2685955" y="4231271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0D60E6A-0259-85F0-078C-C9D51A1E2012}"/>
                </a:ext>
              </a:extLst>
            </p:cNvPr>
            <p:cNvGrpSpPr/>
            <p:nvPr/>
          </p:nvGrpSpPr>
          <p:grpSpPr>
            <a:xfrm>
              <a:off x="8958296" y="3750394"/>
              <a:ext cx="2275428" cy="1585058"/>
              <a:chOff x="1346851" y="2714370"/>
              <a:chExt cx="4554226" cy="1585058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B4487F1-1C1D-1440-B0C2-4F704E0A57CB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s-ES_tradnl" sz="2000" b="1" noProof="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Caracterización</a:t>
                </a:r>
                <a:endParaRPr lang="en-US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DD670D-4E7A-AE1C-E2FF-D1B044D4FF9F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107721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s-EC" sz="1400" dirty="0">
                    <a:solidFill>
                      <a:schemeClr val="bg1"/>
                    </a:solidFill>
                  </a:rPr>
                  <a:t>Describir cada clúster resultante y cruzarlo con los indicadores de pobreza existentes para identificar vulnerabilidades.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8B495A1-3E81-A8ED-BB68-02F65C2F29E3}"/>
              </a:ext>
            </a:extLst>
          </p:cNvPr>
          <p:cNvGrpSpPr/>
          <p:nvPr/>
        </p:nvGrpSpPr>
        <p:grpSpPr>
          <a:xfrm>
            <a:off x="4087927" y="2513382"/>
            <a:ext cx="1272971" cy="1272971"/>
            <a:chOff x="4087927" y="2513382"/>
            <a:chExt cx="1272971" cy="1272971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7D0E02B-740F-79E8-B83B-A12F191308AA}"/>
                </a:ext>
              </a:extLst>
            </p:cNvPr>
            <p:cNvGrpSpPr/>
            <p:nvPr/>
          </p:nvGrpSpPr>
          <p:grpSpPr>
            <a:xfrm>
              <a:off x="4087927" y="2513382"/>
              <a:ext cx="1272971" cy="1272971"/>
              <a:chOff x="4087927" y="2513382"/>
              <a:chExt cx="1272971" cy="1272971"/>
            </a:xfrm>
          </p:grpSpPr>
          <p:sp>
            <p:nvSpPr>
              <p:cNvPr id="13" name="Oval 7">
                <a:extLst>
                  <a:ext uri="{FF2B5EF4-FFF2-40B4-BE49-F238E27FC236}">
                    <a16:creationId xmlns:a16="http://schemas.microsoft.com/office/drawing/2014/main" id="{490D6878-18CD-AB72-4930-933933534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7927" y="2513382"/>
                <a:ext cx="1272971" cy="1272971"/>
              </a:xfrm>
              <a:prstGeom prst="ellipse">
                <a:avLst/>
              </a:prstGeom>
              <a:solidFill>
                <a:srgbClr val="F0F0F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" name="Oval 8">
                <a:extLst>
                  <a:ext uri="{FF2B5EF4-FFF2-40B4-BE49-F238E27FC236}">
                    <a16:creationId xmlns:a16="http://schemas.microsoft.com/office/drawing/2014/main" id="{7CAB702E-1C26-D9B3-48D8-5B394B389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389" y="2618844"/>
                <a:ext cx="1062047" cy="1062047"/>
              </a:xfrm>
              <a:prstGeom prst="ellipse">
                <a:avLst/>
              </a:prstGeom>
              <a:noFill/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AEB2B5DD-21CA-C02D-C694-895E9FA27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64344" y="2932153"/>
              <a:ext cx="520136" cy="435429"/>
            </a:xfrm>
            <a:custGeom>
              <a:avLst/>
              <a:gdLst>
                <a:gd name="T0" fmla="*/ 116 w 175"/>
                <a:gd name="T1" fmla="*/ 23 h 146"/>
                <a:gd name="T2" fmla="*/ 59 w 175"/>
                <a:gd name="T3" fmla="*/ 18 h 146"/>
                <a:gd name="T4" fmla="*/ 41 w 175"/>
                <a:gd name="T5" fmla="*/ 57 h 146"/>
                <a:gd name="T6" fmla="*/ 51 w 175"/>
                <a:gd name="T7" fmla="*/ 72 h 146"/>
                <a:gd name="T8" fmla="*/ 67 w 175"/>
                <a:gd name="T9" fmla="*/ 64 h 146"/>
                <a:gd name="T10" fmla="*/ 75 w 175"/>
                <a:gd name="T11" fmla="*/ 51 h 146"/>
                <a:gd name="T12" fmla="*/ 129 w 175"/>
                <a:gd name="T13" fmla="*/ 96 h 146"/>
                <a:gd name="T14" fmla="*/ 122 w 175"/>
                <a:gd name="T15" fmla="*/ 102 h 146"/>
                <a:gd name="T16" fmla="*/ 106 w 175"/>
                <a:gd name="T17" fmla="*/ 91 h 146"/>
                <a:gd name="T18" fmla="*/ 117 w 175"/>
                <a:gd name="T19" fmla="*/ 107 h 146"/>
                <a:gd name="T20" fmla="*/ 111 w 175"/>
                <a:gd name="T21" fmla="*/ 114 h 146"/>
                <a:gd name="T22" fmla="*/ 95 w 175"/>
                <a:gd name="T23" fmla="*/ 103 h 146"/>
                <a:gd name="T24" fmla="*/ 106 w 175"/>
                <a:gd name="T25" fmla="*/ 119 h 146"/>
                <a:gd name="T26" fmla="*/ 99 w 175"/>
                <a:gd name="T27" fmla="*/ 125 h 146"/>
                <a:gd name="T28" fmla="*/ 83 w 175"/>
                <a:gd name="T29" fmla="*/ 114 h 146"/>
                <a:gd name="T30" fmla="*/ 94 w 175"/>
                <a:gd name="T31" fmla="*/ 131 h 146"/>
                <a:gd name="T32" fmla="*/ 88 w 175"/>
                <a:gd name="T33" fmla="*/ 137 h 146"/>
                <a:gd name="T34" fmla="*/ 73 w 175"/>
                <a:gd name="T35" fmla="*/ 114 h 146"/>
                <a:gd name="T36" fmla="*/ 61 w 175"/>
                <a:gd name="T37" fmla="*/ 102 h 146"/>
                <a:gd name="T38" fmla="*/ 50 w 175"/>
                <a:gd name="T39" fmla="*/ 91 h 146"/>
                <a:gd name="T40" fmla="*/ 38 w 175"/>
                <a:gd name="T41" fmla="*/ 79 h 146"/>
                <a:gd name="T42" fmla="*/ 6 w 175"/>
                <a:gd name="T43" fmla="*/ 56 h 146"/>
                <a:gd name="T44" fmla="*/ 1 w 175"/>
                <a:gd name="T45" fmla="*/ 61 h 146"/>
                <a:gd name="T46" fmla="*/ 16 w 175"/>
                <a:gd name="T47" fmla="*/ 89 h 146"/>
                <a:gd name="T48" fmla="*/ 28 w 175"/>
                <a:gd name="T49" fmla="*/ 101 h 146"/>
                <a:gd name="T50" fmla="*/ 39 w 175"/>
                <a:gd name="T51" fmla="*/ 112 h 146"/>
                <a:gd name="T52" fmla="*/ 51 w 175"/>
                <a:gd name="T53" fmla="*/ 124 h 146"/>
                <a:gd name="T54" fmla="*/ 62 w 175"/>
                <a:gd name="T55" fmla="*/ 136 h 146"/>
                <a:gd name="T56" fmla="*/ 83 w 175"/>
                <a:gd name="T57" fmla="*/ 142 h 146"/>
                <a:gd name="T58" fmla="*/ 102 w 175"/>
                <a:gd name="T59" fmla="*/ 134 h 146"/>
                <a:gd name="T60" fmla="*/ 114 w 175"/>
                <a:gd name="T61" fmla="*/ 122 h 146"/>
                <a:gd name="T62" fmla="*/ 125 w 175"/>
                <a:gd name="T63" fmla="*/ 110 h 146"/>
                <a:gd name="T64" fmla="*/ 134 w 175"/>
                <a:gd name="T65" fmla="*/ 91 h 146"/>
                <a:gd name="T66" fmla="*/ 151 w 175"/>
                <a:gd name="T67" fmla="*/ 62 h 146"/>
                <a:gd name="T68" fmla="*/ 118 w 175"/>
                <a:gd name="T69" fmla="*/ 24 h 146"/>
                <a:gd name="T70" fmla="*/ 143 w 175"/>
                <a:gd name="T71" fmla="*/ 2 h 146"/>
                <a:gd name="T72" fmla="*/ 123 w 175"/>
                <a:gd name="T73" fmla="*/ 13 h 146"/>
                <a:gd name="T74" fmla="*/ 152 w 175"/>
                <a:gd name="T75" fmla="*/ 52 h 146"/>
                <a:gd name="T76" fmla="*/ 173 w 175"/>
                <a:gd name="T77" fmla="*/ 42 h 146"/>
                <a:gd name="T78" fmla="*/ 157 w 175"/>
                <a:gd name="T79" fmla="*/ 47 h 146"/>
                <a:gd name="T80" fmla="*/ 157 w 175"/>
                <a:gd name="T81" fmla="*/ 35 h 146"/>
                <a:gd name="T82" fmla="*/ 157 w 175"/>
                <a:gd name="T83" fmla="*/ 47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75" h="146">
                  <a:moveTo>
                    <a:pt x="118" y="24"/>
                  </a:moveTo>
                  <a:cubicBezTo>
                    <a:pt x="118" y="23"/>
                    <a:pt x="117" y="23"/>
                    <a:pt x="116" y="23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70" y="8"/>
                    <a:pt x="61" y="15"/>
                    <a:pt x="59" y="18"/>
                  </a:cubicBezTo>
                  <a:cubicBezTo>
                    <a:pt x="57" y="19"/>
                    <a:pt x="56" y="21"/>
                    <a:pt x="56" y="22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0" y="59"/>
                    <a:pt x="40" y="61"/>
                    <a:pt x="42" y="64"/>
                  </a:cubicBezTo>
                  <a:cubicBezTo>
                    <a:pt x="44" y="68"/>
                    <a:pt x="47" y="71"/>
                    <a:pt x="51" y="72"/>
                  </a:cubicBezTo>
                  <a:cubicBezTo>
                    <a:pt x="56" y="73"/>
                    <a:pt x="61" y="71"/>
                    <a:pt x="64" y="67"/>
                  </a:cubicBezTo>
                  <a:cubicBezTo>
                    <a:pt x="65" y="66"/>
                    <a:pt x="66" y="65"/>
                    <a:pt x="67" y="64"/>
                  </a:cubicBezTo>
                  <a:cubicBezTo>
                    <a:pt x="72" y="55"/>
                    <a:pt x="72" y="55"/>
                    <a:pt x="72" y="55"/>
                  </a:cubicBezTo>
                  <a:cubicBezTo>
                    <a:pt x="72" y="54"/>
                    <a:pt x="74" y="52"/>
                    <a:pt x="75" y="51"/>
                  </a:cubicBezTo>
                  <a:cubicBezTo>
                    <a:pt x="79" y="47"/>
                    <a:pt x="81" y="49"/>
                    <a:pt x="82" y="49"/>
                  </a:cubicBezTo>
                  <a:cubicBezTo>
                    <a:pt x="90" y="57"/>
                    <a:pt x="129" y="96"/>
                    <a:pt x="129" y="96"/>
                  </a:cubicBezTo>
                  <a:cubicBezTo>
                    <a:pt x="130" y="97"/>
                    <a:pt x="130" y="100"/>
                    <a:pt x="128" y="102"/>
                  </a:cubicBezTo>
                  <a:cubicBezTo>
                    <a:pt x="126" y="103"/>
                    <a:pt x="124" y="104"/>
                    <a:pt x="122" y="102"/>
                  </a:cubicBezTo>
                  <a:cubicBezTo>
                    <a:pt x="111" y="91"/>
                    <a:pt x="111" y="91"/>
                    <a:pt x="111" y="91"/>
                  </a:cubicBezTo>
                  <a:cubicBezTo>
                    <a:pt x="110" y="90"/>
                    <a:pt x="108" y="90"/>
                    <a:pt x="106" y="91"/>
                  </a:cubicBezTo>
                  <a:cubicBezTo>
                    <a:pt x="105" y="93"/>
                    <a:pt x="105" y="95"/>
                    <a:pt x="106" y="96"/>
                  </a:cubicBezTo>
                  <a:cubicBezTo>
                    <a:pt x="117" y="107"/>
                    <a:pt x="117" y="107"/>
                    <a:pt x="117" y="107"/>
                  </a:cubicBezTo>
                  <a:cubicBezTo>
                    <a:pt x="119" y="109"/>
                    <a:pt x="118" y="111"/>
                    <a:pt x="117" y="113"/>
                  </a:cubicBezTo>
                  <a:cubicBezTo>
                    <a:pt x="115" y="115"/>
                    <a:pt x="112" y="115"/>
                    <a:pt x="111" y="114"/>
                  </a:cubicBezTo>
                  <a:cubicBezTo>
                    <a:pt x="100" y="103"/>
                    <a:pt x="100" y="103"/>
                    <a:pt x="100" y="103"/>
                  </a:cubicBezTo>
                  <a:cubicBezTo>
                    <a:pt x="98" y="101"/>
                    <a:pt x="96" y="101"/>
                    <a:pt x="95" y="103"/>
                  </a:cubicBezTo>
                  <a:cubicBezTo>
                    <a:pt x="93" y="104"/>
                    <a:pt x="93" y="107"/>
                    <a:pt x="95" y="108"/>
                  </a:cubicBezTo>
                  <a:cubicBezTo>
                    <a:pt x="106" y="119"/>
                    <a:pt x="106" y="119"/>
                    <a:pt x="106" y="119"/>
                  </a:cubicBezTo>
                  <a:cubicBezTo>
                    <a:pt x="107" y="120"/>
                    <a:pt x="107" y="123"/>
                    <a:pt x="105" y="125"/>
                  </a:cubicBezTo>
                  <a:cubicBezTo>
                    <a:pt x="103" y="127"/>
                    <a:pt x="101" y="127"/>
                    <a:pt x="99" y="125"/>
                  </a:cubicBezTo>
                  <a:cubicBezTo>
                    <a:pt x="88" y="114"/>
                    <a:pt x="88" y="114"/>
                    <a:pt x="88" y="114"/>
                  </a:cubicBezTo>
                  <a:cubicBezTo>
                    <a:pt x="87" y="113"/>
                    <a:pt x="85" y="113"/>
                    <a:pt x="83" y="114"/>
                  </a:cubicBezTo>
                  <a:cubicBezTo>
                    <a:pt x="82" y="116"/>
                    <a:pt x="82" y="118"/>
                    <a:pt x="83" y="120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6" y="132"/>
                    <a:pt x="95" y="135"/>
                    <a:pt x="93" y="136"/>
                  </a:cubicBezTo>
                  <a:cubicBezTo>
                    <a:pt x="92" y="138"/>
                    <a:pt x="89" y="138"/>
                    <a:pt x="88" y="137"/>
                  </a:cubicBezTo>
                  <a:cubicBezTo>
                    <a:pt x="74" y="124"/>
                    <a:pt x="74" y="124"/>
                    <a:pt x="74" y="124"/>
                  </a:cubicBezTo>
                  <a:cubicBezTo>
                    <a:pt x="76" y="121"/>
                    <a:pt x="76" y="116"/>
                    <a:pt x="73" y="114"/>
                  </a:cubicBezTo>
                  <a:cubicBezTo>
                    <a:pt x="70" y="110"/>
                    <a:pt x="65" y="110"/>
                    <a:pt x="62" y="113"/>
                  </a:cubicBezTo>
                  <a:cubicBezTo>
                    <a:pt x="65" y="110"/>
                    <a:pt x="65" y="105"/>
                    <a:pt x="61" y="102"/>
                  </a:cubicBezTo>
                  <a:cubicBezTo>
                    <a:pt x="58" y="99"/>
                    <a:pt x="53" y="99"/>
                    <a:pt x="50" y="101"/>
                  </a:cubicBezTo>
                  <a:cubicBezTo>
                    <a:pt x="53" y="99"/>
                    <a:pt x="53" y="94"/>
                    <a:pt x="50" y="91"/>
                  </a:cubicBezTo>
                  <a:cubicBezTo>
                    <a:pt x="47" y="87"/>
                    <a:pt x="42" y="87"/>
                    <a:pt x="39" y="90"/>
                  </a:cubicBezTo>
                  <a:cubicBezTo>
                    <a:pt x="42" y="87"/>
                    <a:pt x="41" y="82"/>
                    <a:pt x="38" y="79"/>
                  </a:cubicBezTo>
                  <a:cubicBezTo>
                    <a:pt x="35" y="76"/>
                    <a:pt x="31" y="76"/>
                    <a:pt x="28" y="78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5" y="55"/>
                    <a:pt x="3" y="55"/>
                    <a:pt x="1" y="56"/>
                  </a:cubicBezTo>
                  <a:cubicBezTo>
                    <a:pt x="0" y="58"/>
                    <a:pt x="0" y="60"/>
                    <a:pt x="1" y="61"/>
                  </a:cubicBezTo>
                  <a:cubicBezTo>
                    <a:pt x="23" y="83"/>
                    <a:pt x="23" y="83"/>
                    <a:pt x="23" y="83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4" y="92"/>
                    <a:pt x="14" y="97"/>
                    <a:pt x="17" y="100"/>
                  </a:cubicBezTo>
                  <a:cubicBezTo>
                    <a:pt x="20" y="103"/>
                    <a:pt x="25" y="104"/>
                    <a:pt x="28" y="101"/>
                  </a:cubicBezTo>
                  <a:cubicBezTo>
                    <a:pt x="25" y="104"/>
                    <a:pt x="25" y="109"/>
                    <a:pt x="29" y="112"/>
                  </a:cubicBezTo>
                  <a:cubicBezTo>
                    <a:pt x="32" y="115"/>
                    <a:pt x="37" y="115"/>
                    <a:pt x="39" y="112"/>
                  </a:cubicBezTo>
                  <a:cubicBezTo>
                    <a:pt x="37" y="115"/>
                    <a:pt x="37" y="120"/>
                    <a:pt x="40" y="123"/>
                  </a:cubicBezTo>
                  <a:cubicBezTo>
                    <a:pt x="43" y="127"/>
                    <a:pt x="48" y="127"/>
                    <a:pt x="51" y="124"/>
                  </a:cubicBezTo>
                  <a:cubicBezTo>
                    <a:pt x="48" y="127"/>
                    <a:pt x="48" y="132"/>
                    <a:pt x="52" y="135"/>
                  </a:cubicBezTo>
                  <a:cubicBezTo>
                    <a:pt x="55" y="138"/>
                    <a:pt x="60" y="138"/>
                    <a:pt x="62" y="136"/>
                  </a:cubicBezTo>
                  <a:cubicBezTo>
                    <a:pt x="69" y="129"/>
                    <a:pt x="69" y="129"/>
                    <a:pt x="69" y="129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7" y="146"/>
                    <a:pt x="94" y="146"/>
                    <a:pt x="99" y="141"/>
                  </a:cubicBezTo>
                  <a:cubicBezTo>
                    <a:pt x="101" y="139"/>
                    <a:pt x="102" y="136"/>
                    <a:pt x="102" y="134"/>
                  </a:cubicBezTo>
                  <a:cubicBezTo>
                    <a:pt x="105" y="133"/>
                    <a:pt x="108" y="132"/>
                    <a:pt x="110" y="130"/>
                  </a:cubicBezTo>
                  <a:cubicBezTo>
                    <a:pt x="112" y="128"/>
                    <a:pt x="114" y="125"/>
                    <a:pt x="114" y="122"/>
                  </a:cubicBezTo>
                  <a:cubicBezTo>
                    <a:pt x="117" y="122"/>
                    <a:pt x="119" y="121"/>
                    <a:pt x="122" y="118"/>
                  </a:cubicBezTo>
                  <a:cubicBezTo>
                    <a:pt x="124" y="116"/>
                    <a:pt x="125" y="113"/>
                    <a:pt x="125" y="110"/>
                  </a:cubicBezTo>
                  <a:cubicBezTo>
                    <a:pt x="128" y="110"/>
                    <a:pt x="131" y="109"/>
                    <a:pt x="133" y="107"/>
                  </a:cubicBezTo>
                  <a:cubicBezTo>
                    <a:pt x="138" y="102"/>
                    <a:pt x="138" y="95"/>
                    <a:pt x="134" y="91"/>
                  </a:cubicBezTo>
                  <a:cubicBezTo>
                    <a:pt x="128" y="85"/>
                    <a:pt x="128" y="85"/>
                    <a:pt x="128" y="8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3" y="61"/>
                    <a:pt x="153" y="58"/>
                    <a:pt x="151" y="57"/>
                  </a:cubicBezTo>
                  <a:lnTo>
                    <a:pt x="118" y="24"/>
                  </a:lnTo>
                  <a:close/>
                  <a:moveTo>
                    <a:pt x="173" y="32"/>
                  </a:moveTo>
                  <a:cubicBezTo>
                    <a:pt x="143" y="2"/>
                    <a:pt x="143" y="2"/>
                    <a:pt x="143" y="2"/>
                  </a:cubicBezTo>
                  <a:cubicBezTo>
                    <a:pt x="140" y="0"/>
                    <a:pt x="136" y="0"/>
                    <a:pt x="133" y="2"/>
                  </a:cubicBezTo>
                  <a:cubicBezTo>
                    <a:pt x="123" y="13"/>
                    <a:pt x="123" y="13"/>
                    <a:pt x="123" y="13"/>
                  </a:cubicBezTo>
                  <a:cubicBezTo>
                    <a:pt x="120" y="15"/>
                    <a:pt x="120" y="20"/>
                    <a:pt x="123" y="23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55" y="55"/>
                    <a:pt x="159" y="55"/>
                    <a:pt x="162" y="52"/>
                  </a:cubicBezTo>
                  <a:cubicBezTo>
                    <a:pt x="173" y="42"/>
                    <a:pt x="173" y="42"/>
                    <a:pt x="173" y="42"/>
                  </a:cubicBezTo>
                  <a:cubicBezTo>
                    <a:pt x="175" y="39"/>
                    <a:pt x="175" y="35"/>
                    <a:pt x="173" y="32"/>
                  </a:cubicBezTo>
                  <a:close/>
                  <a:moveTo>
                    <a:pt x="157" y="47"/>
                  </a:moveTo>
                  <a:cubicBezTo>
                    <a:pt x="154" y="47"/>
                    <a:pt x="151" y="44"/>
                    <a:pt x="151" y="41"/>
                  </a:cubicBezTo>
                  <a:cubicBezTo>
                    <a:pt x="151" y="37"/>
                    <a:pt x="154" y="35"/>
                    <a:pt x="157" y="35"/>
                  </a:cubicBezTo>
                  <a:cubicBezTo>
                    <a:pt x="160" y="35"/>
                    <a:pt x="163" y="37"/>
                    <a:pt x="163" y="41"/>
                  </a:cubicBezTo>
                  <a:cubicBezTo>
                    <a:pt x="163" y="44"/>
                    <a:pt x="160" y="47"/>
                    <a:pt x="157" y="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2434D79-85F1-A1C2-5BCE-C31F3AC7A8F6}"/>
              </a:ext>
            </a:extLst>
          </p:cNvPr>
          <p:cNvGrpSpPr/>
          <p:nvPr/>
        </p:nvGrpSpPr>
        <p:grpSpPr>
          <a:xfrm>
            <a:off x="6773570" y="2930418"/>
            <a:ext cx="1272971" cy="1272971"/>
            <a:chOff x="6773570" y="2930418"/>
            <a:chExt cx="1272971" cy="1272971"/>
          </a:xfrm>
        </p:grpSpPr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72951542-F861-9048-339B-5B0A32B8E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570" y="2930418"/>
              <a:ext cx="1272971" cy="1272971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250939B6-CE1B-6684-E90B-661EB2241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9032" y="3035880"/>
              <a:ext cx="1062047" cy="1062047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E015678-704D-415B-C77A-45FE57FC17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1931" y="3258165"/>
              <a:ext cx="616249" cy="617477"/>
            </a:xfrm>
            <a:custGeom>
              <a:avLst/>
              <a:gdLst>
                <a:gd name="T0" fmla="*/ 106 w 251"/>
                <a:gd name="T1" fmla="*/ 60 h 251"/>
                <a:gd name="T2" fmla="*/ 79 w 251"/>
                <a:gd name="T3" fmla="*/ 75 h 251"/>
                <a:gd name="T4" fmla="*/ 78 w 251"/>
                <a:gd name="T5" fmla="*/ 81 h 251"/>
                <a:gd name="T6" fmla="*/ 81 w 251"/>
                <a:gd name="T7" fmla="*/ 82 h 251"/>
                <a:gd name="T8" fmla="*/ 84 w 251"/>
                <a:gd name="T9" fmla="*/ 81 h 251"/>
                <a:gd name="T10" fmla="*/ 108 w 251"/>
                <a:gd name="T11" fmla="*/ 68 h 251"/>
                <a:gd name="T12" fmla="*/ 110 w 251"/>
                <a:gd name="T13" fmla="*/ 63 h 251"/>
                <a:gd name="T14" fmla="*/ 106 w 251"/>
                <a:gd name="T15" fmla="*/ 60 h 251"/>
                <a:gd name="T16" fmla="*/ 71 w 251"/>
                <a:gd name="T17" fmla="*/ 91 h 251"/>
                <a:gd name="T18" fmla="*/ 66 w 251"/>
                <a:gd name="T19" fmla="*/ 92 h 251"/>
                <a:gd name="T20" fmla="*/ 62 w 251"/>
                <a:gd name="T21" fmla="*/ 101 h 251"/>
                <a:gd name="T22" fmla="*/ 64 w 251"/>
                <a:gd name="T23" fmla="*/ 106 h 251"/>
                <a:gd name="T24" fmla="*/ 65 w 251"/>
                <a:gd name="T25" fmla="*/ 107 h 251"/>
                <a:gd name="T26" fmla="*/ 69 w 251"/>
                <a:gd name="T27" fmla="*/ 104 h 251"/>
                <a:gd name="T28" fmla="*/ 72 w 251"/>
                <a:gd name="T29" fmla="*/ 96 h 251"/>
                <a:gd name="T30" fmla="*/ 71 w 251"/>
                <a:gd name="T31" fmla="*/ 91 h 251"/>
                <a:gd name="T32" fmla="*/ 243 w 251"/>
                <a:gd name="T33" fmla="*/ 119 h 251"/>
                <a:gd name="T34" fmla="*/ 221 w 251"/>
                <a:gd name="T35" fmla="*/ 119 h 251"/>
                <a:gd name="T36" fmla="*/ 137 w 251"/>
                <a:gd name="T37" fmla="*/ 29 h 251"/>
                <a:gd name="T38" fmla="*/ 137 w 251"/>
                <a:gd name="T39" fmla="*/ 8 h 251"/>
                <a:gd name="T40" fmla="*/ 129 w 251"/>
                <a:gd name="T41" fmla="*/ 0 h 251"/>
                <a:gd name="T42" fmla="*/ 121 w 251"/>
                <a:gd name="T43" fmla="*/ 8 h 251"/>
                <a:gd name="T44" fmla="*/ 121 w 251"/>
                <a:gd name="T45" fmla="*/ 29 h 251"/>
                <a:gd name="T46" fmla="*/ 32 w 251"/>
                <a:gd name="T47" fmla="*/ 119 h 251"/>
                <a:gd name="T48" fmla="*/ 8 w 251"/>
                <a:gd name="T49" fmla="*/ 119 h 251"/>
                <a:gd name="T50" fmla="*/ 0 w 251"/>
                <a:gd name="T51" fmla="*/ 127 h 251"/>
                <a:gd name="T52" fmla="*/ 8 w 251"/>
                <a:gd name="T53" fmla="*/ 135 h 251"/>
                <a:gd name="T54" fmla="*/ 33 w 251"/>
                <a:gd name="T55" fmla="*/ 135 h 251"/>
                <a:gd name="T56" fmla="*/ 121 w 251"/>
                <a:gd name="T57" fmla="*/ 217 h 251"/>
                <a:gd name="T58" fmla="*/ 121 w 251"/>
                <a:gd name="T59" fmla="*/ 243 h 251"/>
                <a:gd name="T60" fmla="*/ 129 w 251"/>
                <a:gd name="T61" fmla="*/ 251 h 251"/>
                <a:gd name="T62" fmla="*/ 137 w 251"/>
                <a:gd name="T63" fmla="*/ 243 h 251"/>
                <a:gd name="T64" fmla="*/ 137 w 251"/>
                <a:gd name="T65" fmla="*/ 217 h 251"/>
                <a:gd name="T66" fmla="*/ 220 w 251"/>
                <a:gd name="T67" fmla="*/ 135 h 251"/>
                <a:gd name="T68" fmla="*/ 243 w 251"/>
                <a:gd name="T69" fmla="*/ 135 h 251"/>
                <a:gd name="T70" fmla="*/ 251 w 251"/>
                <a:gd name="T71" fmla="*/ 127 h 251"/>
                <a:gd name="T72" fmla="*/ 243 w 251"/>
                <a:gd name="T73" fmla="*/ 119 h 251"/>
                <a:gd name="T74" fmla="*/ 189 w 251"/>
                <a:gd name="T75" fmla="*/ 135 h 251"/>
                <a:gd name="T76" fmla="*/ 205 w 251"/>
                <a:gd name="T77" fmla="*/ 135 h 251"/>
                <a:gd name="T78" fmla="*/ 137 w 251"/>
                <a:gd name="T79" fmla="*/ 202 h 251"/>
                <a:gd name="T80" fmla="*/ 137 w 251"/>
                <a:gd name="T81" fmla="*/ 189 h 251"/>
                <a:gd name="T82" fmla="*/ 129 w 251"/>
                <a:gd name="T83" fmla="*/ 181 h 251"/>
                <a:gd name="T84" fmla="*/ 121 w 251"/>
                <a:gd name="T85" fmla="*/ 189 h 251"/>
                <a:gd name="T86" fmla="*/ 121 w 251"/>
                <a:gd name="T87" fmla="*/ 202 h 251"/>
                <a:gd name="T88" fmla="*/ 48 w 251"/>
                <a:gd name="T89" fmla="*/ 135 h 251"/>
                <a:gd name="T90" fmla="*/ 62 w 251"/>
                <a:gd name="T91" fmla="*/ 135 h 251"/>
                <a:gd name="T92" fmla="*/ 69 w 251"/>
                <a:gd name="T93" fmla="*/ 127 h 251"/>
                <a:gd name="T94" fmla="*/ 62 w 251"/>
                <a:gd name="T95" fmla="*/ 119 h 251"/>
                <a:gd name="T96" fmla="*/ 48 w 251"/>
                <a:gd name="T97" fmla="*/ 119 h 251"/>
                <a:gd name="T98" fmla="*/ 121 w 251"/>
                <a:gd name="T99" fmla="*/ 44 h 251"/>
                <a:gd name="T100" fmla="*/ 121 w 251"/>
                <a:gd name="T101" fmla="*/ 62 h 251"/>
                <a:gd name="T102" fmla="*/ 129 w 251"/>
                <a:gd name="T103" fmla="*/ 69 h 251"/>
                <a:gd name="T104" fmla="*/ 137 w 251"/>
                <a:gd name="T105" fmla="*/ 62 h 251"/>
                <a:gd name="T106" fmla="*/ 137 w 251"/>
                <a:gd name="T107" fmla="*/ 45 h 251"/>
                <a:gd name="T108" fmla="*/ 206 w 251"/>
                <a:gd name="T109" fmla="*/ 119 h 251"/>
                <a:gd name="T110" fmla="*/ 189 w 251"/>
                <a:gd name="T111" fmla="*/ 119 h 251"/>
                <a:gd name="T112" fmla="*/ 181 w 251"/>
                <a:gd name="T113" fmla="*/ 127 h 251"/>
                <a:gd name="T114" fmla="*/ 189 w 251"/>
                <a:gd name="T115" fmla="*/ 135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" h="251">
                  <a:moveTo>
                    <a:pt x="106" y="60"/>
                  </a:moveTo>
                  <a:cubicBezTo>
                    <a:pt x="96" y="63"/>
                    <a:pt x="86" y="68"/>
                    <a:pt x="79" y="75"/>
                  </a:cubicBezTo>
                  <a:cubicBezTo>
                    <a:pt x="77" y="77"/>
                    <a:pt x="77" y="79"/>
                    <a:pt x="78" y="81"/>
                  </a:cubicBezTo>
                  <a:cubicBezTo>
                    <a:pt x="79" y="82"/>
                    <a:pt x="80" y="82"/>
                    <a:pt x="81" y="82"/>
                  </a:cubicBezTo>
                  <a:cubicBezTo>
                    <a:pt x="82" y="82"/>
                    <a:pt x="83" y="82"/>
                    <a:pt x="84" y="81"/>
                  </a:cubicBezTo>
                  <a:cubicBezTo>
                    <a:pt x="91" y="75"/>
                    <a:pt x="99" y="70"/>
                    <a:pt x="108" y="68"/>
                  </a:cubicBezTo>
                  <a:cubicBezTo>
                    <a:pt x="110" y="67"/>
                    <a:pt x="111" y="65"/>
                    <a:pt x="110" y="63"/>
                  </a:cubicBezTo>
                  <a:cubicBezTo>
                    <a:pt x="110" y="61"/>
                    <a:pt x="108" y="60"/>
                    <a:pt x="106" y="60"/>
                  </a:cubicBezTo>
                  <a:close/>
                  <a:moveTo>
                    <a:pt x="71" y="91"/>
                  </a:moveTo>
                  <a:cubicBezTo>
                    <a:pt x="69" y="90"/>
                    <a:pt x="67" y="90"/>
                    <a:pt x="66" y="92"/>
                  </a:cubicBezTo>
                  <a:cubicBezTo>
                    <a:pt x="64" y="95"/>
                    <a:pt x="63" y="98"/>
                    <a:pt x="62" y="101"/>
                  </a:cubicBezTo>
                  <a:cubicBezTo>
                    <a:pt x="61" y="103"/>
                    <a:pt x="62" y="106"/>
                    <a:pt x="64" y="106"/>
                  </a:cubicBezTo>
                  <a:cubicBezTo>
                    <a:pt x="64" y="106"/>
                    <a:pt x="65" y="107"/>
                    <a:pt x="65" y="107"/>
                  </a:cubicBezTo>
                  <a:cubicBezTo>
                    <a:pt x="67" y="107"/>
                    <a:pt x="68" y="106"/>
                    <a:pt x="69" y="104"/>
                  </a:cubicBezTo>
                  <a:cubicBezTo>
                    <a:pt x="70" y="101"/>
                    <a:pt x="71" y="99"/>
                    <a:pt x="72" y="96"/>
                  </a:cubicBezTo>
                  <a:cubicBezTo>
                    <a:pt x="73" y="94"/>
                    <a:pt x="73" y="92"/>
                    <a:pt x="71" y="91"/>
                  </a:cubicBezTo>
                  <a:close/>
                  <a:moveTo>
                    <a:pt x="243" y="119"/>
                  </a:moveTo>
                  <a:cubicBezTo>
                    <a:pt x="221" y="119"/>
                    <a:pt x="221" y="119"/>
                    <a:pt x="221" y="119"/>
                  </a:cubicBezTo>
                  <a:cubicBezTo>
                    <a:pt x="219" y="72"/>
                    <a:pt x="183" y="34"/>
                    <a:pt x="137" y="29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7" y="3"/>
                    <a:pt x="133" y="0"/>
                    <a:pt x="129" y="0"/>
                  </a:cubicBezTo>
                  <a:cubicBezTo>
                    <a:pt x="125" y="0"/>
                    <a:pt x="121" y="3"/>
                    <a:pt x="121" y="8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73" y="32"/>
                    <a:pt x="34" y="71"/>
                    <a:pt x="32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3" y="119"/>
                    <a:pt x="0" y="123"/>
                    <a:pt x="0" y="127"/>
                  </a:cubicBezTo>
                  <a:cubicBezTo>
                    <a:pt x="0" y="131"/>
                    <a:pt x="3" y="135"/>
                    <a:pt x="8" y="135"/>
                  </a:cubicBezTo>
                  <a:cubicBezTo>
                    <a:pt x="33" y="135"/>
                    <a:pt x="33" y="135"/>
                    <a:pt x="33" y="135"/>
                  </a:cubicBezTo>
                  <a:cubicBezTo>
                    <a:pt x="38" y="180"/>
                    <a:pt x="75" y="215"/>
                    <a:pt x="121" y="217"/>
                  </a:cubicBezTo>
                  <a:cubicBezTo>
                    <a:pt x="121" y="243"/>
                    <a:pt x="121" y="243"/>
                    <a:pt x="121" y="243"/>
                  </a:cubicBezTo>
                  <a:cubicBezTo>
                    <a:pt x="121" y="247"/>
                    <a:pt x="125" y="251"/>
                    <a:pt x="129" y="251"/>
                  </a:cubicBezTo>
                  <a:cubicBezTo>
                    <a:pt x="133" y="251"/>
                    <a:pt x="137" y="247"/>
                    <a:pt x="137" y="243"/>
                  </a:cubicBezTo>
                  <a:cubicBezTo>
                    <a:pt x="137" y="217"/>
                    <a:pt x="137" y="217"/>
                    <a:pt x="137" y="217"/>
                  </a:cubicBezTo>
                  <a:cubicBezTo>
                    <a:pt x="180" y="213"/>
                    <a:pt x="215" y="178"/>
                    <a:pt x="220" y="135"/>
                  </a:cubicBezTo>
                  <a:cubicBezTo>
                    <a:pt x="243" y="135"/>
                    <a:pt x="243" y="135"/>
                    <a:pt x="243" y="135"/>
                  </a:cubicBezTo>
                  <a:cubicBezTo>
                    <a:pt x="247" y="135"/>
                    <a:pt x="251" y="131"/>
                    <a:pt x="251" y="127"/>
                  </a:cubicBezTo>
                  <a:cubicBezTo>
                    <a:pt x="251" y="123"/>
                    <a:pt x="247" y="119"/>
                    <a:pt x="243" y="119"/>
                  </a:cubicBezTo>
                  <a:close/>
                  <a:moveTo>
                    <a:pt x="189" y="135"/>
                  </a:moveTo>
                  <a:cubicBezTo>
                    <a:pt x="205" y="135"/>
                    <a:pt x="205" y="135"/>
                    <a:pt x="205" y="135"/>
                  </a:cubicBezTo>
                  <a:cubicBezTo>
                    <a:pt x="200" y="170"/>
                    <a:pt x="172" y="197"/>
                    <a:pt x="137" y="202"/>
                  </a:cubicBezTo>
                  <a:cubicBezTo>
                    <a:pt x="137" y="189"/>
                    <a:pt x="137" y="189"/>
                    <a:pt x="137" y="189"/>
                  </a:cubicBezTo>
                  <a:cubicBezTo>
                    <a:pt x="137" y="185"/>
                    <a:pt x="133" y="181"/>
                    <a:pt x="129" y="181"/>
                  </a:cubicBezTo>
                  <a:cubicBezTo>
                    <a:pt x="125" y="181"/>
                    <a:pt x="121" y="185"/>
                    <a:pt x="121" y="189"/>
                  </a:cubicBezTo>
                  <a:cubicBezTo>
                    <a:pt x="121" y="202"/>
                    <a:pt x="121" y="202"/>
                    <a:pt x="121" y="202"/>
                  </a:cubicBezTo>
                  <a:cubicBezTo>
                    <a:pt x="84" y="199"/>
                    <a:pt x="54" y="171"/>
                    <a:pt x="48" y="135"/>
                  </a:cubicBezTo>
                  <a:cubicBezTo>
                    <a:pt x="62" y="135"/>
                    <a:pt x="62" y="135"/>
                    <a:pt x="62" y="135"/>
                  </a:cubicBezTo>
                  <a:cubicBezTo>
                    <a:pt x="66" y="135"/>
                    <a:pt x="69" y="131"/>
                    <a:pt x="69" y="127"/>
                  </a:cubicBezTo>
                  <a:cubicBezTo>
                    <a:pt x="69" y="123"/>
                    <a:pt x="66" y="119"/>
                    <a:pt x="62" y="119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50" y="79"/>
                    <a:pt x="81" y="47"/>
                    <a:pt x="121" y="44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66"/>
                    <a:pt x="125" y="69"/>
                    <a:pt x="129" y="69"/>
                  </a:cubicBezTo>
                  <a:cubicBezTo>
                    <a:pt x="133" y="69"/>
                    <a:pt x="137" y="66"/>
                    <a:pt x="137" y="62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174" y="49"/>
                    <a:pt x="204" y="81"/>
                    <a:pt x="206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5" y="119"/>
                    <a:pt x="181" y="123"/>
                    <a:pt x="181" y="127"/>
                  </a:cubicBezTo>
                  <a:cubicBezTo>
                    <a:pt x="181" y="131"/>
                    <a:pt x="185" y="135"/>
                    <a:pt x="189" y="1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D8EC64-81D4-30DA-B60B-2B3A599CEF8A}"/>
              </a:ext>
            </a:extLst>
          </p:cNvPr>
          <p:cNvGrpSpPr/>
          <p:nvPr/>
        </p:nvGrpSpPr>
        <p:grpSpPr>
          <a:xfrm>
            <a:off x="9459525" y="1990083"/>
            <a:ext cx="1272971" cy="1272971"/>
            <a:chOff x="9459525" y="1990083"/>
            <a:chExt cx="1272971" cy="1272971"/>
          </a:xfrm>
        </p:grpSpPr>
        <p:sp>
          <p:nvSpPr>
            <p:cNvPr id="15" name="Oval 7">
              <a:extLst>
                <a:ext uri="{FF2B5EF4-FFF2-40B4-BE49-F238E27FC236}">
                  <a16:creationId xmlns:a16="http://schemas.microsoft.com/office/drawing/2014/main" id="{2350276B-9DB2-024B-6B0F-517E84EB3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525" y="1990083"/>
              <a:ext cx="1272971" cy="1272971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8">
              <a:extLst>
                <a:ext uri="{FF2B5EF4-FFF2-40B4-BE49-F238E27FC236}">
                  <a16:creationId xmlns:a16="http://schemas.microsoft.com/office/drawing/2014/main" id="{3CC2C142-3C2E-2656-A014-DDCF0BE39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4987" y="2095545"/>
              <a:ext cx="1062047" cy="1062047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12F4C22B-2E33-68FF-F2C3-A228C29771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88057" y="2377024"/>
              <a:ext cx="415906" cy="499088"/>
            </a:xfrm>
            <a:custGeom>
              <a:avLst/>
              <a:gdLst>
                <a:gd name="T0" fmla="*/ 140 w 140"/>
                <a:gd name="T1" fmla="*/ 27 h 168"/>
                <a:gd name="T2" fmla="*/ 140 w 140"/>
                <a:gd name="T3" fmla="*/ 9 h 168"/>
                <a:gd name="T4" fmla="*/ 78 w 140"/>
                <a:gd name="T5" fmla="*/ 9 h 168"/>
                <a:gd name="T6" fmla="*/ 78 w 140"/>
                <a:gd name="T7" fmla="*/ 7 h 168"/>
                <a:gd name="T8" fmla="*/ 70 w 140"/>
                <a:gd name="T9" fmla="*/ 0 h 168"/>
                <a:gd name="T10" fmla="*/ 63 w 140"/>
                <a:gd name="T11" fmla="*/ 7 h 168"/>
                <a:gd name="T12" fmla="*/ 63 w 140"/>
                <a:gd name="T13" fmla="*/ 9 h 168"/>
                <a:gd name="T14" fmla="*/ 0 w 140"/>
                <a:gd name="T15" fmla="*/ 9 h 168"/>
                <a:gd name="T16" fmla="*/ 0 w 140"/>
                <a:gd name="T17" fmla="*/ 27 h 168"/>
                <a:gd name="T18" fmla="*/ 11 w 140"/>
                <a:gd name="T19" fmla="*/ 27 h 168"/>
                <a:gd name="T20" fmla="*/ 11 w 140"/>
                <a:gd name="T21" fmla="*/ 106 h 168"/>
                <a:gd name="T22" fmla="*/ 0 w 140"/>
                <a:gd name="T23" fmla="*/ 106 h 168"/>
                <a:gd name="T24" fmla="*/ 0 w 140"/>
                <a:gd name="T25" fmla="*/ 124 h 168"/>
                <a:gd name="T26" fmla="*/ 57 w 140"/>
                <a:gd name="T27" fmla="*/ 124 h 168"/>
                <a:gd name="T28" fmla="*/ 18 w 140"/>
                <a:gd name="T29" fmla="*/ 157 h 168"/>
                <a:gd name="T30" fmla="*/ 18 w 140"/>
                <a:gd name="T31" fmla="*/ 165 h 168"/>
                <a:gd name="T32" fmla="*/ 26 w 140"/>
                <a:gd name="T33" fmla="*/ 166 h 168"/>
                <a:gd name="T34" fmla="*/ 70 w 140"/>
                <a:gd name="T35" fmla="*/ 128 h 168"/>
                <a:gd name="T36" fmla="*/ 114 w 140"/>
                <a:gd name="T37" fmla="*/ 166 h 168"/>
                <a:gd name="T38" fmla="*/ 118 w 140"/>
                <a:gd name="T39" fmla="*/ 167 h 168"/>
                <a:gd name="T40" fmla="*/ 123 w 140"/>
                <a:gd name="T41" fmla="*/ 165 h 168"/>
                <a:gd name="T42" fmla="*/ 122 w 140"/>
                <a:gd name="T43" fmla="*/ 157 h 168"/>
                <a:gd name="T44" fmla="*/ 84 w 140"/>
                <a:gd name="T45" fmla="*/ 124 h 168"/>
                <a:gd name="T46" fmla="*/ 140 w 140"/>
                <a:gd name="T47" fmla="*/ 124 h 168"/>
                <a:gd name="T48" fmla="*/ 140 w 140"/>
                <a:gd name="T49" fmla="*/ 106 h 168"/>
                <a:gd name="T50" fmla="*/ 130 w 140"/>
                <a:gd name="T51" fmla="*/ 106 h 168"/>
                <a:gd name="T52" fmla="*/ 130 w 140"/>
                <a:gd name="T53" fmla="*/ 27 h 168"/>
                <a:gd name="T54" fmla="*/ 140 w 140"/>
                <a:gd name="T55" fmla="*/ 27 h 168"/>
                <a:gd name="T56" fmla="*/ 118 w 140"/>
                <a:gd name="T57" fmla="*/ 106 h 168"/>
                <a:gd name="T58" fmla="*/ 23 w 140"/>
                <a:gd name="T59" fmla="*/ 106 h 168"/>
                <a:gd name="T60" fmla="*/ 23 w 140"/>
                <a:gd name="T61" fmla="*/ 27 h 168"/>
                <a:gd name="T62" fmla="*/ 118 w 140"/>
                <a:gd name="T63" fmla="*/ 27 h 168"/>
                <a:gd name="T64" fmla="*/ 118 w 140"/>
                <a:gd name="T65" fmla="*/ 106 h 168"/>
                <a:gd name="T66" fmla="*/ 67 w 140"/>
                <a:gd name="T67" fmla="*/ 37 h 168"/>
                <a:gd name="T68" fmla="*/ 33 w 140"/>
                <a:gd name="T69" fmla="*/ 37 h 168"/>
                <a:gd name="T70" fmla="*/ 33 w 140"/>
                <a:gd name="T71" fmla="*/ 92 h 168"/>
                <a:gd name="T72" fmla="*/ 67 w 140"/>
                <a:gd name="T73" fmla="*/ 92 h 168"/>
                <a:gd name="T74" fmla="*/ 67 w 140"/>
                <a:gd name="T75" fmla="*/ 37 h 168"/>
                <a:gd name="T76" fmla="*/ 110 w 140"/>
                <a:gd name="T77" fmla="*/ 38 h 168"/>
                <a:gd name="T78" fmla="*/ 81 w 140"/>
                <a:gd name="T79" fmla="*/ 38 h 168"/>
                <a:gd name="T80" fmla="*/ 81 w 140"/>
                <a:gd name="T81" fmla="*/ 46 h 168"/>
                <a:gd name="T82" fmla="*/ 110 w 140"/>
                <a:gd name="T83" fmla="*/ 46 h 168"/>
                <a:gd name="T84" fmla="*/ 110 w 140"/>
                <a:gd name="T85" fmla="*/ 38 h 168"/>
                <a:gd name="T86" fmla="*/ 110 w 140"/>
                <a:gd name="T87" fmla="*/ 61 h 168"/>
                <a:gd name="T88" fmla="*/ 81 w 140"/>
                <a:gd name="T89" fmla="*/ 61 h 168"/>
                <a:gd name="T90" fmla="*/ 81 w 140"/>
                <a:gd name="T91" fmla="*/ 69 h 168"/>
                <a:gd name="T92" fmla="*/ 110 w 140"/>
                <a:gd name="T93" fmla="*/ 69 h 168"/>
                <a:gd name="T94" fmla="*/ 110 w 140"/>
                <a:gd name="T95" fmla="*/ 61 h 168"/>
                <a:gd name="T96" fmla="*/ 110 w 140"/>
                <a:gd name="T97" fmla="*/ 84 h 168"/>
                <a:gd name="T98" fmla="*/ 81 w 140"/>
                <a:gd name="T99" fmla="*/ 84 h 168"/>
                <a:gd name="T100" fmla="*/ 81 w 140"/>
                <a:gd name="T101" fmla="*/ 92 h 168"/>
                <a:gd name="T102" fmla="*/ 110 w 140"/>
                <a:gd name="T103" fmla="*/ 92 h 168"/>
                <a:gd name="T104" fmla="*/ 110 w 140"/>
                <a:gd name="T105" fmla="*/ 8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0" h="168">
                  <a:moveTo>
                    <a:pt x="140" y="27"/>
                  </a:moveTo>
                  <a:cubicBezTo>
                    <a:pt x="140" y="9"/>
                    <a:pt x="140" y="9"/>
                    <a:pt x="140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3"/>
                    <a:pt x="74" y="0"/>
                    <a:pt x="70" y="0"/>
                  </a:cubicBezTo>
                  <a:cubicBezTo>
                    <a:pt x="66" y="0"/>
                    <a:pt x="63" y="3"/>
                    <a:pt x="63" y="7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106"/>
                    <a:pt x="11" y="106"/>
                    <a:pt x="11" y="10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18" y="157"/>
                    <a:pt x="18" y="157"/>
                    <a:pt x="18" y="157"/>
                  </a:cubicBezTo>
                  <a:cubicBezTo>
                    <a:pt x="16" y="159"/>
                    <a:pt x="16" y="163"/>
                    <a:pt x="18" y="165"/>
                  </a:cubicBezTo>
                  <a:cubicBezTo>
                    <a:pt x="20" y="168"/>
                    <a:pt x="24" y="168"/>
                    <a:pt x="26" y="166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114" y="166"/>
                    <a:pt x="114" y="166"/>
                    <a:pt x="114" y="166"/>
                  </a:cubicBezTo>
                  <a:cubicBezTo>
                    <a:pt x="116" y="167"/>
                    <a:pt x="117" y="167"/>
                    <a:pt x="118" y="167"/>
                  </a:cubicBezTo>
                  <a:cubicBezTo>
                    <a:pt x="120" y="167"/>
                    <a:pt x="122" y="167"/>
                    <a:pt x="123" y="165"/>
                  </a:cubicBezTo>
                  <a:cubicBezTo>
                    <a:pt x="125" y="163"/>
                    <a:pt x="125" y="159"/>
                    <a:pt x="122" y="157"/>
                  </a:cubicBezTo>
                  <a:cubicBezTo>
                    <a:pt x="84" y="124"/>
                    <a:pt x="84" y="124"/>
                    <a:pt x="84" y="124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06"/>
                    <a:pt x="140" y="106"/>
                    <a:pt x="140" y="106"/>
                  </a:cubicBezTo>
                  <a:cubicBezTo>
                    <a:pt x="130" y="106"/>
                    <a:pt x="130" y="106"/>
                    <a:pt x="130" y="106"/>
                  </a:cubicBezTo>
                  <a:cubicBezTo>
                    <a:pt x="130" y="27"/>
                    <a:pt x="130" y="27"/>
                    <a:pt x="130" y="27"/>
                  </a:cubicBezTo>
                  <a:lnTo>
                    <a:pt x="140" y="27"/>
                  </a:lnTo>
                  <a:close/>
                  <a:moveTo>
                    <a:pt x="118" y="106"/>
                  </a:moveTo>
                  <a:cubicBezTo>
                    <a:pt x="23" y="106"/>
                    <a:pt x="23" y="106"/>
                    <a:pt x="23" y="106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118" y="27"/>
                    <a:pt x="118" y="27"/>
                    <a:pt x="118" y="27"/>
                  </a:cubicBezTo>
                  <a:lnTo>
                    <a:pt x="118" y="106"/>
                  </a:lnTo>
                  <a:close/>
                  <a:moveTo>
                    <a:pt x="67" y="37"/>
                  </a:moveTo>
                  <a:cubicBezTo>
                    <a:pt x="33" y="37"/>
                    <a:pt x="33" y="37"/>
                    <a:pt x="33" y="37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67" y="92"/>
                    <a:pt x="67" y="92"/>
                    <a:pt x="67" y="92"/>
                  </a:cubicBezTo>
                  <a:lnTo>
                    <a:pt x="67" y="37"/>
                  </a:lnTo>
                  <a:close/>
                  <a:moveTo>
                    <a:pt x="110" y="38"/>
                  </a:moveTo>
                  <a:cubicBezTo>
                    <a:pt x="81" y="38"/>
                    <a:pt x="81" y="38"/>
                    <a:pt x="81" y="38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110" y="46"/>
                    <a:pt x="110" y="46"/>
                    <a:pt x="110" y="46"/>
                  </a:cubicBezTo>
                  <a:lnTo>
                    <a:pt x="110" y="38"/>
                  </a:lnTo>
                  <a:close/>
                  <a:moveTo>
                    <a:pt x="110" y="61"/>
                  </a:moveTo>
                  <a:cubicBezTo>
                    <a:pt x="81" y="61"/>
                    <a:pt x="81" y="61"/>
                    <a:pt x="81" y="6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110" y="69"/>
                    <a:pt x="110" y="69"/>
                    <a:pt x="110" y="69"/>
                  </a:cubicBezTo>
                  <a:lnTo>
                    <a:pt x="110" y="61"/>
                  </a:lnTo>
                  <a:close/>
                  <a:moveTo>
                    <a:pt x="110" y="84"/>
                  </a:moveTo>
                  <a:cubicBezTo>
                    <a:pt x="81" y="84"/>
                    <a:pt x="81" y="84"/>
                    <a:pt x="81" y="84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110" y="92"/>
                    <a:pt x="110" y="92"/>
                    <a:pt x="110" y="92"/>
                  </a:cubicBezTo>
                  <a:lnTo>
                    <a:pt x="110" y="84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B25CF77-943A-DB6F-8841-A79799F12071}"/>
              </a:ext>
            </a:extLst>
          </p:cNvPr>
          <p:cNvGrpSpPr/>
          <p:nvPr/>
        </p:nvGrpSpPr>
        <p:grpSpPr>
          <a:xfrm>
            <a:off x="1401816" y="3393468"/>
            <a:ext cx="1272971" cy="1272971"/>
            <a:chOff x="1401816" y="3393468"/>
            <a:chExt cx="1272971" cy="1272971"/>
          </a:xfrm>
        </p:grpSpPr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AC2915FD-00CD-4997-42DC-C798CB8B2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816" y="3393468"/>
              <a:ext cx="1272971" cy="1272971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9388C3CE-C4B6-29E1-F0D0-9A461B439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278" y="3498930"/>
              <a:ext cx="1062047" cy="1062047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2A06137E-F098-A528-C42E-770C2F5B60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06582" y="3810859"/>
              <a:ext cx="463439" cy="438188"/>
            </a:xfrm>
            <a:custGeom>
              <a:avLst/>
              <a:gdLst>
                <a:gd name="T0" fmla="*/ 124 w 156"/>
                <a:gd name="T1" fmla="*/ 19 h 147"/>
                <a:gd name="T2" fmla="*/ 87 w 156"/>
                <a:gd name="T3" fmla="*/ 19 h 147"/>
                <a:gd name="T4" fmla="*/ 87 w 156"/>
                <a:gd name="T5" fmla="*/ 9 h 147"/>
                <a:gd name="T6" fmla="*/ 78 w 156"/>
                <a:gd name="T7" fmla="*/ 0 h 147"/>
                <a:gd name="T8" fmla="*/ 55 w 156"/>
                <a:gd name="T9" fmla="*/ 0 h 147"/>
                <a:gd name="T10" fmla="*/ 46 w 156"/>
                <a:gd name="T11" fmla="*/ 9 h 147"/>
                <a:gd name="T12" fmla="*/ 46 w 156"/>
                <a:gd name="T13" fmla="*/ 19 h 147"/>
                <a:gd name="T14" fmla="*/ 9 w 156"/>
                <a:gd name="T15" fmla="*/ 19 h 147"/>
                <a:gd name="T16" fmla="*/ 0 w 156"/>
                <a:gd name="T17" fmla="*/ 28 h 147"/>
                <a:gd name="T18" fmla="*/ 0 w 156"/>
                <a:gd name="T19" fmla="*/ 74 h 147"/>
                <a:gd name="T20" fmla="*/ 9 w 156"/>
                <a:gd name="T21" fmla="*/ 83 h 147"/>
                <a:gd name="T22" fmla="*/ 46 w 156"/>
                <a:gd name="T23" fmla="*/ 83 h 147"/>
                <a:gd name="T24" fmla="*/ 46 w 156"/>
                <a:gd name="T25" fmla="*/ 138 h 147"/>
                <a:gd name="T26" fmla="*/ 55 w 156"/>
                <a:gd name="T27" fmla="*/ 147 h 147"/>
                <a:gd name="T28" fmla="*/ 78 w 156"/>
                <a:gd name="T29" fmla="*/ 147 h 147"/>
                <a:gd name="T30" fmla="*/ 87 w 156"/>
                <a:gd name="T31" fmla="*/ 138 h 147"/>
                <a:gd name="T32" fmla="*/ 87 w 156"/>
                <a:gd name="T33" fmla="*/ 83 h 147"/>
                <a:gd name="T34" fmla="*/ 124 w 156"/>
                <a:gd name="T35" fmla="*/ 83 h 147"/>
                <a:gd name="T36" fmla="*/ 156 w 156"/>
                <a:gd name="T37" fmla="*/ 51 h 147"/>
                <a:gd name="T38" fmla="*/ 124 w 156"/>
                <a:gd name="T39" fmla="*/ 19 h 147"/>
                <a:gd name="T40" fmla="*/ 60 w 156"/>
                <a:gd name="T41" fmla="*/ 14 h 147"/>
                <a:gd name="T42" fmla="*/ 74 w 156"/>
                <a:gd name="T43" fmla="*/ 14 h 147"/>
                <a:gd name="T44" fmla="*/ 74 w 156"/>
                <a:gd name="T45" fmla="*/ 19 h 147"/>
                <a:gd name="T46" fmla="*/ 60 w 156"/>
                <a:gd name="T47" fmla="*/ 19 h 147"/>
                <a:gd name="T48" fmla="*/ 60 w 156"/>
                <a:gd name="T49" fmla="*/ 14 h 147"/>
                <a:gd name="T50" fmla="*/ 74 w 156"/>
                <a:gd name="T51" fmla="*/ 134 h 147"/>
                <a:gd name="T52" fmla="*/ 60 w 156"/>
                <a:gd name="T53" fmla="*/ 134 h 147"/>
                <a:gd name="T54" fmla="*/ 60 w 156"/>
                <a:gd name="T55" fmla="*/ 83 h 147"/>
                <a:gd name="T56" fmla="*/ 74 w 156"/>
                <a:gd name="T57" fmla="*/ 83 h 147"/>
                <a:gd name="T58" fmla="*/ 74 w 156"/>
                <a:gd name="T59" fmla="*/ 134 h 147"/>
                <a:gd name="T60" fmla="*/ 118 w 156"/>
                <a:gd name="T61" fmla="*/ 69 h 147"/>
                <a:gd name="T62" fmla="*/ 14 w 156"/>
                <a:gd name="T63" fmla="*/ 69 h 147"/>
                <a:gd name="T64" fmla="*/ 14 w 156"/>
                <a:gd name="T65" fmla="*/ 33 h 147"/>
                <a:gd name="T66" fmla="*/ 118 w 156"/>
                <a:gd name="T67" fmla="*/ 33 h 147"/>
                <a:gd name="T68" fmla="*/ 137 w 156"/>
                <a:gd name="T69" fmla="*/ 51 h 147"/>
                <a:gd name="T70" fmla="*/ 118 w 156"/>
                <a:gd name="T71" fmla="*/ 69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6" h="147">
                  <a:moveTo>
                    <a:pt x="124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4"/>
                    <a:pt x="83" y="0"/>
                    <a:pt x="78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46" y="4"/>
                    <a:pt x="46" y="9"/>
                  </a:cubicBezTo>
                  <a:cubicBezTo>
                    <a:pt x="46" y="19"/>
                    <a:pt x="46" y="19"/>
                    <a:pt x="46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23"/>
                    <a:pt x="0" y="28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9"/>
                    <a:pt x="4" y="83"/>
                    <a:pt x="9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138"/>
                    <a:pt x="46" y="138"/>
                    <a:pt x="46" y="138"/>
                  </a:cubicBezTo>
                  <a:cubicBezTo>
                    <a:pt x="46" y="143"/>
                    <a:pt x="50" y="147"/>
                    <a:pt x="55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83" y="147"/>
                    <a:pt x="87" y="143"/>
                    <a:pt x="87" y="138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124" y="83"/>
                    <a:pt x="124" y="83"/>
                    <a:pt x="124" y="83"/>
                  </a:cubicBezTo>
                  <a:cubicBezTo>
                    <a:pt x="156" y="51"/>
                    <a:pt x="156" y="51"/>
                    <a:pt x="156" y="51"/>
                  </a:cubicBezTo>
                  <a:lnTo>
                    <a:pt x="124" y="19"/>
                  </a:lnTo>
                  <a:close/>
                  <a:moveTo>
                    <a:pt x="60" y="14"/>
                  </a:moveTo>
                  <a:cubicBezTo>
                    <a:pt x="74" y="14"/>
                    <a:pt x="74" y="14"/>
                    <a:pt x="74" y="14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60" y="19"/>
                    <a:pt x="60" y="19"/>
                    <a:pt x="60" y="19"/>
                  </a:cubicBezTo>
                  <a:lnTo>
                    <a:pt x="60" y="14"/>
                  </a:lnTo>
                  <a:close/>
                  <a:moveTo>
                    <a:pt x="74" y="134"/>
                  </a:moveTo>
                  <a:cubicBezTo>
                    <a:pt x="60" y="134"/>
                    <a:pt x="60" y="134"/>
                    <a:pt x="60" y="134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74" y="83"/>
                    <a:pt x="74" y="83"/>
                    <a:pt x="74" y="83"/>
                  </a:cubicBezTo>
                  <a:lnTo>
                    <a:pt x="74" y="134"/>
                  </a:lnTo>
                  <a:close/>
                  <a:moveTo>
                    <a:pt x="118" y="69"/>
                  </a:moveTo>
                  <a:cubicBezTo>
                    <a:pt x="14" y="69"/>
                    <a:pt x="14" y="69"/>
                    <a:pt x="14" y="69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37" y="51"/>
                    <a:pt x="137" y="51"/>
                    <a:pt x="137" y="51"/>
                  </a:cubicBezTo>
                  <a:lnTo>
                    <a:pt x="118" y="6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638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20000" decel="8000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20000" decel="8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accel="20000" decel="8000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accel="20000" decel="8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4" name="Straight Connector 703">
            <a:extLst>
              <a:ext uri="{FF2B5EF4-FFF2-40B4-BE49-F238E27FC236}">
                <a16:creationId xmlns:a16="http://schemas.microsoft.com/office/drawing/2014/main" id="{7A09E3DF-AFB9-0A44-6D58-E0288F694AB9}"/>
              </a:ext>
            </a:extLst>
          </p:cNvPr>
          <p:cNvCxnSpPr>
            <a:cxnSpLocks/>
          </p:cNvCxnSpPr>
          <p:nvPr/>
        </p:nvCxnSpPr>
        <p:spPr>
          <a:xfrm flipH="1">
            <a:off x="5727522" y="2237652"/>
            <a:ext cx="817" cy="55840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ECB7C4C1-4179-BBCC-31A0-19E390C58A3E}"/>
              </a:ext>
            </a:extLst>
          </p:cNvPr>
          <p:cNvCxnSpPr>
            <a:cxnSpLocks/>
          </p:cNvCxnSpPr>
          <p:nvPr/>
        </p:nvCxnSpPr>
        <p:spPr>
          <a:xfrm>
            <a:off x="2072329" y="4297980"/>
            <a:ext cx="0" cy="75970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55707EC3-C632-711F-AF35-1FA3856CF970}"/>
              </a:ext>
            </a:extLst>
          </p:cNvPr>
          <p:cNvGrpSpPr/>
          <p:nvPr/>
        </p:nvGrpSpPr>
        <p:grpSpPr>
          <a:xfrm>
            <a:off x="1801025" y="3943743"/>
            <a:ext cx="542611" cy="542611"/>
            <a:chOff x="2211049" y="2602523"/>
            <a:chExt cx="542611" cy="542611"/>
          </a:xfrm>
        </p:grpSpPr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AC44D3AF-2917-128C-39FD-38CD21FD301C}"/>
                </a:ext>
              </a:extLst>
            </p:cNvPr>
            <p:cNvSpPr/>
            <p:nvPr/>
          </p:nvSpPr>
          <p:spPr>
            <a:xfrm>
              <a:off x="2211049" y="2602523"/>
              <a:ext cx="542611" cy="542611"/>
            </a:xfrm>
            <a:prstGeom prst="ellipse">
              <a:avLst/>
            </a:prstGeom>
            <a:solidFill>
              <a:schemeClr val="tx1">
                <a:alpha val="25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D2221FCE-518D-CD36-731E-3FED43AB9207}"/>
                </a:ext>
              </a:extLst>
            </p:cNvPr>
            <p:cNvSpPr/>
            <p:nvPr/>
          </p:nvSpPr>
          <p:spPr>
            <a:xfrm>
              <a:off x="2291727" y="2623031"/>
              <a:ext cx="381134" cy="381134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708" name="Straight Connector 707">
            <a:extLst>
              <a:ext uri="{FF2B5EF4-FFF2-40B4-BE49-F238E27FC236}">
                <a16:creationId xmlns:a16="http://schemas.microsoft.com/office/drawing/2014/main" id="{74A4553C-CA2D-DCC7-DB4A-7BF013EC426A}"/>
              </a:ext>
            </a:extLst>
          </p:cNvPr>
          <p:cNvCxnSpPr>
            <a:cxnSpLocks/>
          </p:cNvCxnSpPr>
          <p:nvPr/>
        </p:nvCxnSpPr>
        <p:spPr>
          <a:xfrm>
            <a:off x="9952247" y="2235333"/>
            <a:ext cx="0" cy="61416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5" name="Group 704">
            <a:extLst>
              <a:ext uri="{FF2B5EF4-FFF2-40B4-BE49-F238E27FC236}">
                <a16:creationId xmlns:a16="http://schemas.microsoft.com/office/drawing/2014/main" id="{C3537540-585B-FF27-0C4B-431A6D4FFF77}"/>
              </a:ext>
            </a:extLst>
          </p:cNvPr>
          <p:cNvGrpSpPr/>
          <p:nvPr/>
        </p:nvGrpSpPr>
        <p:grpSpPr>
          <a:xfrm>
            <a:off x="9690745" y="2670745"/>
            <a:ext cx="542611" cy="542611"/>
            <a:chOff x="2211049" y="2602523"/>
            <a:chExt cx="542611" cy="542611"/>
          </a:xfrm>
        </p:grpSpPr>
        <p:sp>
          <p:nvSpPr>
            <p:cNvPr id="706" name="Oval 705">
              <a:extLst>
                <a:ext uri="{FF2B5EF4-FFF2-40B4-BE49-F238E27FC236}">
                  <a16:creationId xmlns:a16="http://schemas.microsoft.com/office/drawing/2014/main" id="{3703B699-1979-5218-5A2B-42D9E2D85749}"/>
                </a:ext>
              </a:extLst>
            </p:cNvPr>
            <p:cNvSpPr/>
            <p:nvPr/>
          </p:nvSpPr>
          <p:spPr>
            <a:xfrm>
              <a:off x="2211049" y="2602523"/>
              <a:ext cx="542611" cy="542611"/>
            </a:xfrm>
            <a:prstGeom prst="ellipse">
              <a:avLst/>
            </a:prstGeom>
            <a:solidFill>
              <a:schemeClr val="tx1">
                <a:alpha val="25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7" name="Oval 706">
              <a:extLst>
                <a:ext uri="{FF2B5EF4-FFF2-40B4-BE49-F238E27FC236}">
                  <a16:creationId xmlns:a16="http://schemas.microsoft.com/office/drawing/2014/main" id="{50674786-6BBB-7FDB-B6BD-61512D3CD16E}"/>
                </a:ext>
              </a:extLst>
            </p:cNvPr>
            <p:cNvSpPr/>
            <p:nvPr/>
          </p:nvSpPr>
          <p:spPr>
            <a:xfrm>
              <a:off x="2291727" y="2623031"/>
              <a:ext cx="381134" cy="381134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13" name="TextBox 712">
            <a:extLst>
              <a:ext uri="{FF2B5EF4-FFF2-40B4-BE49-F238E27FC236}">
                <a16:creationId xmlns:a16="http://schemas.microsoft.com/office/drawing/2014/main" id="{E6DDDFAA-1933-3105-BEE7-C34575FBCCC1}"/>
              </a:ext>
            </a:extLst>
          </p:cNvPr>
          <p:cNvSpPr txBox="1"/>
          <p:nvPr/>
        </p:nvSpPr>
        <p:spPr>
          <a:xfrm>
            <a:off x="1970492" y="6385423"/>
            <a:ext cx="2351425" cy="3087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s-ES_tradnl" b="1" noProof="1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Minimización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4" name="TextBox 713">
            <a:extLst>
              <a:ext uri="{FF2B5EF4-FFF2-40B4-BE49-F238E27FC236}">
                <a16:creationId xmlns:a16="http://schemas.microsoft.com/office/drawing/2014/main" id="{55E347B3-E438-ABAA-2186-34434972E038}"/>
              </a:ext>
            </a:extLst>
          </p:cNvPr>
          <p:cNvSpPr txBox="1"/>
          <p:nvPr/>
        </p:nvSpPr>
        <p:spPr>
          <a:xfrm>
            <a:off x="7795764" y="6385423"/>
            <a:ext cx="2351425" cy="3087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Gamma</a:t>
            </a:r>
          </a:p>
        </p:txBody>
      </p:sp>
      <p:sp>
        <p:nvSpPr>
          <p:cNvPr id="715" name="TextBox 714">
            <a:extLst>
              <a:ext uri="{FF2B5EF4-FFF2-40B4-BE49-F238E27FC236}">
                <a16:creationId xmlns:a16="http://schemas.microsoft.com/office/drawing/2014/main" id="{D8A7BF96-5D25-4293-9B5D-9A3F1F8A294B}"/>
              </a:ext>
            </a:extLst>
          </p:cNvPr>
          <p:cNvSpPr txBox="1"/>
          <p:nvPr/>
        </p:nvSpPr>
        <p:spPr>
          <a:xfrm>
            <a:off x="5352053" y="888072"/>
            <a:ext cx="2351425" cy="3087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s-ES_tradnl" b="1" noProof="1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Suma de cuadrados</a:t>
            </a:r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357192A7-388D-FCD6-C333-18FC8685227D}"/>
              </a:ext>
            </a:extLst>
          </p:cNvPr>
          <p:cNvSpPr txBox="1"/>
          <p:nvPr/>
        </p:nvSpPr>
        <p:spPr>
          <a:xfrm>
            <a:off x="9533465" y="885753"/>
            <a:ext cx="2351425" cy="3087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s-ES_tradnl" b="1" noProof="1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Coincidencias simples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732" name="Group 731">
            <a:extLst>
              <a:ext uri="{FF2B5EF4-FFF2-40B4-BE49-F238E27FC236}">
                <a16:creationId xmlns:a16="http://schemas.microsoft.com/office/drawing/2014/main" id="{7041B6C3-6E25-ADF5-FF76-0BEF027E7CE9}"/>
              </a:ext>
            </a:extLst>
          </p:cNvPr>
          <p:cNvGrpSpPr/>
          <p:nvPr/>
        </p:nvGrpSpPr>
        <p:grpSpPr>
          <a:xfrm>
            <a:off x="8095600" y="1093867"/>
            <a:ext cx="3547075" cy="1462198"/>
            <a:chOff x="7879122" y="1484784"/>
            <a:chExt cx="3547075" cy="1462198"/>
          </a:xfrm>
        </p:grpSpPr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E9DC9A3B-39D4-7D46-FA73-799777D9517F}"/>
                </a:ext>
              </a:extLst>
            </p:cNvPr>
            <p:cNvSpPr/>
            <p:nvPr/>
          </p:nvSpPr>
          <p:spPr>
            <a:xfrm>
              <a:off x="9278769" y="1965811"/>
              <a:ext cx="2147428" cy="744106"/>
            </a:xfrm>
            <a:custGeom>
              <a:avLst/>
              <a:gdLst>
                <a:gd name="connsiteX0" fmla="*/ 3311747 w 3686460"/>
                <a:gd name="connsiteY0" fmla="*/ 0 h 1277397"/>
                <a:gd name="connsiteX1" fmla="*/ 374714 w 3686460"/>
                <a:gd name="connsiteY1" fmla="*/ 0 h 1277397"/>
                <a:gd name="connsiteX2" fmla="*/ 262509 w 3686460"/>
                <a:gd name="connsiteY2" fmla="*/ 70199 h 1277397"/>
                <a:gd name="connsiteX3" fmla="*/ 12573 w 3686460"/>
                <a:gd name="connsiteY3" fmla="*/ 584168 h 1277397"/>
                <a:gd name="connsiteX4" fmla="*/ 12573 w 3686460"/>
                <a:gd name="connsiteY4" fmla="*/ 693230 h 1277397"/>
                <a:gd name="connsiteX5" fmla="*/ 262509 w 3686460"/>
                <a:gd name="connsiteY5" fmla="*/ 1207199 h 1277397"/>
                <a:gd name="connsiteX6" fmla="*/ 374714 w 3686460"/>
                <a:gd name="connsiteY6" fmla="*/ 1277398 h 1277397"/>
                <a:gd name="connsiteX7" fmla="*/ 3311747 w 3686460"/>
                <a:gd name="connsiteY7" fmla="*/ 1277398 h 1277397"/>
                <a:gd name="connsiteX8" fmla="*/ 3423952 w 3686460"/>
                <a:gd name="connsiteY8" fmla="*/ 1207199 h 1277397"/>
                <a:gd name="connsiteX9" fmla="*/ 3673888 w 3686460"/>
                <a:gd name="connsiteY9" fmla="*/ 693230 h 1277397"/>
                <a:gd name="connsiteX10" fmla="*/ 3673888 w 3686460"/>
                <a:gd name="connsiteY10" fmla="*/ 584168 h 1277397"/>
                <a:gd name="connsiteX11" fmla="*/ 3423952 w 3686460"/>
                <a:gd name="connsiteY11" fmla="*/ 70199 h 1277397"/>
                <a:gd name="connsiteX12" fmla="*/ 3311747 w 3686460"/>
                <a:gd name="connsiteY12" fmla="*/ 0 h 1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86460" h="1277397">
                  <a:moveTo>
                    <a:pt x="3311747" y="0"/>
                  </a:moveTo>
                  <a:lnTo>
                    <a:pt x="374714" y="0"/>
                  </a:lnTo>
                  <a:cubicBezTo>
                    <a:pt x="326993" y="0"/>
                    <a:pt x="283464" y="27242"/>
                    <a:pt x="262509" y="70199"/>
                  </a:cubicBezTo>
                  <a:lnTo>
                    <a:pt x="12573" y="584168"/>
                  </a:lnTo>
                  <a:cubicBezTo>
                    <a:pt x="-4191" y="618649"/>
                    <a:pt x="-4191" y="658844"/>
                    <a:pt x="12573" y="693230"/>
                  </a:cubicBezTo>
                  <a:lnTo>
                    <a:pt x="262509" y="1207199"/>
                  </a:lnTo>
                  <a:cubicBezTo>
                    <a:pt x="283369" y="1250156"/>
                    <a:pt x="326898" y="1277398"/>
                    <a:pt x="374714" y="1277398"/>
                  </a:cubicBezTo>
                  <a:lnTo>
                    <a:pt x="3311747" y="1277398"/>
                  </a:lnTo>
                  <a:cubicBezTo>
                    <a:pt x="3359468" y="1277398"/>
                    <a:pt x="3402997" y="1250156"/>
                    <a:pt x="3423952" y="1207199"/>
                  </a:cubicBezTo>
                  <a:lnTo>
                    <a:pt x="3673888" y="693230"/>
                  </a:lnTo>
                  <a:cubicBezTo>
                    <a:pt x="3690652" y="658749"/>
                    <a:pt x="3690652" y="618554"/>
                    <a:pt x="3673888" y="584168"/>
                  </a:cubicBezTo>
                  <a:lnTo>
                    <a:pt x="3423952" y="70199"/>
                  </a:lnTo>
                  <a:cubicBezTo>
                    <a:pt x="3403092" y="27242"/>
                    <a:pt x="3359563" y="0"/>
                    <a:pt x="3311747" y="0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607" name="Group 606">
              <a:extLst>
                <a:ext uri="{FF2B5EF4-FFF2-40B4-BE49-F238E27FC236}">
                  <a16:creationId xmlns:a16="http://schemas.microsoft.com/office/drawing/2014/main" id="{CF6371DA-6122-D604-588D-3EA1CE22EDB7}"/>
                </a:ext>
              </a:extLst>
            </p:cNvPr>
            <p:cNvGrpSpPr/>
            <p:nvPr/>
          </p:nvGrpSpPr>
          <p:grpSpPr>
            <a:xfrm>
              <a:off x="10305405" y="1973856"/>
              <a:ext cx="1096712" cy="732899"/>
              <a:chOff x="3101412" y="4977211"/>
              <a:chExt cx="1096712" cy="732899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E32700D1-2B4E-75E0-AB74-B1480D435C94}"/>
                  </a:ext>
                </a:extLst>
              </p:cNvPr>
              <p:cNvSpPr/>
              <p:nvPr/>
            </p:nvSpPr>
            <p:spPr>
              <a:xfrm>
                <a:off x="3101412" y="5662116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5A74BF52-5437-1784-E2AA-3683B8BC87E9}"/>
                  </a:ext>
                </a:extLst>
              </p:cNvPr>
              <p:cNvSpPr/>
              <p:nvPr/>
            </p:nvSpPr>
            <p:spPr>
              <a:xfrm>
                <a:off x="3101412" y="5539383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89BE56A0-37E9-A893-EC6D-D80497D711C4}"/>
                  </a:ext>
                </a:extLst>
              </p:cNvPr>
              <p:cNvSpPr/>
              <p:nvPr/>
            </p:nvSpPr>
            <p:spPr>
              <a:xfrm>
                <a:off x="3101412" y="541670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43FCCF0-1301-496C-BD5C-F0E771357292}"/>
                  </a:ext>
                </a:extLst>
              </p:cNvPr>
              <p:cNvSpPr/>
              <p:nvPr/>
            </p:nvSpPr>
            <p:spPr>
              <a:xfrm>
                <a:off x="3101412" y="5294030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BC8F9680-00DF-250D-0CFF-D5B003707A66}"/>
                  </a:ext>
                </a:extLst>
              </p:cNvPr>
              <p:cNvSpPr/>
              <p:nvPr/>
            </p:nvSpPr>
            <p:spPr>
              <a:xfrm>
                <a:off x="3101412" y="5171297"/>
                <a:ext cx="32846" cy="30405"/>
              </a:xfrm>
              <a:custGeom>
                <a:avLst/>
                <a:gdLst>
                  <a:gd name="connsiteX0" fmla="*/ 56388 w 56387"/>
                  <a:gd name="connsiteY0" fmla="*/ 26099 h 52196"/>
                  <a:gd name="connsiteX1" fmla="*/ 28194 w 56387"/>
                  <a:gd name="connsiteY1" fmla="*/ 52197 h 52196"/>
                  <a:gd name="connsiteX2" fmla="*/ 0 w 56387"/>
                  <a:gd name="connsiteY2" fmla="*/ 26099 h 52196"/>
                  <a:gd name="connsiteX3" fmla="*/ 28194 w 56387"/>
                  <a:gd name="connsiteY3" fmla="*/ 0 h 52196"/>
                  <a:gd name="connsiteX4" fmla="*/ 56388 w 56387"/>
                  <a:gd name="connsiteY4" fmla="*/ 26099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56388" y="26099"/>
                    </a:moveTo>
                    <a:cubicBezTo>
                      <a:pt x="56388" y="40512"/>
                      <a:pt x="43765" y="52197"/>
                      <a:pt x="28194" y="52197"/>
                    </a:cubicBezTo>
                    <a:cubicBezTo>
                      <a:pt x="12623" y="52197"/>
                      <a:pt x="0" y="40512"/>
                      <a:pt x="0" y="26099"/>
                    </a:cubicBezTo>
                    <a:cubicBezTo>
                      <a:pt x="0" y="11685"/>
                      <a:pt x="12623" y="0"/>
                      <a:pt x="28194" y="0"/>
                    </a:cubicBezTo>
                    <a:cubicBezTo>
                      <a:pt x="43765" y="0"/>
                      <a:pt x="56388" y="11685"/>
                      <a:pt x="56388" y="260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4BB5F7A7-E63B-8C00-03C0-EEB7C6BB9691}"/>
                  </a:ext>
                </a:extLst>
              </p:cNvPr>
              <p:cNvSpPr/>
              <p:nvPr/>
            </p:nvSpPr>
            <p:spPr>
              <a:xfrm>
                <a:off x="3101412" y="5048620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62E9EA1B-C562-2508-8ABB-C9F842FC0AE7}"/>
                  </a:ext>
                </a:extLst>
              </p:cNvPr>
              <p:cNvSpPr/>
              <p:nvPr/>
            </p:nvSpPr>
            <p:spPr>
              <a:xfrm>
                <a:off x="3179701" y="4982372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4D88817A-C93E-ABBA-F38F-9887799A7C43}"/>
                  </a:ext>
                </a:extLst>
              </p:cNvPr>
              <p:cNvSpPr/>
              <p:nvPr/>
            </p:nvSpPr>
            <p:spPr>
              <a:xfrm>
                <a:off x="3179701" y="5105104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7435E288-59CD-0C40-B855-DDD7DFE38786}"/>
                  </a:ext>
                </a:extLst>
              </p:cNvPr>
              <p:cNvSpPr/>
              <p:nvPr/>
            </p:nvSpPr>
            <p:spPr>
              <a:xfrm>
                <a:off x="3179701" y="5227781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4F619AE0-1187-D571-7DC8-0501EE7C6784}"/>
                  </a:ext>
                </a:extLst>
              </p:cNvPr>
              <p:cNvSpPr/>
              <p:nvPr/>
            </p:nvSpPr>
            <p:spPr>
              <a:xfrm>
                <a:off x="3179701" y="5350513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8 h 52197"/>
                  <a:gd name="connsiteX2" fmla="*/ 28194 w 56387"/>
                  <a:gd name="connsiteY2" fmla="*/ 52197 h 52197"/>
                  <a:gd name="connsiteX3" fmla="*/ 56388 w 56387"/>
                  <a:gd name="connsiteY3" fmla="*/ 26098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B4A8C71-A0D5-6B0F-D0DF-B7520B8A8205}"/>
                  </a:ext>
                </a:extLst>
              </p:cNvPr>
              <p:cNvSpPr/>
              <p:nvPr/>
            </p:nvSpPr>
            <p:spPr>
              <a:xfrm>
                <a:off x="3179701" y="5473190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39BB720C-1382-C1DD-C96B-626BB5E5133D}"/>
                  </a:ext>
                </a:extLst>
              </p:cNvPr>
              <p:cNvSpPr/>
              <p:nvPr/>
            </p:nvSpPr>
            <p:spPr>
              <a:xfrm>
                <a:off x="3179701" y="5595867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B1D73445-32F3-0072-64DB-5F6C67F87CAE}"/>
                  </a:ext>
                </a:extLst>
              </p:cNvPr>
              <p:cNvSpPr/>
              <p:nvPr/>
            </p:nvSpPr>
            <p:spPr>
              <a:xfrm>
                <a:off x="3230747" y="5656900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8C75A790-3111-5551-675A-155853E8815E}"/>
                  </a:ext>
                </a:extLst>
              </p:cNvPr>
              <p:cNvSpPr/>
              <p:nvPr/>
            </p:nvSpPr>
            <p:spPr>
              <a:xfrm>
                <a:off x="3230747" y="553422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CEFC8ECE-053E-B576-8DA7-E3D53BBB0E86}"/>
                  </a:ext>
                </a:extLst>
              </p:cNvPr>
              <p:cNvSpPr/>
              <p:nvPr/>
            </p:nvSpPr>
            <p:spPr>
              <a:xfrm>
                <a:off x="3230747" y="541149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6C92E9BB-4F34-3EA4-FD48-16E6FD8D9052}"/>
                  </a:ext>
                </a:extLst>
              </p:cNvPr>
              <p:cNvSpPr/>
              <p:nvPr/>
            </p:nvSpPr>
            <p:spPr>
              <a:xfrm>
                <a:off x="3230747" y="5288814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621"/>
                      <a:pt x="0" y="26099"/>
                    </a:cubicBezTo>
                    <a:cubicBezTo>
                      <a:pt x="0" y="40577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6CA8B648-C75E-443F-9B28-8FBBFF0E6DA1}"/>
                  </a:ext>
                </a:extLst>
              </p:cNvPr>
              <p:cNvSpPr/>
              <p:nvPr/>
            </p:nvSpPr>
            <p:spPr>
              <a:xfrm>
                <a:off x="3230747" y="5166137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F4F372D9-CC49-586B-21D9-CC1A0B634FFF}"/>
                  </a:ext>
                </a:extLst>
              </p:cNvPr>
              <p:cNvSpPr/>
              <p:nvPr/>
            </p:nvSpPr>
            <p:spPr>
              <a:xfrm>
                <a:off x="3230747" y="504340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E6333DA1-7B4D-A710-7689-412BA9B2B05B}"/>
                  </a:ext>
                </a:extLst>
              </p:cNvPr>
              <p:cNvSpPr/>
              <p:nvPr/>
            </p:nvSpPr>
            <p:spPr>
              <a:xfrm>
                <a:off x="3309036" y="4977211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5AEE220F-987C-5F6F-75D4-79B27DE2300F}"/>
                  </a:ext>
                </a:extLst>
              </p:cNvPr>
              <p:cNvSpPr/>
              <p:nvPr/>
            </p:nvSpPr>
            <p:spPr>
              <a:xfrm>
                <a:off x="3309036" y="5099888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24F74CF9-8DEB-D71C-B8F8-BC49333ACBE6}"/>
                  </a:ext>
                </a:extLst>
              </p:cNvPr>
              <p:cNvSpPr/>
              <p:nvPr/>
            </p:nvSpPr>
            <p:spPr>
              <a:xfrm>
                <a:off x="3309036" y="522256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331B2AEF-BC74-4A24-FBA4-088F5C730416}"/>
                  </a:ext>
                </a:extLst>
              </p:cNvPr>
              <p:cNvSpPr/>
              <p:nvPr/>
            </p:nvSpPr>
            <p:spPr>
              <a:xfrm>
                <a:off x="3309036" y="534529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C56C7013-BD2E-A464-1F3F-B97A87DFB593}"/>
                  </a:ext>
                </a:extLst>
              </p:cNvPr>
              <p:cNvSpPr/>
              <p:nvPr/>
            </p:nvSpPr>
            <p:spPr>
              <a:xfrm>
                <a:off x="3309036" y="546797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5B4CDA46-BA67-9768-5005-7D2DEA5B4E33}"/>
                  </a:ext>
                </a:extLst>
              </p:cNvPr>
              <p:cNvSpPr/>
              <p:nvPr/>
            </p:nvSpPr>
            <p:spPr>
              <a:xfrm>
                <a:off x="3309036" y="5590707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0B5ED300-9FD6-7EB2-6036-56B5FFB3E176}"/>
                  </a:ext>
                </a:extLst>
              </p:cNvPr>
              <p:cNvSpPr/>
              <p:nvPr/>
            </p:nvSpPr>
            <p:spPr>
              <a:xfrm>
                <a:off x="3878643" y="4977211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887DD7E7-FEE3-B156-8927-D419FEBCA191}"/>
                  </a:ext>
                </a:extLst>
              </p:cNvPr>
              <p:cNvSpPr/>
              <p:nvPr/>
            </p:nvSpPr>
            <p:spPr>
              <a:xfrm>
                <a:off x="3878643" y="5099888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F463AF05-A036-1CFE-C52A-CDB5DBCD2C27}"/>
                  </a:ext>
                </a:extLst>
              </p:cNvPr>
              <p:cNvSpPr/>
              <p:nvPr/>
            </p:nvSpPr>
            <p:spPr>
              <a:xfrm>
                <a:off x="3878643" y="522256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17B1D8C6-FA66-5EB4-5489-5AB757E23405}"/>
                  </a:ext>
                </a:extLst>
              </p:cNvPr>
              <p:cNvSpPr/>
              <p:nvPr/>
            </p:nvSpPr>
            <p:spPr>
              <a:xfrm>
                <a:off x="3878643" y="534529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D6E558B2-2C47-CB63-83F0-13F1997CD320}"/>
                  </a:ext>
                </a:extLst>
              </p:cNvPr>
              <p:cNvSpPr/>
              <p:nvPr/>
            </p:nvSpPr>
            <p:spPr>
              <a:xfrm>
                <a:off x="3878643" y="546797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6E4838DE-B1D6-493E-3DAF-6BD3F5FC089A}"/>
                  </a:ext>
                </a:extLst>
              </p:cNvPr>
              <p:cNvSpPr/>
              <p:nvPr/>
            </p:nvSpPr>
            <p:spPr>
              <a:xfrm>
                <a:off x="3878643" y="5590707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CB1DBD06-7646-B8BE-1E11-729947116536}"/>
                  </a:ext>
                </a:extLst>
              </p:cNvPr>
              <p:cNvSpPr/>
              <p:nvPr/>
            </p:nvSpPr>
            <p:spPr>
              <a:xfrm>
                <a:off x="3800354" y="5656900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83166FB0-614D-265F-4C1F-0920A992735A}"/>
                  </a:ext>
                </a:extLst>
              </p:cNvPr>
              <p:cNvSpPr/>
              <p:nvPr/>
            </p:nvSpPr>
            <p:spPr>
              <a:xfrm>
                <a:off x="3800354" y="553422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B480E700-70D6-4C83-40F6-D42B7E04F2CB}"/>
                  </a:ext>
                </a:extLst>
              </p:cNvPr>
              <p:cNvSpPr/>
              <p:nvPr/>
            </p:nvSpPr>
            <p:spPr>
              <a:xfrm>
                <a:off x="3800354" y="541149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67027E10-D952-4AA5-0BB8-08000D56902A}"/>
                  </a:ext>
                </a:extLst>
              </p:cNvPr>
              <p:cNvSpPr/>
              <p:nvPr/>
            </p:nvSpPr>
            <p:spPr>
              <a:xfrm>
                <a:off x="3800354" y="5288814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9E70ACC2-4A85-318A-E7D8-8D9EEA19F451}"/>
                  </a:ext>
                </a:extLst>
              </p:cNvPr>
              <p:cNvSpPr/>
              <p:nvPr/>
            </p:nvSpPr>
            <p:spPr>
              <a:xfrm>
                <a:off x="3800354" y="5166137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2DA8242C-61FF-8E77-F2BB-B41233548995}"/>
                  </a:ext>
                </a:extLst>
              </p:cNvPr>
              <p:cNvSpPr/>
              <p:nvPr/>
            </p:nvSpPr>
            <p:spPr>
              <a:xfrm>
                <a:off x="3800354" y="504340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050EBE57-FB0C-1D64-18C8-C31D94EED52D}"/>
                  </a:ext>
                </a:extLst>
              </p:cNvPr>
              <p:cNvSpPr/>
              <p:nvPr/>
            </p:nvSpPr>
            <p:spPr>
              <a:xfrm>
                <a:off x="3749308" y="4982372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8E827053-9691-E1C4-CC5E-2188B20CE765}"/>
                  </a:ext>
                </a:extLst>
              </p:cNvPr>
              <p:cNvSpPr/>
              <p:nvPr/>
            </p:nvSpPr>
            <p:spPr>
              <a:xfrm>
                <a:off x="3749308" y="5105104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523A5AAC-3BC2-A373-D9FC-4440626EE197}"/>
                  </a:ext>
                </a:extLst>
              </p:cNvPr>
              <p:cNvSpPr/>
              <p:nvPr/>
            </p:nvSpPr>
            <p:spPr>
              <a:xfrm>
                <a:off x="3749308" y="522778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06465056-356A-B2A3-FBB5-CE0090533FAB}"/>
                  </a:ext>
                </a:extLst>
              </p:cNvPr>
              <p:cNvSpPr/>
              <p:nvPr/>
            </p:nvSpPr>
            <p:spPr>
              <a:xfrm>
                <a:off x="3749308" y="5350513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A2F6800A-1CBE-5A83-95AC-6F39730BACEC}"/>
                  </a:ext>
                </a:extLst>
              </p:cNvPr>
              <p:cNvSpPr/>
              <p:nvPr/>
            </p:nvSpPr>
            <p:spPr>
              <a:xfrm>
                <a:off x="3749308" y="5473190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7B3FA89B-AED8-40BD-4182-4003C6E1E27A}"/>
                  </a:ext>
                </a:extLst>
              </p:cNvPr>
              <p:cNvSpPr/>
              <p:nvPr/>
            </p:nvSpPr>
            <p:spPr>
              <a:xfrm>
                <a:off x="3749308" y="5595867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B7DF3CD9-51B0-E8FA-CB6D-FA3F8B1B29A5}"/>
                  </a:ext>
                </a:extLst>
              </p:cNvPr>
              <p:cNvSpPr/>
              <p:nvPr/>
            </p:nvSpPr>
            <p:spPr>
              <a:xfrm>
                <a:off x="3671019" y="5662116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4A6CBFE1-C3E0-1F03-44C3-F42BCD2D38B9}"/>
                  </a:ext>
                </a:extLst>
              </p:cNvPr>
              <p:cNvSpPr/>
              <p:nvPr/>
            </p:nvSpPr>
            <p:spPr>
              <a:xfrm>
                <a:off x="3671019" y="553938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5C6BB08-3E77-60FC-4379-8199CC9CDB6B}"/>
                  </a:ext>
                </a:extLst>
              </p:cNvPr>
              <p:cNvSpPr/>
              <p:nvPr/>
            </p:nvSpPr>
            <p:spPr>
              <a:xfrm>
                <a:off x="3671019" y="5416706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42BC2037-9793-CC78-EAAF-880096F34458}"/>
                  </a:ext>
                </a:extLst>
              </p:cNvPr>
              <p:cNvSpPr/>
              <p:nvPr/>
            </p:nvSpPr>
            <p:spPr>
              <a:xfrm>
                <a:off x="3671019" y="5294030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8 h 52197"/>
                  <a:gd name="connsiteX2" fmla="*/ 28194 w 56387"/>
                  <a:gd name="connsiteY2" fmla="*/ 52197 h 52197"/>
                  <a:gd name="connsiteX3" fmla="*/ 56388 w 56387"/>
                  <a:gd name="connsiteY3" fmla="*/ 26098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AFDC3DB7-0551-A5FC-238B-68E4CBF4BB98}"/>
                  </a:ext>
                </a:extLst>
              </p:cNvPr>
              <p:cNvSpPr/>
              <p:nvPr/>
            </p:nvSpPr>
            <p:spPr>
              <a:xfrm>
                <a:off x="3671019" y="5171297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96810A1E-093F-83B0-98FF-62A75ECCA5C1}"/>
                  </a:ext>
                </a:extLst>
              </p:cNvPr>
              <p:cNvSpPr/>
              <p:nvPr/>
            </p:nvSpPr>
            <p:spPr>
              <a:xfrm>
                <a:off x="3671019" y="5048620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5BF48020-5CDF-E51D-829C-9F7192787042}"/>
                  </a:ext>
                </a:extLst>
              </p:cNvPr>
              <p:cNvSpPr/>
              <p:nvPr/>
            </p:nvSpPr>
            <p:spPr>
              <a:xfrm>
                <a:off x="3589068" y="4994800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21F0C76D-CD94-58AC-3D2B-5795CFDD20C9}"/>
                  </a:ext>
                </a:extLst>
              </p:cNvPr>
              <p:cNvSpPr/>
              <p:nvPr/>
            </p:nvSpPr>
            <p:spPr>
              <a:xfrm>
                <a:off x="3589068" y="5117533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ED0569C5-F044-D68D-07E4-DB97C3A11269}"/>
                  </a:ext>
                </a:extLst>
              </p:cNvPr>
              <p:cNvSpPr/>
              <p:nvPr/>
            </p:nvSpPr>
            <p:spPr>
              <a:xfrm>
                <a:off x="3589068" y="524020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32DF6DA5-2389-DFDE-24A7-6E3988FE31D5}"/>
                  </a:ext>
                </a:extLst>
              </p:cNvPr>
              <p:cNvSpPr/>
              <p:nvPr/>
            </p:nvSpPr>
            <p:spPr>
              <a:xfrm>
                <a:off x="3589068" y="536288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C086A5F7-DE08-C7F0-D7EA-F25793AD3FB6}"/>
                  </a:ext>
                </a:extLst>
              </p:cNvPr>
              <p:cNvSpPr/>
              <p:nvPr/>
            </p:nvSpPr>
            <p:spPr>
              <a:xfrm>
                <a:off x="3589068" y="548561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03C17F18-CB16-591C-F16A-8EF710DA46F1}"/>
                  </a:ext>
                </a:extLst>
              </p:cNvPr>
              <p:cNvSpPr/>
              <p:nvPr/>
            </p:nvSpPr>
            <p:spPr>
              <a:xfrm>
                <a:off x="3589068" y="560829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6A092282-FEAB-5FB5-2A7D-CA75B07395AF}"/>
                  </a:ext>
                </a:extLst>
              </p:cNvPr>
              <p:cNvSpPr/>
              <p:nvPr/>
            </p:nvSpPr>
            <p:spPr>
              <a:xfrm>
                <a:off x="3510779" y="5674544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CACCE500-D1CB-54B9-1DBA-4CBD916212DD}"/>
                  </a:ext>
                </a:extLst>
              </p:cNvPr>
              <p:cNvSpPr/>
              <p:nvPr/>
            </p:nvSpPr>
            <p:spPr>
              <a:xfrm>
                <a:off x="3510779" y="5551812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43C8C114-CDC7-F287-B08D-20F06EF8A787}"/>
                  </a:ext>
                </a:extLst>
              </p:cNvPr>
              <p:cNvSpPr/>
              <p:nvPr/>
            </p:nvSpPr>
            <p:spPr>
              <a:xfrm>
                <a:off x="3510779" y="5429135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CB043BC7-C0CF-19D0-27A3-9D2BA0C97E29}"/>
                  </a:ext>
                </a:extLst>
              </p:cNvPr>
              <p:cNvSpPr/>
              <p:nvPr/>
            </p:nvSpPr>
            <p:spPr>
              <a:xfrm>
                <a:off x="3510779" y="5306403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5C314AA-1CA8-5423-CFD8-976A0E1FE593}"/>
                  </a:ext>
                </a:extLst>
              </p:cNvPr>
              <p:cNvSpPr/>
              <p:nvPr/>
            </p:nvSpPr>
            <p:spPr>
              <a:xfrm>
                <a:off x="3510779" y="518372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5C7C68A7-0E43-2E3F-4830-CE98FBF8EADD}"/>
                  </a:ext>
                </a:extLst>
              </p:cNvPr>
              <p:cNvSpPr/>
              <p:nvPr/>
            </p:nvSpPr>
            <p:spPr>
              <a:xfrm>
                <a:off x="3510779" y="506104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5C7ECD2C-31E8-BDFD-D297-362430813FE3}"/>
                  </a:ext>
                </a:extLst>
              </p:cNvPr>
              <p:cNvSpPr/>
              <p:nvPr/>
            </p:nvSpPr>
            <p:spPr>
              <a:xfrm>
                <a:off x="3459733" y="500001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66C5F130-F711-2D72-6B5C-052FA3410FD8}"/>
                  </a:ext>
                </a:extLst>
              </p:cNvPr>
              <p:cNvSpPr/>
              <p:nvPr/>
            </p:nvSpPr>
            <p:spPr>
              <a:xfrm>
                <a:off x="3459733" y="512269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766BF003-C672-58A3-8510-E962F3A32B69}"/>
                  </a:ext>
                </a:extLst>
              </p:cNvPr>
              <p:cNvSpPr/>
              <p:nvPr/>
            </p:nvSpPr>
            <p:spPr>
              <a:xfrm>
                <a:off x="3459733" y="5245425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FA232D4F-DDD8-6458-2D71-707F30A899D1}"/>
                  </a:ext>
                </a:extLst>
              </p:cNvPr>
              <p:cNvSpPr/>
              <p:nvPr/>
            </p:nvSpPr>
            <p:spPr>
              <a:xfrm>
                <a:off x="3459733" y="5368101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6E5967E2-386D-D871-F666-9AD3A68B204E}"/>
                  </a:ext>
                </a:extLst>
              </p:cNvPr>
              <p:cNvSpPr/>
              <p:nvPr/>
            </p:nvSpPr>
            <p:spPr>
              <a:xfrm>
                <a:off x="3459733" y="549083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A4897002-8C1E-5D94-A7BA-2CF3D9957F5E}"/>
                  </a:ext>
                </a:extLst>
              </p:cNvPr>
              <p:cNvSpPr/>
              <p:nvPr/>
            </p:nvSpPr>
            <p:spPr>
              <a:xfrm>
                <a:off x="3459733" y="561351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9C61DD95-320B-1A13-1880-06E64A7BCE77}"/>
                  </a:ext>
                </a:extLst>
              </p:cNvPr>
              <p:cNvSpPr/>
              <p:nvPr/>
            </p:nvSpPr>
            <p:spPr>
              <a:xfrm>
                <a:off x="3381444" y="5679704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577"/>
                      <a:pt x="56388" y="26099"/>
                    </a:cubicBezTo>
                    <a:cubicBezTo>
                      <a:pt x="56388" y="11621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835705F0-2A7D-BB7E-B82D-A056A0F5EEC8}"/>
                  </a:ext>
                </a:extLst>
              </p:cNvPr>
              <p:cNvSpPr/>
              <p:nvPr/>
            </p:nvSpPr>
            <p:spPr>
              <a:xfrm>
                <a:off x="3381444" y="555702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FE60949B-0D87-7B88-9C2B-B9502CD1DC2F}"/>
                  </a:ext>
                </a:extLst>
              </p:cNvPr>
              <p:cNvSpPr/>
              <p:nvPr/>
            </p:nvSpPr>
            <p:spPr>
              <a:xfrm>
                <a:off x="3381444" y="543435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13104F14-0DB1-F0CE-F0A6-140ABD822434}"/>
                  </a:ext>
                </a:extLst>
              </p:cNvPr>
              <p:cNvSpPr/>
              <p:nvPr/>
            </p:nvSpPr>
            <p:spPr>
              <a:xfrm>
                <a:off x="3381444" y="531161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5B1CB56C-743F-1E0D-4E99-0256581AA86D}"/>
                  </a:ext>
                </a:extLst>
              </p:cNvPr>
              <p:cNvSpPr/>
              <p:nvPr/>
            </p:nvSpPr>
            <p:spPr>
              <a:xfrm>
                <a:off x="3381444" y="518894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E6EDC82-D344-A5F0-F29A-8EDFCF8D08FC}"/>
                  </a:ext>
                </a:extLst>
              </p:cNvPr>
              <p:cNvSpPr/>
              <p:nvPr/>
            </p:nvSpPr>
            <p:spPr>
              <a:xfrm>
                <a:off x="3381444" y="506620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009417AA-CCAF-5CB7-78EA-65B55529574B}"/>
                  </a:ext>
                </a:extLst>
              </p:cNvPr>
              <p:cNvSpPr/>
              <p:nvPr/>
            </p:nvSpPr>
            <p:spPr>
              <a:xfrm>
                <a:off x="4165278" y="5362886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0CEAA09B-1F3D-4071-F5CF-E275C24F1368}"/>
                  </a:ext>
                </a:extLst>
              </p:cNvPr>
              <p:cNvSpPr/>
              <p:nvPr/>
            </p:nvSpPr>
            <p:spPr>
              <a:xfrm>
                <a:off x="4075891" y="5551812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46A8C11E-2698-EE6C-A1D1-B64C0968B5B0}"/>
                  </a:ext>
                </a:extLst>
              </p:cNvPr>
              <p:cNvSpPr/>
              <p:nvPr/>
            </p:nvSpPr>
            <p:spPr>
              <a:xfrm>
                <a:off x="4086988" y="5429135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8 h 52197"/>
                  <a:gd name="connsiteX2" fmla="*/ 28194 w 56387"/>
                  <a:gd name="connsiteY2" fmla="*/ 52197 h 52197"/>
                  <a:gd name="connsiteX3" fmla="*/ 56388 w 56387"/>
                  <a:gd name="connsiteY3" fmla="*/ 26098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96BC5F4-D6C7-75CB-694B-53505242A8C2}"/>
                  </a:ext>
                </a:extLst>
              </p:cNvPr>
              <p:cNvSpPr/>
              <p:nvPr/>
            </p:nvSpPr>
            <p:spPr>
              <a:xfrm>
                <a:off x="4086988" y="530640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5641E190-8D45-CF39-580C-1D074F213CF2}"/>
                  </a:ext>
                </a:extLst>
              </p:cNvPr>
              <p:cNvSpPr/>
              <p:nvPr/>
            </p:nvSpPr>
            <p:spPr>
              <a:xfrm>
                <a:off x="4086988" y="5183726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1C82786E-84F7-7F70-B5CA-2A6B3253CDA5}"/>
                  </a:ext>
                </a:extLst>
              </p:cNvPr>
              <p:cNvSpPr/>
              <p:nvPr/>
            </p:nvSpPr>
            <p:spPr>
              <a:xfrm>
                <a:off x="4013804" y="500001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860FF194-14C6-30EF-7F6E-A8D3F239174F}"/>
                  </a:ext>
                </a:extLst>
              </p:cNvPr>
              <p:cNvSpPr/>
              <p:nvPr/>
            </p:nvSpPr>
            <p:spPr>
              <a:xfrm>
                <a:off x="4035998" y="512269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245B82-9635-030A-4EC4-9870E1D0D4B8}"/>
                  </a:ext>
                </a:extLst>
              </p:cNvPr>
              <p:cNvSpPr/>
              <p:nvPr/>
            </p:nvSpPr>
            <p:spPr>
              <a:xfrm>
                <a:off x="4035998" y="5245425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6448FFA3-7EE9-11A9-4DC8-BC3C832D4194}"/>
                  </a:ext>
                </a:extLst>
              </p:cNvPr>
              <p:cNvSpPr/>
              <p:nvPr/>
            </p:nvSpPr>
            <p:spPr>
              <a:xfrm>
                <a:off x="4035998" y="5368101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B5F4D252-670F-559A-3B4C-F1A82E8E41C7}"/>
                  </a:ext>
                </a:extLst>
              </p:cNvPr>
              <p:cNvSpPr/>
              <p:nvPr/>
            </p:nvSpPr>
            <p:spPr>
              <a:xfrm>
                <a:off x="4035998" y="549083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40D08707-1697-F1F4-31FF-0106F0992A1D}"/>
                  </a:ext>
                </a:extLst>
              </p:cNvPr>
              <p:cNvSpPr/>
              <p:nvPr/>
            </p:nvSpPr>
            <p:spPr>
              <a:xfrm>
                <a:off x="4035998" y="561351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5E882157-3B32-4402-AB87-46A8E214291D}"/>
                  </a:ext>
                </a:extLst>
              </p:cNvPr>
              <p:cNvSpPr/>
              <p:nvPr/>
            </p:nvSpPr>
            <p:spPr>
              <a:xfrm>
                <a:off x="3957709" y="5679704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577"/>
                      <a:pt x="56388" y="26099"/>
                    </a:cubicBezTo>
                    <a:cubicBezTo>
                      <a:pt x="56388" y="11621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4A3CB41C-1D8F-1FC9-79B4-8665EE6DCFFE}"/>
                  </a:ext>
                </a:extLst>
              </p:cNvPr>
              <p:cNvSpPr/>
              <p:nvPr/>
            </p:nvSpPr>
            <p:spPr>
              <a:xfrm>
                <a:off x="3957709" y="555702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F1A4B4D-D069-33E2-536B-DF16741476DB}"/>
                  </a:ext>
                </a:extLst>
              </p:cNvPr>
              <p:cNvSpPr/>
              <p:nvPr/>
            </p:nvSpPr>
            <p:spPr>
              <a:xfrm>
                <a:off x="3957709" y="543435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EC63C45F-2D9A-9F11-F070-47C69A010340}"/>
                  </a:ext>
                </a:extLst>
              </p:cNvPr>
              <p:cNvSpPr/>
              <p:nvPr/>
            </p:nvSpPr>
            <p:spPr>
              <a:xfrm>
                <a:off x="3957709" y="531161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1CE8A787-23D3-8D02-3410-F34CC4C05DB1}"/>
                  </a:ext>
                </a:extLst>
              </p:cNvPr>
              <p:cNvSpPr/>
              <p:nvPr/>
            </p:nvSpPr>
            <p:spPr>
              <a:xfrm>
                <a:off x="3957709" y="518894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63A734DC-7D11-D44D-45CB-B87AD3390DB4}"/>
                  </a:ext>
                </a:extLst>
              </p:cNvPr>
              <p:cNvSpPr/>
              <p:nvPr/>
            </p:nvSpPr>
            <p:spPr>
              <a:xfrm>
                <a:off x="3957709" y="506620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7F3CA187-6E20-9AE5-D1E2-182E32377298}"/>
                </a:ext>
              </a:extLst>
            </p:cNvPr>
            <p:cNvSpPr/>
            <p:nvPr/>
          </p:nvSpPr>
          <p:spPr>
            <a:xfrm>
              <a:off x="7879122" y="1876556"/>
              <a:ext cx="3095030" cy="1070426"/>
            </a:xfrm>
            <a:custGeom>
              <a:avLst/>
              <a:gdLst>
                <a:gd name="connsiteX0" fmla="*/ 4427792 w 4904422"/>
                <a:gd name="connsiteY0" fmla="*/ 0 h 1696212"/>
                <a:gd name="connsiteX1" fmla="*/ 476441 w 4904422"/>
                <a:gd name="connsiteY1" fmla="*/ 0 h 1696212"/>
                <a:gd name="connsiteX2" fmla="*/ 364236 w 4904422"/>
                <a:gd name="connsiteY2" fmla="*/ 70199 h 1696212"/>
                <a:gd name="connsiteX3" fmla="*/ 12573 w 4904422"/>
                <a:gd name="connsiteY3" fmla="*/ 793528 h 1696212"/>
                <a:gd name="connsiteX4" fmla="*/ 12573 w 4904422"/>
                <a:gd name="connsiteY4" fmla="*/ 902589 h 1696212"/>
                <a:gd name="connsiteX5" fmla="*/ 364331 w 4904422"/>
                <a:gd name="connsiteY5" fmla="*/ 1626013 h 1696212"/>
                <a:gd name="connsiteX6" fmla="*/ 476536 w 4904422"/>
                <a:gd name="connsiteY6" fmla="*/ 1696212 h 1696212"/>
                <a:gd name="connsiteX7" fmla="*/ 4427887 w 4904422"/>
                <a:gd name="connsiteY7" fmla="*/ 1696212 h 1696212"/>
                <a:gd name="connsiteX8" fmla="*/ 4540091 w 4904422"/>
                <a:gd name="connsiteY8" fmla="*/ 1626013 h 1696212"/>
                <a:gd name="connsiteX9" fmla="*/ 4891850 w 4904422"/>
                <a:gd name="connsiteY9" fmla="*/ 902589 h 1696212"/>
                <a:gd name="connsiteX10" fmla="*/ 4891850 w 4904422"/>
                <a:gd name="connsiteY10" fmla="*/ 793528 h 1696212"/>
                <a:gd name="connsiteX11" fmla="*/ 4539996 w 4904422"/>
                <a:gd name="connsiteY11" fmla="*/ 70199 h 1696212"/>
                <a:gd name="connsiteX12" fmla="*/ 4427792 w 4904422"/>
                <a:gd name="connsiteY12" fmla="*/ 0 h 169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04422" h="1696212">
                  <a:moveTo>
                    <a:pt x="4427792" y="0"/>
                  </a:moveTo>
                  <a:lnTo>
                    <a:pt x="476441" y="0"/>
                  </a:lnTo>
                  <a:cubicBezTo>
                    <a:pt x="428720" y="0"/>
                    <a:pt x="385191" y="27241"/>
                    <a:pt x="364236" y="70199"/>
                  </a:cubicBezTo>
                  <a:lnTo>
                    <a:pt x="12573" y="793528"/>
                  </a:lnTo>
                  <a:cubicBezTo>
                    <a:pt x="-4191" y="828008"/>
                    <a:pt x="-4191" y="868204"/>
                    <a:pt x="12573" y="902589"/>
                  </a:cubicBezTo>
                  <a:lnTo>
                    <a:pt x="364331" y="1626013"/>
                  </a:lnTo>
                  <a:cubicBezTo>
                    <a:pt x="385191" y="1668971"/>
                    <a:pt x="428720" y="1696212"/>
                    <a:pt x="476536" y="1696212"/>
                  </a:cubicBezTo>
                  <a:lnTo>
                    <a:pt x="4427887" y="1696212"/>
                  </a:lnTo>
                  <a:cubicBezTo>
                    <a:pt x="4475607" y="1696212"/>
                    <a:pt x="4519137" y="1668971"/>
                    <a:pt x="4540091" y="1626013"/>
                  </a:cubicBezTo>
                  <a:lnTo>
                    <a:pt x="4891850" y="902589"/>
                  </a:lnTo>
                  <a:cubicBezTo>
                    <a:pt x="4908614" y="868109"/>
                    <a:pt x="4908614" y="827913"/>
                    <a:pt x="4891850" y="793528"/>
                  </a:cubicBezTo>
                  <a:lnTo>
                    <a:pt x="4539996" y="70199"/>
                  </a:lnTo>
                  <a:cubicBezTo>
                    <a:pt x="4519137" y="27241"/>
                    <a:pt x="4475607" y="0"/>
                    <a:pt x="4427792" y="0"/>
                  </a:cubicBezTo>
                  <a:close/>
                </a:path>
              </a:pathLst>
            </a:custGeom>
            <a:solidFill>
              <a:schemeClr val="tx1">
                <a:alpha val="14000"/>
              </a:schemeClr>
            </a:solidFill>
            <a:ln w="19050" cap="flat">
              <a:noFill/>
              <a:prstDash val="solid"/>
              <a:miter/>
            </a:ln>
            <a:effectLst>
              <a:softEdge rad="165100"/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7E27581F-A0C4-62F8-9AE6-19433973616D}"/>
                </a:ext>
              </a:extLst>
            </p:cNvPr>
            <p:cNvSpPr/>
            <p:nvPr/>
          </p:nvSpPr>
          <p:spPr>
            <a:xfrm>
              <a:off x="7998181" y="1721789"/>
              <a:ext cx="2856912" cy="988073"/>
            </a:xfrm>
            <a:custGeom>
              <a:avLst/>
              <a:gdLst>
                <a:gd name="connsiteX0" fmla="*/ 4427792 w 4904422"/>
                <a:gd name="connsiteY0" fmla="*/ 0 h 1696212"/>
                <a:gd name="connsiteX1" fmla="*/ 476441 w 4904422"/>
                <a:gd name="connsiteY1" fmla="*/ 0 h 1696212"/>
                <a:gd name="connsiteX2" fmla="*/ 364236 w 4904422"/>
                <a:gd name="connsiteY2" fmla="*/ 70199 h 1696212"/>
                <a:gd name="connsiteX3" fmla="*/ 12573 w 4904422"/>
                <a:gd name="connsiteY3" fmla="*/ 793528 h 1696212"/>
                <a:gd name="connsiteX4" fmla="*/ 12573 w 4904422"/>
                <a:gd name="connsiteY4" fmla="*/ 902589 h 1696212"/>
                <a:gd name="connsiteX5" fmla="*/ 364331 w 4904422"/>
                <a:gd name="connsiteY5" fmla="*/ 1626013 h 1696212"/>
                <a:gd name="connsiteX6" fmla="*/ 476536 w 4904422"/>
                <a:gd name="connsiteY6" fmla="*/ 1696212 h 1696212"/>
                <a:gd name="connsiteX7" fmla="*/ 4427887 w 4904422"/>
                <a:gd name="connsiteY7" fmla="*/ 1696212 h 1696212"/>
                <a:gd name="connsiteX8" fmla="*/ 4540091 w 4904422"/>
                <a:gd name="connsiteY8" fmla="*/ 1626013 h 1696212"/>
                <a:gd name="connsiteX9" fmla="*/ 4891850 w 4904422"/>
                <a:gd name="connsiteY9" fmla="*/ 902589 h 1696212"/>
                <a:gd name="connsiteX10" fmla="*/ 4891850 w 4904422"/>
                <a:gd name="connsiteY10" fmla="*/ 793528 h 1696212"/>
                <a:gd name="connsiteX11" fmla="*/ 4539996 w 4904422"/>
                <a:gd name="connsiteY11" fmla="*/ 70199 h 1696212"/>
                <a:gd name="connsiteX12" fmla="*/ 4427792 w 4904422"/>
                <a:gd name="connsiteY12" fmla="*/ 0 h 169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04422" h="1696212">
                  <a:moveTo>
                    <a:pt x="4427792" y="0"/>
                  </a:moveTo>
                  <a:lnTo>
                    <a:pt x="476441" y="0"/>
                  </a:lnTo>
                  <a:cubicBezTo>
                    <a:pt x="428720" y="0"/>
                    <a:pt x="385191" y="27241"/>
                    <a:pt x="364236" y="70199"/>
                  </a:cubicBezTo>
                  <a:lnTo>
                    <a:pt x="12573" y="793528"/>
                  </a:lnTo>
                  <a:cubicBezTo>
                    <a:pt x="-4191" y="828008"/>
                    <a:pt x="-4191" y="868204"/>
                    <a:pt x="12573" y="902589"/>
                  </a:cubicBezTo>
                  <a:lnTo>
                    <a:pt x="364331" y="1626013"/>
                  </a:lnTo>
                  <a:cubicBezTo>
                    <a:pt x="385191" y="1668971"/>
                    <a:pt x="428720" y="1696212"/>
                    <a:pt x="476536" y="1696212"/>
                  </a:cubicBezTo>
                  <a:lnTo>
                    <a:pt x="4427887" y="1696212"/>
                  </a:lnTo>
                  <a:cubicBezTo>
                    <a:pt x="4475607" y="1696212"/>
                    <a:pt x="4519137" y="1668971"/>
                    <a:pt x="4540091" y="1626013"/>
                  </a:cubicBezTo>
                  <a:lnTo>
                    <a:pt x="4891850" y="902589"/>
                  </a:lnTo>
                  <a:cubicBezTo>
                    <a:pt x="4908614" y="868109"/>
                    <a:pt x="4908614" y="827913"/>
                    <a:pt x="4891850" y="793528"/>
                  </a:cubicBezTo>
                  <a:lnTo>
                    <a:pt x="4539996" y="70199"/>
                  </a:lnTo>
                  <a:cubicBezTo>
                    <a:pt x="4519137" y="27241"/>
                    <a:pt x="4475607" y="0"/>
                    <a:pt x="4427792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691602BF-E5CE-758F-F01A-DB89028397B2}"/>
                </a:ext>
              </a:extLst>
            </p:cNvPr>
            <p:cNvGrpSpPr/>
            <p:nvPr/>
          </p:nvGrpSpPr>
          <p:grpSpPr>
            <a:xfrm>
              <a:off x="7980616" y="1484784"/>
              <a:ext cx="1314672" cy="548935"/>
              <a:chOff x="776623" y="4488139"/>
              <a:chExt cx="1314672" cy="548935"/>
            </a:xfrm>
          </p:grpSpPr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15E65D19-66F8-04BE-910F-0FB7AF8F2981}"/>
                  </a:ext>
                </a:extLst>
              </p:cNvPr>
              <p:cNvSpPr/>
              <p:nvPr/>
            </p:nvSpPr>
            <p:spPr>
              <a:xfrm>
                <a:off x="776623" y="4582392"/>
                <a:ext cx="1314672" cy="454682"/>
              </a:xfrm>
              <a:custGeom>
                <a:avLst/>
                <a:gdLst>
                  <a:gd name="connsiteX0" fmla="*/ 4427792 w 4904422"/>
                  <a:gd name="connsiteY0" fmla="*/ 0 h 1696212"/>
                  <a:gd name="connsiteX1" fmla="*/ 476441 w 4904422"/>
                  <a:gd name="connsiteY1" fmla="*/ 0 h 1696212"/>
                  <a:gd name="connsiteX2" fmla="*/ 364236 w 4904422"/>
                  <a:gd name="connsiteY2" fmla="*/ 70199 h 1696212"/>
                  <a:gd name="connsiteX3" fmla="*/ 12573 w 4904422"/>
                  <a:gd name="connsiteY3" fmla="*/ 793528 h 1696212"/>
                  <a:gd name="connsiteX4" fmla="*/ 12573 w 4904422"/>
                  <a:gd name="connsiteY4" fmla="*/ 902589 h 1696212"/>
                  <a:gd name="connsiteX5" fmla="*/ 364331 w 4904422"/>
                  <a:gd name="connsiteY5" fmla="*/ 1626013 h 1696212"/>
                  <a:gd name="connsiteX6" fmla="*/ 476536 w 4904422"/>
                  <a:gd name="connsiteY6" fmla="*/ 1696212 h 1696212"/>
                  <a:gd name="connsiteX7" fmla="*/ 4427887 w 4904422"/>
                  <a:gd name="connsiteY7" fmla="*/ 1696212 h 1696212"/>
                  <a:gd name="connsiteX8" fmla="*/ 4540091 w 4904422"/>
                  <a:gd name="connsiteY8" fmla="*/ 1626013 h 1696212"/>
                  <a:gd name="connsiteX9" fmla="*/ 4891850 w 4904422"/>
                  <a:gd name="connsiteY9" fmla="*/ 902589 h 1696212"/>
                  <a:gd name="connsiteX10" fmla="*/ 4891850 w 4904422"/>
                  <a:gd name="connsiteY10" fmla="*/ 793528 h 1696212"/>
                  <a:gd name="connsiteX11" fmla="*/ 4539996 w 4904422"/>
                  <a:gd name="connsiteY11" fmla="*/ 70199 h 1696212"/>
                  <a:gd name="connsiteX12" fmla="*/ 4427792 w 4904422"/>
                  <a:gd name="connsiteY12" fmla="*/ 0 h 1696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04422" h="1696212">
                    <a:moveTo>
                      <a:pt x="4427792" y="0"/>
                    </a:moveTo>
                    <a:lnTo>
                      <a:pt x="476441" y="0"/>
                    </a:lnTo>
                    <a:cubicBezTo>
                      <a:pt x="428720" y="0"/>
                      <a:pt x="385191" y="27241"/>
                      <a:pt x="364236" y="70199"/>
                    </a:cubicBezTo>
                    <a:lnTo>
                      <a:pt x="12573" y="793528"/>
                    </a:lnTo>
                    <a:cubicBezTo>
                      <a:pt x="-4191" y="828008"/>
                      <a:pt x="-4191" y="868204"/>
                      <a:pt x="12573" y="902589"/>
                    </a:cubicBezTo>
                    <a:lnTo>
                      <a:pt x="364331" y="1626013"/>
                    </a:lnTo>
                    <a:cubicBezTo>
                      <a:pt x="385191" y="1668971"/>
                      <a:pt x="428720" y="1696212"/>
                      <a:pt x="476536" y="1696212"/>
                    </a:cubicBezTo>
                    <a:lnTo>
                      <a:pt x="4427887" y="1696212"/>
                    </a:lnTo>
                    <a:cubicBezTo>
                      <a:pt x="4475607" y="1696212"/>
                      <a:pt x="4519137" y="1668971"/>
                      <a:pt x="4540091" y="1626013"/>
                    </a:cubicBezTo>
                    <a:lnTo>
                      <a:pt x="4891850" y="902589"/>
                    </a:lnTo>
                    <a:cubicBezTo>
                      <a:pt x="4908614" y="868109"/>
                      <a:pt x="4908614" y="827913"/>
                      <a:pt x="4891850" y="793528"/>
                    </a:cubicBezTo>
                    <a:lnTo>
                      <a:pt x="4539996" y="70199"/>
                    </a:lnTo>
                    <a:cubicBezTo>
                      <a:pt x="4519137" y="27241"/>
                      <a:pt x="4475607" y="0"/>
                      <a:pt x="4427792" y="0"/>
                    </a:cubicBezTo>
                    <a:close/>
                  </a:path>
                </a:pathLst>
              </a:custGeom>
              <a:solidFill>
                <a:schemeClr val="tx1">
                  <a:alpha val="49000"/>
                </a:schemeClr>
              </a:solidFill>
              <a:ln w="9525" cap="flat">
                <a:noFill/>
                <a:prstDash val="solid"/>
                <a:miter/>
              </a:ln>
              <a:effectLst>
                <a:softEdge rad="114300"/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3507F220-0197-5C64-8B2A-9CD022BDAFCD}"/>
                  </a:ext>
                </a:extLst>
              </p:cNvPr>
              <p:cNvSpPr/>
              <p:nvPr/>
            </p:nvSpPr>
            <p:spPr>
              <a:xfrm>
                <a:off x="843175" y="4488139"/>
                <a:ext cx="1181568" cy="408649"/>
              </a:xfrm>
              <a:custGeom>
                <a:avLst/>
                <a:gdLst>
                  <a:gd name="connsiteX0" fmla="*/ 4427792 w 4904422"/>
                  <a:gd name="connsiteY0" fmla="*/ 0 h 1696212"/>
                  <a:gd name="connsiteX1" fmla="*/ 476441 w 4904422"/>
                  <a:gd name="connsiteY1" fmla="*/ 0 h 1696212"/>
                  <a:gd name="connsiteX2" fmla="*/ 364236 w 4904422"/>
                  <a:gd name="connsiteY2" fmla="*/ 70199 h 1696212"/>
                  <a:gd name="connsiteX3" fmla="*/ 12573 w 4904422"/>
                  <a:gd name="connsiteY3" fmla="*/ 793528 h 1696212"/>
                  <a:gd name="connsiteX4" fmla="*/ 12573 w 4904422"/>
                  <a:gd name="connsiteY4" fmla="*/ 902589 h 1696212"/>
                  <a:gd name="connsiteX5" fmla="*/ 364331 w 4904422"/>
                  <a:gd name="connsiteY5" fmla="*/ 1626013 h 1696212"/>
                  <a:gd name="connsiteX6" fmla="*/ 476536 w 4904422"/>
                  <a:gd name="connsiteY6" fmla="*/ 1696212 h 1696212"/>
                  <a:gd name="connsiteX7" fmla="*/ 4427887 w 4904422"/>
                  <a:gd name="connsiteY7" fmla="*/ 1696212 h 1696212"/>
                  <a:gd name="connsiteX8" fmla="*/ 4540091 w 4904422"/>
                  <a:gd name="connsiteY8" fmla="*/ 1626013 h 1696212"/>
                  <a:gd name="connsiteX9" fmla="*/ 4891850 w 4904422"/>
                  <a:gd name="connsiteY9" fmla="*/ 902589 h 1696212"/>
                  <a:gd name="connsiteX10" fmla="*/ 4891850 w 4904422"/>
                  <a:gd name="connsiteY10" fmla="*/ 793528 h 1696212"/>
                  <a:gd name="connsiteX11" fmla="*/ 4539996 w 4904422"/>
                  <a:gd name="connsiteY11" fmla="*/ 70199 h 1696212"/>
                  <a:gd name="connsiteX12" fmla="*/ 4427792 w 4904422"/>
                  <a:gd name="connsiteY12" fmla="*/ 0 h 1696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04422" h="1696212">
                    <a:moveTo>
                      <a:pt x="4427792" y="0"/>
                    </a:moveTo>
                    <a:lnTo>
                      <a:pt x="476441" y="0"/>
                    </a:lnTo>
                    <a:cubicBezTo>
                      <a:pt x="428720" y="0"/>
                      <a:pt x="385191" y="27241"/>
                      <a:pt x="364236" y="70199"/>
                    </a:cubicBezTo>
                    <a:lnTo>
                      <a:pt x="12573" y="793528"/>
                    </a:lnTo>
                    <a:cubicBezTo>
                      <a:pt x="-4191" y="828008"/>
                      <a:pt x="-4191" y="868204"/>
                      <a:pt x="12573" y="902589"/>
                    </a:cubicBezTo>
                    <a:lnTo>
                      <a:pt x="364331" y="1626013"/>
                    </a:lnTo>
                    <a:cubicBezTo>
                      <a:pt x="385191" y="1668971"/>
                      <a:pt x="428720" y="1696212"/>
                      <a:pt x="476536" y="1696212"/>
                    </a:cubicBezTo>
                    <a:lnTo>
                      <a:pt x="4427887" y="1696212"/>
                    </a:lnTo>
                    <a:cubicBezTo>
                      <a:pt x="4475607" y="1696212"/>
                      <a:pt x="4519137" y="1668971"/>
                      <a:pt x="4540091" y="1626013"/>
                    </a:cubicBezTo>
                    <a:lnTo>
                      <a:pt x="4891850" y="902589"/>
                    </a:lnTo>
                    <a:cubicBezTo>
                      <a:pt x="4908614" y="868109"/>
                      <a:pt x="4908614" y="827913"/>
                      <a:pt x="4891850" y="793528"/>
                    </a:cubicBezTo>
                    <a:lnTo>
                      <a:pt x="4539996" y="70199"/>
                    </a:lnTo>
                    <a:cubicBezTo>
                      <a:pt x="4519137" y="27241"/>
                      <a:pt x="4475607" y="0"/>
                      <a:pt x="44277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710" name="TextBox 709">
              <a:extLst>
                <a:ext uri="{FF2B5EF4-FFF2-40B4-BE49-F238E27FC236}">
                  <a16:creationId xmlns:a16="http://schemas.microsoft.com/office/drawing/2014/main" id="{1C75C2AE-3857-7F8F-2373-FC81023366E1}"/>
                </a:ext>
              </a:extLst>
            </p:cNvPr>
            <p:cNvSpPr txBox="1"/>
            <p:nvPr/>
          </p:nvSpPr>
          <p:spPr>
            <a:xfrm>
              <a:off x="9076688" y="2025798"/>
              <a:ext cx="1402286" cy="490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s-ES_tradnl" sz="1400" noProof="1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Variables cualitativas</a:t>
              </a: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FD03852C-7BFB-31E2-E0AE-1DB30A12B3D0}"/>
                </a:ext>
              </a:extLst>
            </p:cNvPr>
            <p:cNvSpPr txBox="1"/>
            <p:nvPr/>
          </p:nvSpPr>
          <p:spPr>
            <a:xfrm>
              <a:off x="8205728" y="1541193"/>
              <a:ext cx="910316" cy="3087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Comp 02</a:t>
              </a:r>
            </a:p>
          </p:txBody>
        </p:sp>
        <p:pic>
          <p:nvPicPr>
            <p:cNvPr id="722" name="Graphic 721" descr="Bullseye outline">
              <a:extLst>
                <a:ext uri="{FF2B5EF4-FFF2-40B4-BE49-F238E27FC236}">
                  <a16:creationId xmlns:a16="http://schemas.microsoft.com/office/drawing/2014/main" id="{B78720C4-EF20-704A-9614-0B0CC1FDA0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328173" y="1973589"/>
              <a:ext cx="594568" cy="594568"/>
            </a:xfrm>
            <a:prstGeom prst="rect">
              <a:avLst/>
            </a:prstGeom>
          </p:spPr>
        </p:pic>
      </p:grpSp>
      <p:grpSp>
        <p:nvGrpSpPr>
          <p:cNvPr id="730" name="Group 729">
            <a:extLst>
              <a:ext uri="{FF2B5EF4-FFF2-40B4-BE49-F238E27FC236}">
                <a16:creationId xmlns:a16="http://schemas.microsoft.com/office/drawing/2014/main" id="{5D936727-C347-AF80-19F4-A79BB442DB71}"/>
              </a:ext>
            </a:extLst>
          </p:cNvPr>
          <p:cNvGrpSpPr/>
          <p:nvPr/>
        </p:nvGrpSpPr>
        <p:grpSpPr>
          <a:xfrm>
            <a:off x="7455837" y="5002589"/>
            <a:ext cx="3547075" cy="1462198"/>
            <a:chOff x="5531333" y="4488139"/>
            <a:chExt cx="3547075" cy="1462198"/>
          </a:xfrm>
        </p:grpSpPr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A66F67EE-7F8B-7D79-D3AE-1207D0E5C4F2}"/>
                </a:ext>
              </a:extLst>
            </p:cNvPr>
            <p:cNvSpPr/>
            <p:nvPr/>
          </p:nvSpPr>
          <p:spPr>
            <a:xfrm>
              <a:off x="6930980" y="4969166"/>
              <a:ext cx="2147428" cy="744106"/>
            </a:xfrm>
            <a:custGeom>
              <a:avLst/>
              <a:gdLst>
                <a:gd name="connsiteX0" fmla="*/ 3311747 w 3686460"/>
                <a:gd name="connsiteY0" fmla="*/ 0 h 1277397"/>
                <a:gd name="connsiteX1" fmla="*/ 374714 w 3686460"/>
                <a:gd name="connsiteY1" fmla="*/ 0 h 1277397"/>
                <a:gd name="connsiteX2" fmla="*/ 262509 w 3686460"/>
                <a:gd name="connsiteY2" fmla="*/ 70199 h 1277397"/>
                <a:gd name="connsiteX3" fmla="*/ 12573 w 3686460"/>
                <a:gd name="connsiteY3" fmla="*/ 584168 h 1277397"/>
                <a:gd name="connsiteX4" fmla="*/ 12573 w 3686460"/>
                <a:gd name="connsiteY4" fmla="*/ 693230 h 1277397"/>
                <a:gd name="connsiteX5" fmla="*/ 262509 w 3686460"/>
                <a:gd name="connsiteY5" fmla="*/ 1207199 h 1277397"/>
                <a:gd name="connsiteX6" fmla="*/ 374714 w 3686460"/>
                <a:gd name="connsiteY6" fmla="*/ 1277398 h 1277397"/>
                <a:gd name="connsiteX7" fmla="*/ 3311747 w 3686460"/>
                <a:gd name="connsiteY7" fmla="*/ 1277398 h 1277397"/>
                <a:gd name="connsiteX8" fmla="*/ 3423952 w 3686460"/>
                <a:gd name="connsiteY8" fmla="*/ 1207199 h 1277397"/>
                <a:gd name="connsiteX9" fmla="*/ 3673888 w 3686460"/>
                <a:gd name="connsiteY9" fmla="*/ 693230 h 1277397"/>
                <a:gd name="connsiteX10" fmla="*/ 3673888 w 3686460"/>
                <a:gd name="connsiteY10" fmla="*/ 584168 h 1277397"/>
                <a:gd name="connsiteX11" fmla="*/ 3423952 w 3686460"/>
                <a:gd name="connsiteY11" fmla="*/ 70199 h 1277397"/>
                <a:gd name="connsiteX12" fmla="*/ 3311747 w 3686460"/>
                <a:gd name="connsiteY12" fmla="*/ 0 h 1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86460" h="1277397">
                  <a:moveTo>
                    <a:pt x="3311747" y="0"/>
                  </a:moveTo>
                  <a:lnTo>
                    <a:pt x="374714" y="0"/>
                  </a:lnTo>
                  <a:cubicBezTo>
                    <a:pt x="326993" y="0"/>
                    <a:pt x="283464" y="27242"/>
                    <a:pt x="262509" y="70199"/>
                  </a:cubicBezTo>
                  <a:lnTo>
                    <a:pt x="12573" y="584168"/>
                  </a:lnTo>
                  <a:cubicBezTo>
                    <a:pt x="-4191" y="618649"/>
                    <a:pt x="-4191" y="658844"/>
                    <a:pt x="12573" y="693230"/>
                  </a:cubicBezTo>
                  <a:lnTo>
                    <a:pt x="262509" y="1207199"/>
                  </a:lnTo>
                  <a:cubicBezTo>
                    <a:pt x="283369" y="1250156"/>
                    <a:pt x="326898" y="1277398"/>
                    <a:pt x="374714" y="1277398"/>
                  </a:cubicBezTo>
                  <a:lnTo>
                    <a:pt x="3311747" y="1277398"/>
                  </a:lnTo>
                  <a:cubicBezTo>
                    <a:pt x="3359468" y="1277398"/>
                    <a:pt x="3402997" y="1250156"/>
                    <a:pt x="3423952" y="1207199"/>
                  </a:cubicBezTo>
                  <a:lnTo>
                    <a:pt x="3673888" y="693230"/>
                  </a:lnTo>
                  <a:cubicBezTo>
                    <a:pt x="3690652" y="658749"/>
                    <a:pt x="3690652" y="618554"/>
                    <a:pt x="3673888" y="584168"/>
                  </a:cubicBezTo>
                  <a:lnTo>
                    <a:pt x="3423952" y="70199"/>
                  </a:lnTo>
                  <a:cubicBezTo>
                    <a:pt x="3403092" y="27242"/>
                    <a:pt x="3359563" y="0"/>
                    <a:pt x="3311747" y="0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3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411" name="Group 410">
              <a:extLst>
                <a:ext uri="{FF2B5EF4-FFF2-40B4-BE49-F238E27FC236}">
                  <a16:creationId xmlns:a16="http://schemas.microsoft.com/office/drawing/2014/main" id="{2D6B60F2-0889-67D3-A6DE-E9E3529EDD93}"/>
                </a:ext>
              </a:extLst>
            </p:cNvPr>
            <p:cNvGrpSpPr/>
            <p:nvPr/>
          </p:nvGrpSpPr>
          <p:grpSpPr>
            <a:xfrm>
              <a:off x="7957616" y="4977211"/>
              <a:ext cx="1096712" cy="732899"/>
              <a:chOff x="3101412" y="4977211"/>
              <a:chExt cx="1096712" cy="732899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D8B5D10-53F0-4755-EC37-A84FAC2064FA}"/>
                  </a:ext>
                </a:extLst>
              </p:cNvPr>
              <p:cNvSpPr/>
              <p:nvPr/>
            </p:nvSpPr>
            <p:spPr>
              <a:xfrm>
                <a:off x="3101412" y="5662116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A0AD2AD5-6962-5E6C-BF86-18CAB498BB2D}"/>
                  </a:ext>
                </a:extLst>
              </p:cNvPr>
              <p:cNvSpPr/>
              <p:nvPr/>
            </p:nvSpPr>
            <p:spPr>
              <a:xfrm>
                <a:off x="3101412" y="5539383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19FF9F85-DF7E-5AA5-F26F-12D9C7F58D90}"/>
                  </a:ext>
                </a:extLst>
              </p:cNvPr>
              <p:cNvSpPr/>
              <p:nvPr/>
            </p:nvSpPr>
            <p:spPr>
              <a:xfrm>
                <a:off x="3101412" y="541670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73E56287-385F-14B4-B78E-47ABDBF5F8D0}"/>
                  </a:ext>
                </a:extLst>
              </p:cNvPr>
              <p:cNvSpPr/>
              <p:nvPr/>
            </p:nvSpPr>
            <p:spPr>
              <a:xfrm>
                <a:off x="3101412" y="5294030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FFD91415-8564-AE15-C289-98827F6316CF}"/>
                  </a:ext>
                </a:extLst>
              </p:cNvPr>
              <p:cNvSpPr/>
              <p:nvPr/>
            </p:nvSpPr>
            <p:spPr>
              <a:xfrm>
                <a:off x="3101412" y="5171297"/>
                <a:ext cx="32846" cy="30405"/>
              </a:xfrm>
              <a:custGeom>
                <a:avLst/>
                <a:gdLst>
                  <a:gd name="connsiteX0" fmla="*/ 56388 w 56387"/>
                  <a:gd name="connsiteY0" fmla="*/ 26099 h 52196"/>
                  <a:gd name="connsiteX1" fmla="*/ 28194 w 56387"/>
                  <a:gd name="connsiteY1" fmla="*/ 52197 h 52196"/>
                  <a:gd name="connsiteX2" fmla="*/ 0 w 56387"/>
                  <a:gd name="connsiteY2" fmla="*/ 26099 h 52196"/>
                  <a:gd name="connsiteX3" fmla="*/ 28194 w 56387"/>
                  <a:gd name="connsiteY3" fmla="*/ 0 h 52196"/>
                  <a:gd name="connsiteX4" fmla="*/ 56388 w 56387"/>
                  <a:gd name="connsiteY4" fmla="*/ 26099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56388" y="26099"/>
                    </a:moveTo>
                    <a:cubicBezTo>
                      <a:pt x="56388" y="40512"/>
                      <a:pt x="43765" y="52197"/>
                      <a:pt x="28194" y="52197"/>
                    </a:cubicBezTo>
                    <a:cubicBezTo>
                      <a:pt x="12623" y="52197"/>
                      <a:pt x="0" y="40512"/>
                      <a:pt x="0" y="26099"/>
                    </a:cubicBezTo>
                    <a:cubicBezTo>
                      <a:pt x="0" y="11685"/>
                      <a:pt x="12623" y="0"/>
                      <a:pt x="28194" y="0"/>
                    </a:cubicBezTo>
                    <a:cubicBezTo>
                      <a:pt x="43765" y="0"/>
                      <a:pt x="56388" y="11685"/>
                      <a:pt x="56388" y="260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22607B0A-0C92-747D-DA84-1B7B828452A1}"/>
                  </a:ext>
                </a:extLst>
              </p:cNvPr>
              <p:cNvSpPr/>
              <p:nvPr/>
            </p:nvSpPr>
            <p:spPr>
              <a:xfrm>
                <a:off x="3101412" y="5048620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E667A38-75B0-7821-CC88-212EB3E7A4E0}"/>
                  </a:ext>
                </a:extLst>
              </p:cNvPr>
              <p:cNvSpPr/>
              <p:nvPr/>
            </p:nvSpPr>
            <p:spPr>
              <a:xfrm>
                <a:off x="3179701" y="4982372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047D2EB6-893D-463C-6664-713A1DF4FEF9}"/>
                  </a:ext>
                </a:extLst>
              </p:cNvPr>
              <p:cNvSpPr/>
              <p:nvPr/>
            </p:nvSpPr>
            <p:spPr>
              <a:xfrm>
                <a:off x="3179701" y="5105104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F996BD6-669D-351C-69A6-5AAA858F9971}"/>
                  </a:ext>
                </a:extLst>
              </p:cNvPr>
              <p:cNvSpPr/>
              <p:nvPr/>
            </p:nvSpPr>
            <p:spPr>
              <a:xfrm>
                <a:off x="3179701" y="5227781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C7603830-6D1F-C70F-D997-1482E1303ABE}"/>
                  </a:ext>
                </a:extLst>
              </p:cNvPr>
              <p:cNvSpPr/>
              <p:nvPr/>
            </p:nvSpPr>
            <p:spPr>
              <a:xfrm>
                <a:off x="3179701" y="5350513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8 h 52197"/>
                  <a:gd name="connsiteX2" fmla="*/ 28194 w 56387"/>
                  <a:gd name="connsiteY2" fmla="*/ 52197 h 52197"/>
                  <a:gd name="connsiteX3" fmla="*/ 56388 w 56387"/>
                  <a:gd name="connsiteY3" fmla="*/ 26098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854BD9E0-B779-ECBD-1E2A-E3E7DA0A6B45}"/>
                  </a:ext>
                </a:extLst>
              </p:cNvPr>
              <p:cNvSpPr/>
              <p:nvPr/>
            </p:nvSpPr>
            <p:spPr>
              <a:xfrm>
                <a:off x="3179701" y="5473190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BB1A8323-F45D-46D7-F21A-6C02DEAF7E4A}"/>
                  </a:ext>
                </a:extLst>
              </p:cNvPr>
              <p:cNvSpPr/>
              <p:nvPr/>
            </p:nvSpPr>
            <p:spPr>
              <a:xfrm>
                <a:off x="3179701" y="5595867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46F8805F-E62C-09CD-F7EE-4A2AA1B5E093}"/>
                  </a:ext>
                </a:extLst>
              </p:cNvPr>
              <p:cNvSpPr/>
              <p:nvPr/>
            </p:nvSpPr>
            <p:spPr>
              <a:xfrm>
                <a:off x="3230747" y="5656900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A62CE4B6-8AE7-C313-4A4D-359AC51DE43F}"/>
                  </a:ext>
                </a:extLst>
              </p:cNvPr>
              <p:cNvSpPr/>
              <p:nvPr/>
            </p:nvSpPr>
            <p:spPr>
              <a:xfrm>
                <a:off x="3230747" y="553422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F8ABAAB7-D3CB-0EEF-7E48-266665C7D897}"/>
                  </a:ext>
                </a:extLst>
              </p:cNvPr>
              <p:cNvSpPr/>
              <p:nvPr/>
            </p:nvSpPr>
            <p:spPr>
              <a:xfrm>
                <a:off x="3230747" y="541149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F8E6F840-C553-1E33-4933-7179158A45B3}"/>
                  </a:ext>
                </a:extLst>
              </p:cNvPr>
              <p:cNvSpPr/>
              <p:nvPr/>
            </p:nvSpPr>
            <p:spPr>
              <a:xfrm>
                <a:off x="3230747" y="5288814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621"/>
                      <a:pt x="0" y="26099"/>
                    </a:cubicBezTo>
                    <a:cubicBezTo>
                      <a:pt x="0" y="40577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F7B6D550-7523-2D96-EF4D-F2B63C37D5C9}"/>
                  </a:ext>
                </a:extLst>
              </p:cNvPr>
              <p:cNvSpPr/>
              <p:nvPr/>
            </p:nvSpPr>
            <p:spPr>
              <a:xfrm>
                <a:off x="3230747" y="5166137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517006AB-DFB6-400F-5327-8157147690D5}"/>
                  </a:ext>
                </a:extLst>
              </p:cNvPr>
              <p:cNvSpPr/>
              <p:nvPr/>
            </p:nvSpPr>
            <p:spPr>
              <a:xfrm>
                <a:off x="3230747" y="504340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DDDB8628-D13A-6C58-DE72-3AEC42E4511A}"/>
                  </a:ext>
                </a:extLst>
              </p:cNvPr>
              <p:cNvSpPr/>
              <p:nvPr/>
            </p:nvSpPr>
            <p:spPr>
              <a:xfrm>
                <a:off x="3309036" y="4977211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8CE85EEA-A8F8-3793-5FFF-86533C718CE3}"/>
                  </a:ext>
                </a:extLst>
              </p:cNvPr>
              <p:cNvSpPr/>
              <p:nvPr/>
            </p:nvSpPr>
            <p:spPr>
              <a:xfrm>
                <a:off x="3309036" y="5099888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4C524EE0-A9E9-0650-666A-9E990A82F204}"/>
                  </a:ext>
                </a:extLst>
              </p:cNvPr>
              <p:cNvSpPr/>
              <p:nvPr/>
            </p:nvSpPr>
            <p:spPr>
              <a:xfrm>
                <a:off x="3309036" y="522256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C241D22F-0C8D-9C2E-59D2-23905C3DF3AD}"/>
                  </a:ext>
                </a:extLst>
              </p:cNvPr>
              <p:cNvSpPr/>
              <p:nvPr/>
            </p:nvSpPr>
            <p:spPr>
              <a:xfrm>
                <a:off x="3309036" y="534529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9E72B343-AA95-04C0-2BA3-B63B0DEA2593}"/>
                  </a:ext>
                </a:extLst>
              </p:cNvPr>
              <p:cNvSpPr/>
              <p:nvPr/>
            </p:nvSpPr>
            <p:spPr>
              <a:xfrm>
                <a:off x="3309036" y="546797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B308A714-FEC7-096A-91A3-2EB03A67110E}"/>
                  </a:ext>
                </a:extLst>
              </p:cNvPr>
              <p:cNvSpPr/>
              <p:nvPr/>
            </p:nvSpPr>
            <p:spPr>
              <a:xfrm>
                <a:off x="3309036" y="5590707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EE353434-6172-2BD2-4D4E-BFFB770E151F}"/>
                  </a:ext>
                </a:extLst>
              </p:cNvPr>
              <p:cNvSpPr/>
              <p:nvPr/>
            </p:nvSpPr>
            <p:spPr>
              <a:xfrm>
                <a:off x="3878643" y="4977211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8CA84240-2767-813B-8B0D-493D0DBC6DE6}"/>
                  </a:ext>
                </a:extLst>
              </p:cNvPr>
              <p:cNvSpPr/>
              <p:nvPr/>
            </p:nvSpPr>
            <p:spPr>
              <a:xfrm>
                <a:off x="3878643" y="5099888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5FAA26A2-2879-E025-DBF8-E7F54AD614AB}"/>
                  </a:ext>
                </a:extLst>
              </p:cNvPr>
              <p:cNvSpPr/>
              <p:nvPr/>
            </p:nvSpPr>
            <p:spPr>
              <a:xfrm>
                <a:off x="3878643" y="522256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CE81B582-85D7-1A19-FEE9-C7F8498537B1}"/>
                  </a:ext>
                </a:extLst>
              </p:cNvPr>
              <p:cNvSpPr/>
              <p:nvPr/>
            </p:nvSpPr>
            <p:spPr>
              <a:xfrm>
                <a:off x="3878643" y="534529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D145850E-F11C-D9A8-DB49-01B7F1D91267}"/>
                  </a:ext>
                </a:extLst>
              </p:cNvPr>
              <p:cNvSpPr/>
              <p:nvPr/>
            </p:nvSpPr>
            <p:spPr>
              <a:xfrm>
                <a:off x="3878643" y="546797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56C80C05-396B-7754-D2BC-D57E6DF957FF}"/>
                  </a:ext>
                </a:extLst>
              </p:cNvPr>
              <p:cNvSpPr/>
              <p:nvPr/>
            </p:nvSpPr>
            <p:spPr>
              <a:xfrm>
                <a:off x="3878643" y="5590707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37E0FB06-8D10-220A-46F1-36F599AA06C7}"/>
                  </a:ext>
                </a:extLst>
              </p:cNvPr>
              <p:cNvSpPr/>
              <p:nvPr/>
            </p:nvSpPr>
            <p:spPr>
              <a:xfrm>
                <a:off x="3800354" y="5656900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722E8FDD-9FA7-6791-6BAD-CD7D8E716EC2}"/>
                  </a:ext>
                </a:extLst>
              </p:cNvPr>
              <p:cNvSpPr/>
              <p:nvPr/>
            </p:nvSpPr>
            <p:spPr>
              <a:xfrm>
                <a:off x="3800354" y="553422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175F1162-E9B7-E653-C283-31DE14EEAD95}"/>
                  </a:ext>
                </a:extLst>
              </p:cNvPr>
              <p:cNvSpPr/>
              <p:nvPr/>
            </p:nvSpPr>
            <p:spPr>
              <a:xfrm>
                <a:off x="3800354" y="541149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CDDD434E-60A3-BDB5-4A7B-616A4795BC3E}"/>
                  </a:ext>
                </a:extLst>
              </p:cNvPr>
              <p:cNvSpPr/>
              <p:nvPr/>
            </p:nvSpPr>
            <p:spPr>
              <a:xfrm>
                <a:off x="3800354" y="5288814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761140C6-5208-AECA-94F6-10D277BFF967}"/>
                  </a:ext>
                </a:extLst>
              </p:cNvPr>
              <p:cNvSpPr/>
              <p:nvPr/>
            </p:nvSpPr>
            <p:spPr>
              <a:xfrm>
                <a:off x="3800354" y="5166137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473E9BE-0928-E5D0-5F8A-77608471788A}"/>
                  </a:ext>
                </a:extLst>
              </p:cNvPr>
              <p:cNvSpPr/>
              <p:nvPr/>
            </p:nvSpPr>
            <p:spPr>
              <a:xfrm>
                <a:off x="3800354" y="504340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32095A45-32F2-B6D6-A818-FA6224ACFF28}"/>
                  </a:ext>
                </a:extLst>
              </p:cNvPr>
              <p:cNvSpPr/>
              <p:nvPr/>
            </p:nvSpPr>
            <p:spPr>
              <a:xfrm>
                <a:off x="3749308" y="4982372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C52CC827-3DE9-0398-634B-FFFEBA80CF46}"/>
                  </a:ext>
                </a:extLst>
              </p:cNvPr>
              <p:cNvSpPr/>
              <p:nvPr/>
            </p:nvSpPr>
            <p:spPr>
              <a:xfrm>
                <a:off x="3749308" y="5105104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C462E499-1DE7-3263-198F-E3126D98D273}"/>
                  </a:ext>
                </a:extLst>
              </p:cNvPr>
              <p:cNvSpPr/>
              <p:nvPr/>
            </p:nvSpPr>
            <p:spPr>
              <a:xfrm>
                <a:off x="3749308" y="522778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19CB1747-39E0-59AE-76F4-5FC4939B8E09}"/>
                  </a:ext>
                </a:extLst>
              </p:cNvPr>
              <p:cNvSpPr/>
              <p:nvPr/>
            </p:nvSpPr>
            <p:spPr>
              <a:xfrm>
                <a:off x="3749308" y="5350513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D5ADC284-FF4C-2BDB-181E-F4CE9A97E505}"/>
                  </a:ext>
                </a:extLst>
              </p:cNvPr>
              <p:cNvSpPr/>
              <p:nvPr/>
            </p:nvSpPr>
            <p:spPr>
              <a:xfrm>
                <a:off x="3749308" y="5473190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020FEAC7-44A3-BCB8-1439-7CB0A02E06F6}"/>
                  </a:ext>
                </a:extLst>
              </p:cNvPr>
              <p:cNvSpPr/>
              <p:nvPr/>
            </p:nvSpPr>
            <p:spPr>
              <a:xfrm>
                <a:off x="3749308" y="5595867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C15D0E10-9B67-6CD8-4BDD-4E7D3C2D3958}"/>
                  </a:ext>
                </a:extLst>
              </p:cNvPr>
              <p:cNvSpPr/>
              <p:nvPr/>
            </p:nvSpPr>
            <p:spPr>
              <a:xfrm>
                <a:off x="3671019" y="5662116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43654821-1841-2FEC-1644-B8DDB177EF37}"/>
                  </a:ext>
                </a:extLst>
              </p:cNvPr>
              <p:cNvSpPr/>
              <p:nvPr/>
            </p:nvSpPr>
            <p:spPr>
              <a:xfrm>
                <a:off x="3671019" y="553938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3458D70C-361C-80A5-5248-B6BB1A8F2A39}"/>
                  </a:ext>
                </a:extLst>
              </p:cNvPr>
              <p:cNvSpPr/>
              <p:nvPr/>
            </p:nvSpPr>
            <p:spPr>
              <a:xfrm>
                <a:off x="3671019" y="5416706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BC47C4E9-DEFA-4D57-4627-40B615DC025F}"/>
                  </a:ext>
                </a:extLst>
              </p:cNvPr>
              <p:cNvSpPr/>
              <p:nvPr/>
            </p:nvSpPr>
            <p:spPr>
              <a:xfrm>
                <a:off x="3671019" y="5294030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8 h 52197"/>
                  <a:gd name="connsiteX2" fmla="*/ 28194 w 56387"/>
                  <a:gd name="connsiteY2" fmla="*/ 52197 h 52197"/>
                  <a:gd name="connsiteX3" fmla="*/ 56388 w 56387"/>
                  <a:gd name="connsiteY3" fmla="*/ 26098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B394B177-798A-6CAD-87AC-3A521593800B}"/>
                  </a:ext>
                </a:extLst>
              </p:cNvPr>
              <p:cNvSpPr/>
              <p:nvPr/>
            </p:nvSpPr>
            <p:spPr>
              <a:xfrm>
                <a:off x="3671019" y="5171297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BFEAFE21-50B3-D5F9-129C-5B690294C557}"/>
                  </a:ext>
                </a:extLst>
              </p:cNvPr>
              <p:cNvSpPr/>
              <p:nvPr/>
            </p:nvSpPr>
            <p:spPr>
              <a:xfrm>
                <a:off x="3671019" y="5048620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1FDC0B25-5B92-DBD5-2161-FD81B3807468}"/>
                  </a:ext>
                </a:extLst>
              </p:cNvPr>
              <p:cNvSpPr/>
              <p:nvPr/>
            </p:nvSpPr>
            <p:spPr>
              <a:xfrm>
                <a:off x="3589068" y="4994800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6FD7ED0F-CA45-EA6F-4CA1-EC9DEDD7A146}"/>
                  </a:ext>
                </a:extLst>
              </p:cNvPr>
              <p:cNvSpPr/>
              <p:nvPr/>
            </p:nvSpPr>
            <p:spPr>
              <a:xfrm>
                <a:off x="3589068" y="5117533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943D01AF-5E00-DDC7-E7F8-F1C726654452}"/>
                  </a:ext>
                </a:extLst>
              </p:cNvPr>
              <p:cNvSpPr/>
              <p:nvPr/>
            </p:nvSpPr>
            <p:spPr>
              <a:xfrm>
                <a:off x="3589068" y="524020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0CC99F4D-92DC-F56F-45FA-D4EFC5DB75BA}"/>
                  </a:ext>
                </a:extLst>
              </p:cNvPr>
              <p:cNvSpPr/>
              <p:nvPr/>
            </p:nvSpPr>
            <p:spPr>
              <a:xfrm>
                <a:off x="3589068" y="536288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C99C41B7-DAF3-9A8B-5253-8DFDC06607C0}"/>
                  </a:ext>
                </a:extLst>
              </p:cNvPr>
              <p:cNvSpPr/>
              <p:nvPr/>
            </p:nvSpPr>
            <p:spPr>
              <a:xfrm>
                <a:off x="3589068" y="548561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5CD29F5B-2C57-5A76-FE90-1E729859CFBA}"/>
                  </a:ext>
                </a:extLst>
              </p:cNvPr>
              <p:cNvSpPr/>
              <p:nvPr/>
            </p:nvSpPr>
            <p:spPr>
              <a:xfrm>
                <a:off x="3589068" y="560829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AB19153E-8AA7-43F5-6070-9848171182F1}"/>
                  </a:ext>
                </a:extLst>
              </p:cNvPr>
              <p:cNvSpPr/>
              <p:nvPr/>
            </p:nvSpPr>
            <p:spPr>
              <a:xfrm>
                <a:off x="3510779" y="5674544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83864DA7-0130-5B83-ACC4-17766AA6A826}"/>
                  </a:ext>
                </a:extLst>
              </p:cNvPr>
              <p:cNvSpPr/>
              <p:nvPr/>
            </p:nvSpPr>
            <p:spPr>
              <a:xfrm>
                <a:off x="3510779" y="5551812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3F4CD62F-542A-18FD-D9FA-FD6FDF98E2E6}"/>
                  </a:ext>
                </a:extLst>
              </p:cNvPr>
              <p:cNvSpPr/>
              <p:nvPr/>
            </p:nvSpPr>
            <p:spPr>
              <a:xfrm>
                <a:off x="3510779" y="5429135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D8C26202-1B01-30A0-CE3D-35500B0F6CEB}"/>
                  </a:ext>
                </a:extLst>
              </p:cNvPr>
              <p:cNvSpPr/>
              <p:nvPr/>
            </p:nvSpPr>
            <p:spPr>
              <a:xfrm>
                <a:off x="3510779" y="5306403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EAF3D32F-B7AB-88BD-2613-EE9C866C0FA8}"/>
                  </a:ext>
                </a:extLst>
              </p:cNvPr>
              <p:cNvSpPr/>
              <p:nvPr/>
            </p:nvSpPr>
            <p:spPr>
              <a:xfrm>
                <a:off x="3510779" y="518372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721754A6-100D-615B-0A83-E363BDAAF7EF}"/>
                  </a:ext>
                </a:extLst>
              </p:cNvPr>
              <p:cNvSpPr/>
              <p:nvPr/>
            </p:nvSpPr>
            <p:spPr>
              <a:xfrm>
                <a:off x="3510779" y="506104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21FD091D-657F-B4AB-2DD9-89C8E8813A44}"/>
                  </a:ext>
                </a:extLst>
              </p:cNvPr>
              <p:cNvSpPr/>
              <p:nvPr/>
            </p:nvSpPr>
            <p:spPr>
              <a:xfrm>
                <a:off x="3459733" y="500001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CBE2C159-76BF-585A-5729-78D72FDC004B}"/>
                  </a:ext>
                </a:extLst>
              </p:cNvPr>
              <p:cNvSpPr/>
              <p:nvPr/>
            </p:nvSpPr>
            <p:spPr>
              <a:xfrm>
                <a:off x="3459733" y="512269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C1DCD58-6DD3-EFBB-938C-74B082817545}"/>
                  </a:ext>
                </a:extLst>
              </p:cNvPr>
              <p:cNvSpPr/>
              <p:nvPr/>
            </p:nvSpPr>
            <p:spPr>
              <a:xfrm>
                <a:off x="3459733" y="5245425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7F36A54E-04CF-C3EC-F8C9-43F8A38CC4D4}"/>
                  </a:ext>
                </a:extLst>
              </p:cNvPr>
              <p:cNvSpPr/>
              <p:nvPr/>
            </p:nvSpPr>
            <p:spPr>
              <a:xfrm>
                <a:off x="3459733" y="5368101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57C32349-CF28-4BB4-A15F-0460B6A5FB78}"/>
                  </a:ext>
                </a:extLst>
              </p:cNvPr>
              <p:cNvSpPr/>
              <p:nvPr/>
            </p:nvSpPr>
            <p:spPr>
              <a:xfrm>
                <a:off x="3459733" y="549083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340583AC-05CD-FDB0-2678-38E8C00D3FC7}"/>
                  </a:ext>
                </a:extLst>
              </p:cNvPr>
              <p:cNvSpPr/>
              <p:nvPr/>
            </p:nvSpPr>
            <p:spPr>
              <a:xfrm>
                <a:off x="3459733" y="561351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226B010F-08DE-009E-1EDA-1EE40A1692D6}"/>
                  </a:ext>
                </a:extLst>
              </p:cNvPr>
              <p:cNvSpPr/>
              <p:nvPr/>
            </p:nvSpPr>
            <p:spPr>
              <a:xfrm>
                <a:off x="3381444" y="5679704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577"/>
                      <a:pt x="56388" y="26099"/>
                    </a:cubicBezTo>
                    <a:cubicBezTo>
                      <a:pt x="56388" y="11621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C26671A4-5D01-44D0-143B-05A729BC9102}"/>
                  </a:ext>
                </a:extLst>
              </p:cNvPr>
              <p:cNvSpPr/>
              <p:nvPr/>
            </p:nvSpPr>
            <p:spPr>
              <a:xfrm>
                <a:off x="3381444" y="555702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F1892A72-99A1-F721-71F4-29ED7978324E}"/>
                  </a:ext>
                </a:extLst>
              </p:cNvPr>
              <p:cNvSpPr/>
              <p:nvPr/>
            </p:nvSpPr>
            <p:spPr>
              <a:xfrm>
                <a:off x="3381444" y="543435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BAF3B168-E010-E76A-A02D-6F6039FDDBF9}"/>
                  </a:ext>
                </a:extLst>
              </p:cNvPr>
              <p:cNvSpPr/>
              <p:nvPr/>
            </p:nvSpPr>
            <p:spPr>
              <a:xfrm>
                <a:off x="3381444" y="531161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DAF95129-EE0D-93F0-84B6-4FBE4D33BE09}"/>
                  </a:ext>
                </a:extLst>
              </p:cNvPr>
              <p:cNvSpPr/>
              <p:nvPr/>
            </p:nvSpPr>
            <p:spPr>
              <a:xfrm>
                <a:off x="3381444" y="518894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8284B9A3-0EFF-D7FB-FB15-A48612BF53E8}"/>
                  </a:ext>
                </a:extLst>
              </p:cNvPr>
              <p:cNvSpPr/>
              <p:nvPr/>
            </p:nvSpPr>
            <p:spPr>
              <a:xfrm>
                <a:off x="3381444" y="506620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8D4A4632-98F3-8E73-01B6-C41B6841FEC1}"/>
                  </a:ext>
                </a:extLst>
              </p:cNvPr>
              <p:cNvSpPr/>
              <p:nvPr/>
            </p:nvSpPr>
            <p:spPr>
              <a:xfrm>
                <a:off x="4165278" y="5362886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0FF1FD8D-349E-ED7F-E24E-6DD76E16F613}"/>
                  </a:ext>
                </a:extLst>
              </p:cNvPr>
              <p:cNvSpPr/>
              <p:nvPr/>
            </p:nvSpPr>
            <p:spPr>
              <a:xfrm>
                <a:off x="4075891" y="5551812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1B3457F-A8F5-68EF-AA88-B0126237C054}"/>
                  </a:ext>
                </a:extLst>
              </p:cNvPr>
              <p:cNvSpPr/>
              <p:nvPr/>
            </p:nvSpPr>
            <p:spPr>
              <a:xfrm>
                <a:off x="4086988" y="5429135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8 h 52197"/>
                  <a:gd name="connsiteX2" fmla="*/ 28194 w 56387"/>
                  <a:gd name="connsiteY2" fmla="*/ 52197 h 52197"/>
                  <a:gd name="connsiteX3" fmla="*/ 56388 w 56387"/>
                  <a:gd name="connsiteY3" fmla="*/ 26098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8012F8CA-6D69-94E2-AA4C-702C87022FE8}"/>
                  </a:ext>
                </a:extLst>
              </p:cNvPr>
              <p:cNvSpPr/>
              <p:nvPr/>
            </p:nvSpPr>
            <p:spPr>
              <a:xfrm>
                <a:off x="4086988" y="530640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9B7A886A-274B-4954-6904-178813DB6A14}"/>
                  </a:ext>
                </a:extLst>
              </p:cNvPr>
              <p:cNvSpPr/>
              <p:nvPr/>
            </p:nvSpPr>
            <p:spPr>
              <a:xfrm>
                <a:off x="4086988" y="5183726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95253DC4-A84D-1295-F0CB-ADFBFDD1AC03}"/>
                  </a:ext>
                </a:extLst>
              </p:cNvPr>
              <p:cNvSpPr/>
              <p:nvPr/>
            </p:nvSpPr>
            <p:spPr>
              <a:xfrm>
                <a:off x="4013804" y="500001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A144EDE5-C1D9-2DD2-29D8-871867D331DB}"/>
                  </a:ext>
                </a:extLst>
              </p:cNvPr>
              <p:cNvSpPr/>
              <p:nvPr/>
            </p:nvSpPr>
            <p:spPr>
              <a:xfrm>
                <a:off x="4035998" y="512269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CA4F5B9B-3EBF-E6F9-F8A3-CFB7E08E42D3}"/>
                  </a:ext>
                </a:extLst>
              </p:cNvPr>
              <p:cNvSpPr/>
              <p:nvPr/>
            </p:nvSpPr>
            <p:spPr>
              <a:xfrm>
                <a:off x="4035998" y="5245425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1125E36A-C9B8-81D4-C684-5F14F811D22F}"/>
                  </a:ext>
                </a:extLst>
              </p:cNvPr>
              <p:cNvSpPr/>
              <p:nvPr/>
            </p:nvSpPr>
            <p:spPr>
              <a:xfrm>
                <a:off x="4035998" y="5368101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DB56BF01-B96B-53AC-3C10-10415D6BB015}"/>
                  </a:ext>
                </a:extLst>
              </p:cNvPr>
              <p:cNvSpPr/>
              <p:nvPr/>
            </p:nvSpPr>
            <p:spPr>
              <a:xfrm>
                <a:off x="4035998" y="549083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ACC35B57-8636-3C5A-BA59-A3AD83CDE8E3}"/>
                  </a:ext>
                </a:extLst>
              </p:cNvPr>
              <p:cNvSpPr/>
              <p:nvPr/>
            </p:nvSpPr>
            <p:spPr>
              <a:xfrm>
                <a:off x="4035998" y="561351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679A945B-77A4-7477-E3D9-CD5ADBA8E597}"/>
                  </a:ext>
                </a:extLst>
              </p:cNvPr>
              <p:cNvSpPr/>
              <p:nvPr/>
            </p:nvSpPr>
            <p:spPr>
              <a:xfrm>
                <a:off x="3957709" y="5679704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577"/>
                      <a:pt x="56388" y="26099"/>
                    </a:cubicBezTo>
                    <a:cubicBezTo>
                      <a:pt x="56388" y="11621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CD620BD4-337E-98AF-3CCB-00180CE30F93}"/>
                  </a:ext>
                </a:extLst>
              </p:cNvPr>
              <p:cNvSpPr/>
              <p:nvPr/>
            </p:nvSpPr>
            <p:spPr>
              <a:xfrm>
                <a:off x="3957709" y="555702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32F26D1A-35E2-7D68-5048-034B9468250B}"/>
                  </a:ext>
                </a:extLst>
              </p:cNvPr>
              <p:cNvSpPr/>
              <p:nvPr/>
            </p:nvSpPr>
            <p:spPr>
              <a:xfrm>
                <a:off x="3957709" y="543435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D8458B93-F19F-C37D-7EC5-87C941F4121E}"/>
                  </a:ext>
                </a:extLst>
              </p:cNvPr>
              <p:cNvSpPr/>
              <p:nvPr/>
            </p:nvSpPr>
            <p:spPr>
              <a:xfrm>
                <a:off x="3957709" y="531161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C1C2E23F-3605-72B9-0E49-28501D0EFD39}"/>
                  </a:ext>
                </a:extLst>
              </p:cNvPr>
              <p:cNvSpPr/>
              <p:nvPr/>
            </p:nvSpPr>
            <p:spPr>
              <a:xfrm>
                <a:off x="3957709" y="518894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932ED652-6E9B-4316-D5E0-17A973EE293A}"/>
                  </a:ext>
                </a:extLst>
              </p:cNvPr>
              <p:cNvSpPr/>
              <p:nvPr/>
            </p:nvSpPr>
            <p:spPr>
              <a:xfrm>
                <a:off x="3957709" y="506620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FC719214-438E-20CE-2B28-BECB587831CA}"/>
                </a:ext>
              </a:extLst>
            </p:cNvPr>
            <p:cNvSpPr/>
            <p:nvPr/>
          </p:nvSpPr>
          <p:spPr>
            <a:xfrm>
              <a:off x="5531333" y="4879911"/>
              <a:ext cx="3095030" cy="1070426"/>
            </a:xfrm>
            <a:custGeom>
              <a:avLst/>
              <a:gdLst>
                <a:gd name="connsiteX0" fmla="*/ 4427792 w 4904422"/>
                <a:gd name="connsiteY0" fmla="*/ 0 h 1696212"/>
                <a:gd name="connsiteX1" fmla="*/ 476441 w 4904422"/>
                <a:gd name="connsiteY1" fmla="*/ 0 h 1696212"/>
                <a:gd name="connsiteX2" fmla="*/ 364236 w 4904422"/>
                <a:gd name="connsiteY2" fmla="*/ 70199 h 1696212"/>
                <a:gd name="connsiteX3" fmla="*/ 12573 w 4904422"/>
                <a:gd name="connsiteY3" fmla="*/ 793528 h 1696212"/>
                <a:gd name="connsiteX4" fmla="*/ 12573 w 4904422"/>
                <a:gd name="connsiteY4" fmla="*/ 902589 h 1696212"/>
                <a:gd name="connsiteX5" fmla="*/ 364331 w 4904422"/>
                <a:gd name="connsiteY5" fmla="*/ 1626013 h 1696212"/>
                <a:gd name="connsiteX6" fmla="*/ 476536 w 4904422"/>
                <a:gd name="connsiteY6" fmla="*/ 1696212 h 1696212"/>
                <a:gd name="connsiteX7" fmla="*/ 4427887 w 4904422"/>
                <a:gd name="connsiteY7" fmla="*/ 1696212 h 1696212"/>
                <a:gd name="connsiteX8" fmla="*/ 4540091 w 4904422"/>
                <a:gd name="connsiteY8" fmla="*/ 1626013 h 1696212"/>
                <a:gd name="connsiteX9" fmla="*/ 4891850 w 4904422"/>
                <a:gd name="connsiteY9" fmla="*/ 902589 h 1696212"/>
                <a:gd name="connsiteX10" fmla="*/ 4891850 w 4904422"/>
                <a:gd name="connsiteY10" fmla="*/ 793528 h 1696212"/>
                <a:gd name="connsiteX11" fmla="*/ 4539996 w 4904422"/>
                <a:gd name="connsiteY11" fmla="*/ 70199 h 1696212"/>
                <a:gd name="connsiteX12" fmla="*/ 4427792 w 4904422"/>
                <a:gd name="connsiteY12" fmla="*/ 0 h 169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04422" h="1696212">
                  <a:moveTo>
                    <a:pt x="4427792" y="0"/>
                  </a:moveTo>
                  <a:lnTo>
                    <a:pt x="476441" y="0"/>
                  </a:lnTo>
                  <a:cubicBezTo>
                    <a:pt x="428720" y="0"/>
                    <a:pt x="385191" y="27241"/>
                    <a:pt x="364236" y="70199"/>
                  </a:cubicBezTo>
                  <a:lnTo>
                    <a:pt x="12573" y="793528"/>
                  </a:lnTo>
                  <a:cubicBezTo>
                    <a:pt x="-4191" y="828008"/>
                    <a:pt x="-4191" y="868204"/>
                    <a:pt x="12573" y="902589"/>
                  </a:cubicBezTo>
                  <a:lnTo>
                    <a:pt x="364331" y="1626013"/>
                  </a:lnTo>
                  <a:cubicBezTo>
                    <a:pt x="385191" y="1668971"/>
                    <a:pt x="428720" y="1696212"/>
                    <a:pt x="476536" y="1696212"/>
                  </a:cubicBezTo>
                  <a:lnTo>
                    <a:pt x="4427887" y="1696212"/>
                  </a:lnTo>
                  <a:cubicBezTo>
                    <a:pt x="4475607" y="1696212"/>
                    <a:pt x="4519137" y="1668971"/>
                    <a:pt x="4540091" y="1626013"/>
                  </a:cubicBezTo>
                  <a:lnTo>
                    <a:pt x="4891850" y="902589"/>
                  </a:lnTo>
                  <a:cubicBezTo>
                    <a:pt x="4908614" y="868109"/>
                    <a:pt x="4908614" y="827913"/>
                    <a:pt x="4891850" y="793528"/>
                  </a:cubicBezTo>
                  <a:lnTo>
                    <a:pt x="4539996" y="70199"/>
                  </a:lnTo>
                  <a:cubicBezTo>
                    <a:pt x="4519137" y="27241"/>
                    <a:pt x="4475607" y="0"/>
                    <a:pt x="4427792" y="0"/>
                  </a:cubicBezTo>
                  <a:close/>
                </a:path>
              </a:pathLst>
            </a:custGeom>
            <a:solidFill>
              <a:schemeClr val="tx1">
                <a:alpha val="14000"/>
              </a:schemeClr>
            </a:solidFill>
            <a:ln w="19050" cap="flat">
              <a:noFill/>
              <a:prstDash val="solid"/>
              <a:miter/>
            </a:ln>
            <a:effectLst>
              <a:softEdge rad="165100"/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F5F1046D-02B5-4A87-FC6A-B5BE25BDE176}"/>
                </a:ext>
              </a:extLst>
            </p:cNvPr>
            <p:cNvSpPr/>
            <p:nvPr/>
          </p:nvSpPr>
          <p:spPr>
            <a:xfrm>
              <a:off x="5650392" y="4725144"/>
              <a:ext cx="2856912" cy="988073"/>
            </a:xfrm>
            <a:custGeom>
              <a:avLst/>
              <a:gdLst>
                <a:gd name="connsiteX0" fmla="*/ 4427792 w 4904422"/>
                <a:gd name="connsiteY0" fmla="*/ 0 h 1696212"/>
                <a:gd name="connsiteX1" fmla="*/ 476441 w 4904422"/>
                <a:gd name="connsiteY1" fmla="*/ 0 h 1696212"/>
                <a:gd name="connsiteX2" fmla="*/ 364236 w 4904422"/>
                <a:gd name="connsiteY2" fmla="*/ 70199 h 1696212"/>
                <a:gd name="connsiteX3" fmla="*/ 12573 w 4904422"/>
                <a:gd name="connsiteY3" fmla="*/ 793528 h 1696212"/>
                <a:gd name="connsiteX4" fmla="*/ 12573 w 4904422"/>
                <a:gd name="connsiteY4" fmla="*/ 902589 h 1696212"/>
                <a:gd name="connsiteX5" fmla="*/ 364331 w 4904422"/>
                <a:gd name="connsiteY5" fmla="*/ 1626013 h 1696212"/>
                <a:gd name="connsiteX6" fmla="*/ 476536 w 4904422"/>
                <a:gd name="connsiteY6" fmla="*/ 1696212 h 1696212"/>
                <a:gd name="connsiteX7" fmla="*/ 4427887 w 4904422"/>
                <a:gd name="connsiteY7" fmla="*/ 1696212 h 1696212"/>
                <a:gd name="connsiteX8" fmla="*/ 4540091 w 4904422"/>
                <a:gd name="connsiteY8" fmla="*/ 1626013 h 1696212"/>
                <a:gd name="connsiteX9" fmla="*/ 4891850 w 4904422"/>
                <a:gd name="connsiteY9" fmla="*/ 902589 h 1696212"/>
                <a:gd name="connsiteX10" fmla="*/ 4891850 w 4904422"/>
                <a:gd name="connsiteY10" fmla="*/ 793528 h 1696212"/>
                <a:gd name="connsiteX11" fmla="*/ 4539996 w 4904422"/>
                <a:gd name="connsiteY11" fmla="*/ 70199 h 1696212"/>
                <a:gd name="connsiteX12" fmla="*/ 4427792 w 4904422"/>
                <a:gd name="connsiteY12" fmla="*/ 0 h 169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04422" h="1696212">
                  <a:moveTo>
                    <a:pt x="4427792" y="0"/>
                  </a:moveTo>
                  <a:lnTo>
                    <a:pt x="476441" y="0"/>
                  </a:lnTo>
                  <a:cubicBezTo>
                    <a:pt x="428720" y="0"/>
                    <a:pt x="385191" y="27241"/>
                    <a:pt x="364236" y="70199"/>
                  </a:cubicBezTo>
                  <a:lnTo>
                    <a:pt x="12573" y="793528"/>
                  </a:lnTo>
                  <a:cubicBezTo>
                    <a:pt x="-4191" y="828008"/>
                    <a:pt x="-4191" y="868204"/>
                    <a:pt x="12573" y="902589"/>
                  </a:cubicBezTo>
                  <a:lnTo>
                    <a:pt x="364331" y="1626013"/>
                  </a:lnTo>
                  <a:cubicBezTo>
                    <a:pt x="385191" y="1668971"/>
                    <a:pt x="428720" y="1696212"/>
                    <a:pt x="476536" y="1696212"/>
                  </a:cubicBezTo>
                  <a:lnTo>
                    <a:pt x="4427887" y="1696212"/>
                  </a:lnTo>
                  <a:cubicBezTo>
                    <a:pt x="4475607" y="1696212"/>
                    <a:pt x="4519137" y="1668971"/>
                    <a:pt x="4540091" y="1626013"/>
                  </a:cubicBezTo>
                  <a:lnTo>
                    <a:pt x="4891850" y="902589"/>
                  </a:lnTo>
                  <a:cubicBezTo>
                    <a:pt x="4908614" y="868109"/>
                    <a:pt x="4908614" y="827913"/>
                    <a:pt x="4891850" y="793528"/>
                  </a:cubicBezTo>
                  <a:lnTo>
                    <a:pt x="4539996" y="70199"/>
                  </a:lnTo>
                  <a:cubicBezTo>
                    <a:pt x="4519137" y="27241"/>
                    <a:pt x="4475607" y="0"/>
                    <a:pt x="4427792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9050" cap="flat">
              <a:solidFill>
                <a:schemeClr val="accent3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1A0C8500-B141-E743-7D26-F0E4FD54DF8D}"/>
                </a:ext>
              </a:extLst>
            </p:cNvPr>
            <p:cNvGrpSpPr/>
            <p:nvPr/>
          </p:nvGrpSpPr>
          <p:grpSpPr>
            <a:xfrm>
              <a:off x="5632827" y="4488139"/>
              <a:ext cx="1314672" cy="548935"/>
              <a:chOff x="776623" y="4488139"/>
              <a:chExt cx="1314672" cy="548935"/>
            </a:xfrm>
          </p:grpSpPr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66174AAB-77AA-B488-C065-57207B5CAA3F}"/>
                  </a:ext>
                </a:extLst>
              </p:cNvPr>
              <p:cNvSpPr/>
              <p:nvPr/>
            </p:nvSpPr>
            <p:spPr>
              <a:xfrm>
                <a:off x="776623" y="4582392"/>
                <a:ext cx="1314672" cy="454682"/>
              </a:xfrm>
              <a:custGeom>
                <a:avLst/>
                <a:gdLst>
                  <a:gd name="connsiteX0" fmla="*/ 4427792 w 4904422"/>
                  <a:gd name="connsiteY0" fmla="*/ 0 h 1696212"/>
                  <a:gd name="connsiteX1" fmla="*/ 476441 w 4904422"/>
                  <a:gd name="connsiteY1" fmla="*/ 0 h 1696212"/>
                  <a:gd name="connsiteX2" fmla="*/ 364236 w 4904422"/>
                  <a:gd name="connsiteY2" fmla="*/ 70199 h 1696212"/>
                  <a:gd name="connsiteX3" fmla="*/ 12573 w 4904422"/>
                  <a:gd name="connsiteY3" fmla="*/ 793528 h 1696212"/>
                  <a:gd name="connsiteX4" fmla="*/ 12573 w 4904422"/>
                  <a:gd name="connsiteY4" fmla="*/ 902589 h 1696212"/>
                  <a:gd name="connsiteX5" fmla="*/ 364331 w 4904422"/>
                  <a:gd name="connsiteY5" fmla="*/ 1626013 h 1696212"/>
                  <a:gd name="connsiteX6" fmla="*/ 476536 w 4904422"/>
                  <a:gd name="connsiteY6" fmla="*/ 1696212 h 1696212"/>
                  <a:gd name="connsiteX7" fmla="*/ 4427887 w 4904422"/>
                  <a:gd name="connsiteY7" fmla="*/ 1696212 h 1696212"/>
                  <a:gd name="connsiteX8" fmla="*/ 4540091 w 4904422"/>
                  <a:gd name="connsiteY8" fmla="*/ 1626013 h 1696212"/>
                  <a:gd name="connsiteX9" fmla="*/ 4891850 w 4904422"/>
                  <a:gd name="connsiteY9" fmla="*/ 902589 h 1696212"/>
                  <a:gd name="connsiteX10" fmla="*/ 4891850 w 4904422"/>
                  <a:gd name="connsiteY10" fmla="*/ 793528 h 1696212"/>
                  <a:gd name="connsiteX11" fmla="*/ 4539996 w 4904422"/>
                  <a:gd name="connsiteY11" fmla="*/ 70199 h 1696212"/>
                  <a:gd name="connsiteX12" fmla="*/ 4427792 w 4904422"/>
                  <a:gd name="connsiteY12" fmla="*/ 0 h 1696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04422" h="1696212">
                    <a:moveTo>
                      <a:pt x="4427792" y="0"/>
                    </a:moveTo>
                    <a:lnTo>
                      <a:pt x="476441" y="0"/>
                    </a:lnTo>
                    <a:cubicBezTo>
                      <a:pt x="428720" y="0"/>
                      <a:pt x="385191" y="27241"/>
                      <a:pt x="364236" y="70199"/>
                    </a:cubicBezTo>
                    <a:lnTo>
                      <a:pt x="12573" y="793528"/>
                    </a:lnTo>
                    <a:cubicBezTo>
                      <a:pt x="-4191" y="828008"/>
                      <a:pt x="-4191" y="868204"/>
                      <a:pt x="12573" y="902589"/>
                    </a:cubicBezTo>
                    <a:lnTo>
                      <a:pt x="364331" y="1626013"/>
                    </a:lnTo>
                    <a:cubicBezTo>
                      <a:pt x="385191" y="1668971"/>
                      <a:pt x="428720" y="1696212"/>
                      <a:pt x="476536" y="1696212"/>
                    </a:cubicBezTo>
                    <a:lnTo>
                      <a:pt x="4427887" y="1696212"/>
                    </a:lnTo>
                    <a:cubicBezTo>
                      <a:pt x="4475607" y="1696212"/>
                      <a:pt x="4519137" y="1668971"/>
                      <a:pt x="4540091" y="1626013"/>
                    </a:cubicBezTo>
                    <a:lnTo>
                      <a:pt x="4891850" y="902589"/>
                    </a:lnTo>
                    <a:cubicBezTo>
                      <a:pt x="4908614" y="868109"/>
                      <a:pt x="4908614" y="827913"/>
                      <a:pt x="4891850" y="793528"/>
                    </a:cubicBezTo>
                    <a:lnTo>
                      <a:pt x="4539996" y="70199"/>
                    </a:lnTo>
                    <a:cubicBezTo>
                      <a:pt x="4519137" y="27241"/>
                      <a:pt x="4475607" y="0"/>
                      <a:pt x="4427792" y="0"/>
                    </a:cubicBezTo>
                    <a:close/>
                  </a:path>
                </a:pathLst>
              </a:custGeom>
              <a:solidFill>
                <a:schemeClr val="tx1">
                  <a:alpha val="49000"/>
                </a:schemeClr>
              </a:solidFill>
              <a:ln w="9525" cap="flat">
                <a:noFill/>
                <a:prstDash val="solid"/>
                <a:miter/>
              </a:ln>
              <a:effectLst>
                <a:softEdge rad="114300"/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DF446832-C9D7-EC96-D12A-2012152140A7}"/>
                  </a:ext>
                </a:extLst>
              </p:cNvPr>
              <p:cNvSpPr/>
              <p:nvPr/>
            </p:nvSpPr>
            <p:spPr>
              <a:xfrm>
                <a:off x="843175" y="4488139"/>
                <a:ext cx="1181568" cy="408649"/>
              </a:xfrm>
              <a:custGeom>
                <a:avLst/>
                <a:gdLst>
                  <a:gd name="connsiteX0" fmla="*/ 4427792 w 4904422"/>
                  <a:gd name="connsiteY0" fmla="*/ 0 h 1696212"/>
                  <a:gd name="connsiteX1" fmla="*/ 476441 w 4904422"/>
                  <a:gd name="connsiteY1" fmla="*/ 0 h 1696212"/>
                  <a:gd name="connsiteX2" fmla="*/ 364236 w 4904422"/>
                  <a:gd name="connsiteY2" fmla="*/ 70199 h 1696212"/>
                  <a:gd name="connsiteX3" fmla="*/ 12573 w 4904422"/>
                  <a:gd name="connsiteY3" fmla="*/ 793528 h 1696212"/>
                  <a:gd name="connsiteX4" fmla="*/ 12573 w 4904422"/>
                  <a:gd name="connsiteY4" fmla="*/ 902589 h 1696212"/>
                  <a:gd name="connsiteX5" fmla="*/ 364331 w 4904422"/>
                  <a:gd name="connsiteY5" fmla="*/ 1626013 h 1696212"/>
                  <a:gd name="connsiteX6" fmla="*/ 476536 w 4904422"/>
                  <a:gd name="connsiteY6" fmla="*/ 1696212 h 1696212"/>
                  <a:gd name="connsiteX7" fmla="*/ 4427887 w 4904422"/>
                  <a:gd name="connsiteY7" fmla="*/ 1696212 h 1696212"/>
                  <a:gd name="connsiteX8" fmla="*/ 4540091 w 4904422"/>
                  <a:gd name="connsiteY8" fmla="*/ 1626013 h 1696212"/>
                  <a:gd name="connsiteX9" fmla="*/ 4891850 w 4904422"/>
                  <a:gd name="connsiteY9" fmla="*/ 902589 h 1696212"/>
                  <a:gd name="connsiteX10" fmla="*/ 4891850 w 4904422"/>
                  <a:gd name="connsiteY10" fmla="*/ 793528 h 1696212"/>
                  <a:gd name="connsiteX11" fmla="*/ 4539996 w 4904422"/>
                  <a:gd name="connsiteY11" fmla="*/ 70199 h 1696212"/>
                  <a:gd name="connsiteX12" fmla="*/ 4427792 w 4904422"/>
                  <a:gd name="connsiteY12" fmla="*/ 0 h 1696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04422" h="1696212">
                    <a:moveTo>
                      <a:pt x="4427792" y="0"/>
                    </a:moveTo>
                    <a:lnTo>
                      <a:pt x="476441" y="0"/>
                    </a:lnTo>
                    <a:cubicBezTo>
                      <a:pt x="428720" y="0"/>
                      <a:pt x="385191" y="27241"/>
                      <a:pt x="364236" y="70199"/>
                    </a:cubicBezTo>
                    <a:lnTo>
                      <a:pt x="12573" y="793528"/>
                    </a:lnTo>
                    <a:cubicBezTo>
                      <a:pt x="-4191" y="828008"/>
                      <a:pt x="-4191" y="868204"/>
                      <a:pt x="12573" y="902589"/>
                    </a:cubicBezTo>
                    <a:lnTo>
                      <a:pt x="364331" y="1626013"/>
                    </a:lnTo>
                    <a:cubicBezTo>
                      <a:pt x="385191" y="1668971"/>
                      <a:pt x="428720" y="1696212"/>
                      <a:pt x="476536" y="1696212"/>
                    </a:cubicBezTo>
                    <a:lnTo>
                      <a:pt x="4427887" y="1696212"/>
                    </a:lnTo>
                    <a:cubicBezTo>
                      <a:pt x="4475607" y="1696212"/>
                      <a:pt x="4519137" y="1668971"/>
                      <a:pt x="4540091" y="1626013"/>
                    </a:cubicBezTo>
                    <a:lnTo>
                      <a:pt x="4891850" y="902589"/>
                    </a:lnTo>
                    <a:cubicBezTo>
                      <a:pt x="4908614" y="868109"/>
                      <a:pt x="4908614" y="827913"/>
                      <a:pt x="4891850" y="793528"/>
                    </a:cubicBezTo>
                    <a:lnTo>
                      <a:pt x="4539996" y="70199"/>
                    </a:lnTo>
                    <a:cubicBezTo>
                      <a:pt x="4519137" y="27241"/>
                      <a:pt x="4475607" y="0"/>
                      <a:pt x="44277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92F9EEC9-4846-22C1-50A1-BF3FEDD19082}"/>
                </a:ext>
              </a:extLst>
            </p:cNvPr>
            <p:cNvSpPr txBox="1"/>
            <p:nvPr/>
          </p:nvSpPr>
          <p:spPr>
            <a:xfrm>
              <a:off x="6725372" y="5027891"/>
              <a:ext cx="1583479" cy="490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s-ES_tradnl" sz="1400" noProof="1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Hiperparámetro de penalización de las CS</a:t>
              </a:r>
            </a:p>
          </p:txBody>
        </p:sp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06B49817-4DAD-DE1E-C6EA-3B9C49D7746A}"/>
                </a:ext>
              </a:extLst>
            </p:cNvPr>
            <p:cNvSpPr txBox="1"/>
            <p:nvPr/>
          </p:nvSpPr>
          <p:spPr>
            <a:xfrm>
              <a:off x="5849389" y="4542201"/>
              <a:ext cx="910316" cy="3087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Comp 03</a:t>
              </a:r>
            </a:p>
          </p:txBody>
        </p:sp>
        <p:pic>
          <p:nvPicPr>
            <p:cNvPr id="724" name="Graphic 723" descr="Megaphone outline">
              <a:extLst>
                <a:ext uri="{FF2B5EF4-FFF2-40B4-BE49-F238E27FC236}">
                  <a16:creationId xmlns:a16="http://schemas.microsoft.com/office/drawing/2014/main" id="{A2CF2F07-3BFC-F15C-1166-7B14372637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90726" y="4975682"/>
              <a:ext cx="594568" cy="594568"/>
            </a:xfrm>
            <a:prstGeom prst="rect">
              <a:avLst/>
            </a:prstGeom>
          </p:spPr>
        </p:pic>
      </p:grpSp>
      <p:grpSp>
        <p:nvGrpSpPr>
          <p:cNvPr id="729" name="Group 728">
            <a:extLst>
              <a:ext uri="{FF2B5EF4-FFF2-40B4-BE49-F238E27FC236}">
                <a16:creationId xmlns:a16="http://schemas.microsoft.com/office/drawing/2014/main" id="{38BEF0D5-12CA-0BBA-4471-7BC1EED0F43F}"/>
              </a:ext>
            </a:extLst>
          </p:cNvPr>
          <p:cNvGrpSpPr/>
          <p:nvPr/>
        </p:nvGrpSpPr>
        <p:grpSpPr>
          <a:xfrm>
            <a:off x="1613990" y="5002589"/>
            <a:ext cx="3547075" cy="1462198"/>
            <a:chOff x="675129" y="4488139"/>
            <a:chExt cx="3547075" cy="1462198"/>
          </a:xfrm>
        </p:grpSpPr>
        <p:grpSp>
          <p:nvGrpSpPr>
            <p:cNvPr id="402" name="Group 401">
              <a:extLst>
                <a:ext uri="{FF2B5EF4-FFF2-40B4-BE49-F238E27FC236}">
                  <a16:creationId xmlns:a16="http://schemas.microsoft.com/office/drawing/2014/main" id="{4C45954F-D9F7-9A77-CA8C-1D3A329E7C4F}"/>
                </a:ext>
              </a:extLst>
            </p:cNvPr>
            <p:cNvGrpSpPr/>
            <p:nvPr/>
          </p:nvGrpSpPr>
          <p:grpSpPr>
            <a:xfrm>
              <a:off x="675129" y="4488139"/>
              <a:ext cx="3547075" cy="1462198"/>
              <a:chOff x="675129" y="4488139"/>
              <a:chExt cx="3547075" cy="1462198"/>
            </a:xfrm>
          </p:grpSpPr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8AB9F5FD-C308-DACF-B2F8-E91A87E493FA}"/>
                  </a:ext>
                </a:extLst>
              </p:cNvPr>
              <p:cNvGrpSpPr/>
              <p:nvPr/>
            </p:nvGrpSpPr>
            <p:grpSpPr>
              <a:xfrm>
                <a:off x="2074776" y="4969166"/>
                <a:ext cx="2147428" cy="744106"/>
                <a:chOff x="2074776" y="4969166"/>
                <a:chExt cx="2147428" cy="744106"/>
              </a:xfrm>
            </p:grpSpPr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469D5AE0-2BEC-56E6-22CB-19AE62F68502}"/>
                    </a:ext>
                  </a:extLst>
                </p:cNvPr>
                <p:cNvSpPr/>
                <p:nvPr/>
              </p:nvSpPr>
              <p:spPr>
                <a:xfrm>
                  <a:off x="2074776" y="4969166"/>
                  <a:ext cx="2147428" cy="744106"/>
                </a:xfrm>
                <a:custGeom>
                  <a:avLst/>
                  <a:gdLst>
                    <a:gd name="connsiteX0" fmla="*/ 3311747 w 3686460"/>
                    <a:gd name="connsiteY0" fmla="*/ 0 h 1277397"/>
                    <a:gd name="connsiteX1" fmla="*/ 374714 w 3686460"/>
                    <a:gd name="connsiteY1" fmla="*/ 0 h 1277397"/>
                    <a:gd name="connsiteX2" fmla="*/ 262509 w 3686460"/>
                    <a:gd name="connsiteY2" fmla="*/ 70199 h 1277397"/>
                    <a:gd name="connsiteX3" fmla="*/ 12573 w 3686460"/>
                    <a:gd name="connsiteY3" fmla="*/ 584168 h 1277397"/>
                    <a:gd name="connsiteX4" fmla="*/ 12573 w 3686460"/>
                    <a:gd name="connsiteY4" fmla="*/ 693230 h 1277397"/>
                    <a:gd name="connsiteX5" fmla="*/ 262509 w 3686460"/>
                    <a:gd name="connsiteY5" fmla="*/ 1207199 h 1277397"/>
                    <a:gd name="connsiteX6" fmla="*/ 374714 w 3686460"/>
                    <a:gd name="connsiteY6" fmla="*/ 1277398 h 1277397"/>
                    <a:gd name="connsiteX7" fmla="*/ 3311747 w 3686460"/>
                    <a:gd name="connsiteY7" fmla="*/ 1277398 h 1277397"/>
                    <a:gd name="connsiteX8" fmla="*/ 3423952 w 3686460"/>
                    <a:gd name="connsiteY8" fmla="*/ 1207199 h 1277397"/>
                    <a:gd name="connsiteX9" fmla="*/ 3673888 w 3686460"/>
                    <a:gd name="connsiteY9" fmla="*/ 693230 h 1277397"/>
                    <a:gd name="connsiteX10" fmla="*/ 3673888 w 3686460"/>
                    <a:gd name="connsiteY10" fmla="*/ 584168 h 1277397"/>
                    <a:gd name="connsiteX11" fmla="*/ 3423952 w 3686460"/>
                    <a:gd name="connsiteY11" fmla="*/ 70199 h 1277397"/>
                    <a:gd name="connsiteX12" fmla="*/ 3311747 w 3686460"/>
                    <a:gd name="connsiteY12" fmla="*/ 0 h 1277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686460" h="1277397">
                      <a:moveTo>
                        <a:pt x="3311747" y="0"/>
                      </a:moveTo>
                      <a:lnTo>
                        <a:pt x="374714" y="0"/>
                      </a:lnTo>
                      <a:cubicBezTo>
                        <a:pt x="326993" y="0"/>
                        <a:pt x="283464" y="27242"/>
                        <a:pt x="262509" y="70199"/>
                      </a:cubicBezTo>
                      <a:lnTo>
                        <a:pt x="12573" y="584168"/>
                      </a:lnTo>
                      <a:cubicBezTo>
                        <a:pt x="-4191" y="618649"/>
                        <a:pt x="-4191" y="658844"/>
                        <a:pt x="12573" y="693230"/>
                      </a:cubicBezTo>
                      <a:lnTo>
                        <a:pt x="262509" y="1207199"/>
                      </a:lnTo>
                      <a:cubicBezTo>
                        <a:pt x="283369" y="1250156"/>
                        <a:pt x="326898" y="1277398"/>
                        <a:pt x="374714" y="1277398"/>
                      </a:cubicBezTo>
                      <a:lnTo>
                        <a:pt x="3311747" y="1277398"/>
                      </a:lnTo>
                      <a:cubicBezTo>
                        <a:pt x="3359468" y="1277398"/>
                        <a:pt x="3402997" y="1250156"/>
                        <a:pt x="3423952" y="1207199"/>
                      </a:cubicBezTo>
                      <a:lnTo>
                        <a:pt x="3673888" y="693230"/>
                      </a:lnTo>
                      <a:cubicBezTo>
                        <a:pt x="3690652" y="658749"/>
                        <a:pt x="3690652" y="618554"/>
                        <a:pt x="3673888" y="584168"/>
                      </a:cubicBezTo>
                      <a:lnTo>
                        <a:pt x="3423952" y="70199"/>
                      </a:lnTo>
                      <a:cubicBezTo>
                        <a:pt x="3403092" y="27242"/>
                        <a:pt x="3359563" y="0"/>
                        <a:pt x="331174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9050" cap="flat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grpSp>
              <p:nvGrpSpPr>
                <p:cNvPr id="391" name="Group 390">
                  <a:extLst>
                    <a:ext uri="{FF2B5EF4-FFF2-40B4-BE49-F238E27FC236}">
                      <a16:creationId xmlns:a16="http://schemas.microsoft.com/office/drawing/2014/main" id="{A7570A51-60AB-6D14-4EF8-CDEF01EA2A42}"/>
                    </a:ext>
                  </a:extLst>
                </p:cNvPr>
                <p:cNvGrpSpPr/>
                <p:nvPr/>
              </p:nvGrpSpPr>
              <p:grpSpPr>
                <a:xfrm>
                  <a:off x="3101412" y="4977211"/>
                  <a:ext cx="1096712" cy="732899"/>
                  <a:chOff x="3101412" y="4977211"/>
                  <a:chExt cx="1096712" cy="732899"/>
                </a:xfrm>
                <a:solidFill>
                  <a:schemeClr val="accent1">
                    <a:lumMod val="40000"/>
                    <a:lumOff val="60000"/>
                  </a:schemeClr>
                </a:solidFill>
              </p:grpSpPr>
              <p:sp>
                <p:nvSpPr>
                  <p:cNvPr id="8" name="Freeform: Shape 7">
                    <a:extLst>
                      <a:ext uri="{FF2B5EF4-FFF2-40B4-BE49-F238E27FC236}">
                        <a16:creationId xmlns:a16="http://schemas.microsoft.com/office/drawing/2014/main" id="{B0020D8D-3178-538D-0D65-E2A2F8950F32}"/>
                      </a:ext>
                    </a:extLst>
                  </p:cNvPr>
                  <p:cNvSpPr/>
                  <p:nvPr/>
                </p:nvSpPr>
                <p:spPr>
                  <a:xfrm>
                    <a:off x="3101412" y="5662116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9" name="Freeform: Shape 8">
                    <a:extLst>
                      <a:ext uri="{FF2B5EF4-FFF2-40B4-BE49-F238E27FC236}">
                        <a16:creationId xmlns:a16="http://schemas.microsoft.com/office/drawing/2014/main" id="{6D0515FD-4FD7-3B67-69A6-02F8E39E3246}"/>
                      </a:ext>
                    </a:extLst>
                  </p:cNvPr>
                  <p:cNvSpPr/>
                  <p:nvPr/>
                </p:nvSpPr>
                <p:spPr>
                  <a:xfrm>
                    <a:off x="3101412" y="5539383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9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9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0" name="Freeform: Shape 9">
                    <a:extLst>
                      <a:ext uri="{FF2B5EF4-FFF2-40B4-BE49-F238E27FC236}">
                        <a16:creationId xmlns:a16="http://schemas.microsoft.com/office/drawing/2014/main" id="{F135AC2C-BDBC-3F4A-B70B-D7FD8F8A7CEE}"/>
                      </a:ext>
                    </a:extLst>
                  </p:cNvPr>
                  <p:cNvSpPr/>
                  <p:nvPr/>
                </p:nvSpPr>
                <p:spPr>
                  <a:xfrm>
                    <a:off x="3101412" y="5416706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1" name="Freeform: Shape 10">
                    <a:extLst>
                      <a:ext uri="{FF2B5EF4-FFF2-40B4-BE49-F238E27FC236}">
                        <a16:creationId xmlns:a16="http://schemas.microsoft.com/office/drawing/2014/main" id="{56E6B3A1-1EDA-E15E-1F7B-E4AC14E679AB}"/>
                      </a:ext>
                    </a:extLst>
                  </p:cNvPr>
                  <p:cNvSpPr/>
                  <p:nvPr/>
                </p:nvSpPr>
                <p:spPr>
                  <a:xfrm>
                    <a:off x="3101412" y="5294030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8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8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2" name="Freeform: Shape 11">
                    <a:extLst>
                      <a:ext uri="{FF2B5EF4-FFF2-40B4-BE49-F238E27FC236}">
                        <a16:creationId xmlns:a16="http://schemas.microsoft.com/office/drawing/2014/main" id="{2F1BE249-2EEB-3288-A33C-52AC15924DED}"/>
                      </a:ext>
                    </a:extLst>
                  </p:cNvPr>
                  <p:cNvSpPr/>
                  <p:nvPr/>
                </p:nvSpPr>
                <p:spPr>
                  <a:xfrm>
                    <a:off x="3101412" y="5171297"/>
                    <a:ext cx="32846" cy="30405"/>
                  </a:xfrm>
                  <a:custGeom>
                    <a:avLst/>
                    <a:gdLst>
                      <a:gd name="connsiteX0" fmla="*/ 56388 w 56387"/>
                      <a:gd name="connsiteY0" fmla="*/ 26099 h 52196"/>
                      <a:gd name="connsiteX1" fmla="*/ 28194 w 56387"/>
                      <a:gd name="connsiteY1" fmla="*/ 52197 h 52196"/>
                      <a:gd name="connsiteX2" fmla="*/ 0 w 56387"/>
                      <a:gd name="connsiteY2" fmla="*/ 26099 h 52196"/>
                      <a:gd name="connsiteX3" fmla="*/ 28194 w 56387"/>
                      <a:gd name="connsiteY3" fmla="*/ 0 h 52196"/>
                      <a:gd name="connsiteX4" fmla="*/ 56388 w 56387"/>
                      <a:gd name="connsiteY4" fmla="*/ 26099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56388" y="26099"/>
                        </a:moveTo>
                        <a:cubicBezTo>
                          <a:pt x="56388" y="40512"/>
                          <a:pt x="43765" y="52197"/>
                          <a:pt x="28194" y="52197"/>
                        </a:cubicBezTo>
                        <a:cubicBezTo>
                          <a:pt x="12623" y="52197"/>
                          <a:pt x="0" y="40512"/>
                          <a:pt x="0" y="26099"/>
                        </a:cubicBezTo>
                        <a:cubicBezTo>
                          <a:pt x="0" y="11685"/>
                          <a:pt x="12623" y="0"/>
                          <a:pt x="28194" y="0"/>
                        </a:cubicBezTo>
                        <a:cubicBezTo>
                          <a:pt x="43765" y="0"/>
                          <a:pt x="56388" y="11685"/>
                          <a:pt x="56388" y="26099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3" name="Freeform: Shape 12">
                    <a:extLst>
                      <a:ext uri="{FF2B5EF4-FFF2-40B4-BE49-F238E27FC236}">
                        <a16:creationId xmlns:a16="http://schemas.microsoft.com/office/drawing/2014/main" id="{8160A336-8238-C53D-C32D-E2DA4CF81EF6}"/>
                      </a:ext>
                    </a:extLst>
                  </p:cNvPr>
                  <p:cNvSpPr/>
                  <p:nvPr/>
                </p:nvSpPr>
                <p:spPr>
                  <a:xfrm>
                    <a:off x="3101412" y="5048620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9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9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4" name="Freeform: Shape 13">
                    <a:extLst>
                      <a:ext uri="{FF2B5EF4-FFF2-40B4-BE49-F238E27FC236}">
                        <a16:creationId xmlns:a16="http://schemas.microsoft.com/office/drawing/2014/main" id="{21FD37E2-76B2-89F3-F441-568BBF9B6008}"/>
                      </a:ext>
                    </a:extLst>
                  </p:cNvPr>
                  <p:cNvSpPr/>
                  <p:nvPr/>
                </p:nvSpPr>
                <p:spPr>
                  <a:xfrm>
                    <a:off x="3179701" y="4982372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F792CE2E-1FAA-0B54-CDB7-371954E080FE}"/>
                      </a:ext>
                    </a:extLst>
                  </p:cNvPr>
                  <p:cNvSpPr/>
                  <p:nvPr/>
                </p:nvSpPr>
                <p:spPr>
                  <a:xfrm>
                    <a:off x="3179701" y="5105104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34837079-422D-8173-6B9A-C8F92F6CE775}"/>
                      </a:ext>
                    </a:extLst>
                  </p:cNvPr>
                  <p:cNvSpPr/>
                  <p:nvPr/>
                </p:nvSpPr>
                <p:spPr>
                  <a:xfrm>
                    <a:off x="3179701" y="5227781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256C89F5-98A6-9CCB-9F2D-6DA9FA4CC505}"/>
                      </a:ext>
                    </a:extLst>
                  </p:cNvPr>
                  <p:cNvSpPr/>
                  <p:nvPr/>
                </p:nvSpPr>
                <p:spPr>
                  <a:xfrm>
                    <a:off x="3179701" y="5350513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8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8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ED04AF76-6D54-AA83-53D2-FD2624AD7547}"/>
                      </a:ext>
                    </a:extLst>
                  </p:cNvPr>
                  <p:cNvSpPr/>
                  <p:nvPr/>
                </p:nvSpPr>
                <p:spPr>
                  <a:xfrm>
                    <a:off x="3179701" y="5473190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C803C87F-4810-5C4D-2CD8-BB402A0722BC}"/>
                      </a:ext>
                    </a:extLst>
                  </p:cNvPr>
                  <p:cNvSpPr/>
                  <p:nvPr/>
                </p:nvSpPr>
                <p:spPr>
                  <a:xfrm>
                    <a:off x="3179701" y="5595867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F58C3E6F-F7D8-4358-9A45-4B00BCE37524}"/>
                      </a:ext>
                    </a:extLst>
                  </p:cNvPr>
                  <p:cNvSpPr/>
                  <p:nvPr/>
                </p:nvSpPr>
                <p:spPr>
                  <a:xfrm>
                    <a:off x="3230747" y="5656900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3CCC54DC-194C-F7C9-DC47-9476426DCBC3}"/>
                      </a:ext>
                    </a:extLst>
                  </p:cNvPr>
                  <p:cNvSpPr/>
                  <p:nvPr/>
                </p:nvSpPr>
                <p:spPr>
                  <a:xfrm>
                    <a:off x="3230747" y="5534223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2" name="Freeform: Shape 21">
                    <a:extLst>
                      <a:ext uri="{FF2B5EF4-FFF2-40B4-BE49-F238E27FC236}">
                        <a16:creationId xmlns:a16="http://schemas.microsoft.com/office/drawing/2014/main" id="{8249C664-6B6C-1CFD-754E-44FE33C46E54}"/>
                      </a:ext>
                    </a:extLst>
                  </p:cNvPr>
                  <p:cNvSpPr/>
                  <p:nvPr/>
                </p:nvSpPr>
                <p:spPr>
                  <a:xfrm>
                    <a:off x="3230747" y="5411491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9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9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0F3A90DF-B3CF-3A40-9FBD-7A5D3E2073DE}"/>
                      </a:ext>
                    </a:extLst>
                  </p:cNvPr>
                  <p:cNvSpPr/>
                  <p:nvPr/>
                </p:nvSpPr>
                <p:spPr>
                  <a:xfrm>
                    <a:off x="3230747" y="5288814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621"/>
                          <a:pt x="0" y="26099"/>
                        </a:cubicBezTo>
                        <a:cubicBezTo>
                          <a:pt x="0" y="40577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8BF37785-B945-A7AC-CF28-B8500CF37F29}"/>
                      </a:ext>
                    </a:extLst>
                  </p:cNvPr>
                  <p:cNvSpPr/>
                  <p:nvPr/>
                </p:nvSpPr>
                <p:spPr>
                  <a:xfrm>
                    <a:off x="3230747" y="5166137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D14B40A5-9774-3CAC-2BEC-C6870DDD97BF}"/>
                      </a:ext>
                    </a:extLst>
                  </p:cNvPr>
                  <p:cNvSpPr/>
                  <p:nvPr/>
                </p:nvSpPr>
                <p:spPr>
                  <a:xfrm>
                    <a:off x="3230747" y="5043405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73EB293F-C287-4E68-F39F-6024E350E194}"/>
                      </a:ext>
                    </a:extLst>
                  </p:cNvPr>
                  <p:cNvSpPr/>
                  <p:nvPr/>
                </p:nvSpPr>
                <p:spPr>
                  <a:xfrm>
                    <a:off x="3309036" y="4977211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F60497DB-B75C-9391-5D6A-D9F864225750}"/>
                      </a:ext>
                    </a:extLst>
                  </p:cNvPr>
                  <p:cNvSpPr/>
                  <p:nvPr/>
                </p:nvSpPr>
                <p:spPr>
                  <a:xfrm>
                    <a:off x="3309036" y="5099888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9C75A285-F8DC-C086-8E23-F5CE5B52FBCB}"/>
                      </a:ext>
                    </a:extLst>
                  </p:cNvPr>
                  <p:cNvSpPr/>
                  <p:nvPr/>
                </p:nvSpPr>
                <p:spPr>
                  <a:xfrm>
                    <a:off x="3309036" y="5222565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29" name="Freeform: Shape 28">
                    <a:extLst>
                      <a:ext uri="{FF2B5EF4-FFF2-40B4-BE49-F238E27FC236}">
                        <a16:creationId xmlns:a16="http://schemas.microsoft.com/office/drawing/2014/main" id="{1C527090-E65C-C6D1-F3C2-AED884E15CE2}"/>
                      </a:ext>
                    </a:extLst>
                  </p:cNvPr>
                  <p:cNvSpPr/>
                  <p:nvPr/>
                </p:nvSpPr>
                <p:spPr>
                  <a:xfrm>
                    <a:off x="3309036" y="5345298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478EA86F-41EE-460D-D89C-981DB20A1C7A}"/>
                      </a:ext>
                    </a:extLst>
                  </p:cNvPr>
                  <p:cNvSpPr/>
                  <p:nvPr/>
                </p:nvSpPr>
                <p:spPr>
                  <a:xfrm>
                    <a:off x="3309036" y="5467975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0E095C7F-7E40-85D0-5975-0E5349DB4BFA}"/>
                      </a:ext>
                    </a:extLst>
                  </p:cNvPr>
                  <p:cNvSpPr/>
                  <p:nvPr/>
                </p:nvSpPr>
                <p:spPr>
                  <a:xfrm>
                    <a:off x="3309036" y="5590707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9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9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720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7F08CAB2-2ADA-FE3F-0E9A-501DB95A5C59}"/>
                      </a:ext>
                    </a:extLst>
                  </p:cNvPr>
                  <p:cNvSpPr/>
                  <p:nvPr/>
                </p:nvSpPr>
                <p:spPr>
                  <a:xfrm>
                    <a:off x="3878643" y="4977211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1954C37F-28D2-6ABB-B85A-E6B141F65AA0}"/>
                      </a:ext>
                    </a:extLst>
                  </p:cNvPr>
                  <p:cNvSpPr/>
                  <p:nvPr/>
                </p:nvSpPr>
                <p:spPr>
                  <a:xfrm>
                    <a:off x="3878643" y="5099888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D49B49C7-8BB3-2C61-D236-81D0BE4967BF}"/>
                      </a:ext>
                    </a:extLst>
                  </p:cNvPr>
                  <p:cNvSpPr/>
                  <p:nvPr/>
                </p:nvSpPr>
                <p:spPr>
                  <a:xfrm>
                    <a:off x="3878643" y="5222565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C15DEC99-6809-07D6-5F48-2556DCFDEEFA}"/>
                      </a:ext>
                    </a:extLst>
                  </p:cNvPr>
                  <p:cNvSpPr/>
                  <p:nvPr/>
                </p:nvSpPr>
                <p:spPr>
                  <a:xfrm>
                    <a:off x="3878643" y="5345298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6" name="Freeform: Shape 35">
                    <a:extLst>
                      <a:ext uri="{FF2B5EF4-FFF2-40B4-BE49-F238E27FC236}">
                        <a16:creationId xmlns:a16="http://schemas.microsoft.com/office/drawing/2014/main" id="{3926357F-51A2-EE34-ED3F-1D3F6CE3121C}"/>
                      </a:ext>
                    </a:extLst>
                  </p:cNvPr>
                  <p:cNvSpPr/>
                  <p:nvPr/>
                </p:nvSpPr>
                <p:spPr>
                  <a:xfrm>
                    <a:off x="3878643" y="5467975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7" name="Freeform: Shape 36">
                    <a:extLst>
                      <a:ext uri="{FF2B5EF4-FFF2-40B4-BE49-F238E27FC236}">
                        <a16:creationId xmlns:a16="http://schemas.microsoft.com/office/drawing/2014/main" id="{06AB76A6-EFE8-FE67-4748-65734C9B56BD}"/>
                      </a:ext>
                    </a:extLst>
                  </p:cNvPr>
                  <p:cNvSpPr/>
                  <p:nvPr/>
                </p:nvSpPr>
                <p:spPr>
                  <a:xfrm>
                    <a:off x="3878643" y="5590707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9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9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8" name="Freeform: Shape 37">
                    <a:extLst>
                      <a:ext uri="{FF2B5EF4-FFF2-40B4-BE49-F238E27FC236}">
                        <a16:creationId xmlns:a16="http://schemas.microsoft.com/office/drawing/2014/main" id="{F4CA4A3D-8170-E6B1-40E7-40841A535C83}"/>
                      </a:ext>
                    </a:extLst>
                  </p:cNvPr>
                  <p:cNvSpPr/>
                  <p:nvPr/>
                </p:nvSpPr>
                <p:spPr>
                  <a:xfrm>
                    <a:off x="3800354" y="5656900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9F5F1810-ED9B-C2D5-151F-BDF9CACB9133}"/>
                      </a:ext>
                    </a:extLst>
                  </p:cNvPr>
                  <p:cNvSpPr/>
                  <p:nvPr/>
                </p:nvSpPr>
                <p:spPr>
                  <a:xfrm>
                    <a:off x="3800354" y="5534223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CB28F318-D507-B45C-71E0-8F4D903E09F8}"/>
                      </a:ext>
                    </a:extLst>
                  </p:cNvPr>
                  <p:cNvSpPr/>
                  <p:nvPr/>
                </p:nvSpPr>
                <p:spPr>
                  <a:xfrm>
                    <a:off x="3800354" y="5411491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9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9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2C3C9EAE-F754-50FC-997D-F0A2173F98DE}"/>
                      </a:ext>
                    </a:extLst>
                  </p:cNvPr>
                  <p:cNvSpPr/>
                  <p:nvPr/>
                </p:nvSpPr>
                <p:spPr>
                  <a:xfrm>
                    <a:off x="3800354" y="5288814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DAABA883-5FDB-7A5E-31DA-7612B5A23750}"/>
                      </a:ext>
                    </a:extLst>
                  </p:cNvPr>
                  <p:cNvSpPr/>
                  <p:nvPr/>
                </p:nvSpPr>
                <p:spPr>
                  <a:xfrm>
                    <a:off x="3800354" y="5166137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119D3F46-0FE4-0E2B-D34E-C43BAFBA9E94}"/>
                      </a:ext>
                    </a:extLst>
                  </p:cNvPr>
                  <p:cNvSpPr/>
                  <p:nvPr/>
                </p:nvSpPr>
                <p:spPr>
                  <a:xfrm>
                    <a:off x="3800354" y="5043405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60F81102-DC28-DD7A-D272-CC2304B506ED}"/>
                      </a:ext>
                    </a:extLst>
                  </p:cNvPr>
                  <p:cNvSpPr/>
                  <p:nvPr/>
                </p:nvSpPr>
                <p:spPr>
                  <a:xfrm>
                    <a:off x="3749308" y="4982372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84E65C84-1EC2-FA47-186E-6916DFDB2D78}"/>
                      </a:ext>
                    </a:extLst>
                  </p:cNvPr>
                  <p:cNvSpPr/>
                  <p:nvPr/>
                </p:nvSpPr>
                <p:spPr>
                  <a:xfrm>
                    <a:off x="3749308" y="5105104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A345E104-3252-A23D-D763-0B4BC954BD1E}"/>
                      </a:ext>
                    </a:extLst>
                  </p:cNvPr>
                  <p:cNvSpPr/>
                  <p:nvPr/>
                </p:nvSpPr>
                <p:spPr>
                  <a:xfrm>
                    <a:off x="3749308" y="5227781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2CC05701-C08E-92D5-AD63-843311DE3EDE}"/>
                      </a:ext>
                    </a:extLst>
                  </p:cNvPr>
                  <p:cNvSpPr/>
                  <p:nvPr/>
                </p:nvSpPr>
                <p:spPr>
                  <a:xfrm>
                    <a:off x="3749308" y="5350513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8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8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E48114F4-96CE-599C-C430-7C47C8AB0C0C}"/>
                      </a:ext>
                    </a:extLst>
                  </p:cNvPr>
                  <p:cNvSpPr/>
                  <p:nvPr/>
                </p:nvSpPr>
                <p:spPr>
                  <a:xfrm>
                    <a:off x="3749308" y="5473190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95F9AA69-9C50-224C-A649-32F42092BF65}"/>
                      </a:ext>
                    </a:extLst>
                  </p:cNvPr>
                  <p:cNvSpPr/>
                  <p:nvPr/>
                </p:nvSpPr>
                <p:spPr>
                  <a:xfrm>
                    <a:off x="3749308" y="5595867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50" name="Freeform: Shape 49">
                    <a:extLst>
                      <a:ext uri="{FF2B5EF4-FFF2-40B4-BE49-F238E27FC236}">
                        <a16:creationId xmlns:a16="http://schemas.microsoft.com/office/drawing/2014/main" id="{903DA0DA-A548-9135-ED43-279B053B5545}"/>
                      </a:ext>
                    </a:extLst>
                  </p:cNvPr>
                  <p:cNvSpPr/>
                  <p:nvPr/>
                </p:nvSpPr>
                <p:spPr>
                  <a:xfrm>
                    <a:off x="3671019" y="5662116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51" name="Freeform: Shape 50">
                    <a:extLst>
                      <a:ext uri="{FF2B5EF4-FFF2-40B4-BE49-F238E27FC236}">
                        <a16:creationId xmlns:a16="http://schemas.microsoft.com/office/drawing/2014/main" id="{4EE83968-9F2A-78BA-1504-D667B8D0BFD4}"/>
                      </a:ext>
                    </a:extLst>
                  </p:cNvPr>
                  <p:cNvSpPr/>
                  <p:nvPr/>
                </p:nvSpPr>
                <p:spPr>
                  <a:xfrm>
                    <a:off x="3671019" y="5539383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9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9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52" name="Freeform: Shape 51">
                    <a:extLst>
                      <a:ext uri="{FF2B5EF4-FFF2-40B4-BE49-F238E27FC236}">
                        <a16:creationId xmlns:a16="http://schemas.microsoft.com/office/drawing/2014/main" id="{6723B4D8-BF1C-CAC7-0AEF-12D30D2D607B}"/>
                      </a:ext>
                    </a:extLst>
                  </p:cNvPr>
                  <p:cNvSpPr/>
                  <p:nvPr/>
                </p:nvSpPr>
                <p:spPr>
                  <a:xfrm>
                    <a:off x="3671019" y="5416706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B8617005-E8EF-6D4B-3D21-AB55FF364D50}"/>
                      </a:ext>
                    </a:extLst>
                  </p:cNvPr>
                  <p:cNvSpPr/>
                  <p:nvPr/>
                </p:nvSpPr>
                <p:spPr>
                  <a:xfrm>
                    <a:off x="3671019" y="5294030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8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8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7DD1D3C5-85DE-CD72-73EB-1534192AF120}"/>
                      </a:ext>
                    </a:extLst>
                  </p:cNvPr>
                  <p:cNvSpPr/>
                  <p:nvPr/>
                </p:nvSpPr>
                <p:spPr>
                  <a:xfrm>
                    <a:off x="3671019" y="5171297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660363BD-506A-4485-E69C-7350C735A34F}"/>
                      </a:ext>
                    </a:extLst>
                  </p:cNvPr>
                  <p:cNvSpPr/>
                  <p:nvPr/>
                </p:nvSpPr>
                <p:spPr>
                  <a:xfrm>
                    <a:off x="3671019" y="5048620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9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9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9F939114-7CD5-1480-1984-FAA4BDF074A3}"/>
                      </a:ext>
                    </a:extLst>
                  </p:cNvPr>
                  <p:cNvSpPr/>
                  <p:nvPr/>
                </p:nvSpPr>
                <p:spPr>
                  <a:xfrm>
                    <a:off x="3589068" y="4994800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27BD216D-90E0-6E4F-6DBE-17026DBCFCAA}"/>
                      </a:ext>
                    </a:extLst>
                  </p:cNvPr>
                  <p:cNvSpPr/>
                  <p:nvPr/>
                </p:nvSpPr>
                <p:spPr>
                  <a:xfrm>
                    <a:off x="3589068" y="5117533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E3E9BB57-DC8D-5C78-8C7C-9800204B1435}"/>
                      </a:ext>
                    </a:extLst>
                  </p:cNvPr>
                  <p:cNvSpPr/>
                  <p:nvPr/>
                </p:nvSpPr>
                <p:spPr>
                  <a:xfrm>
                    <a:off x="3589068" y="5240209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1548DE5-6C0B-A682-0EDD-88DCAF361419}"/>
                      </a:ext>
                    </a:extLst>
                  </p:cNvPr>
                  <p:cNvSpPr/>
                  <p:nvPr/>
                </p:nvSpPr>
                <p:spPr>
                  <a:xfrm>
                    <a:off x="3589068" y="5362886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60" name="Freeform: Shape 59">
                    <a:extLst>
                      <a:ext uri="{FF2B5EF4-FFF2-40B4-BE49-F238E27FC236}">
                        <a16:creationId xmlns:a16="http://schemas.microsoft.com/office/drawing/2014/main" id="{73F1FF6A-F57E-B4F6-BA4B-52353B5492C8}"/>
                      </a:ext>
                    </a:extLst>
                  </p:cNvPr>
                  <p:cNvSpPr/>
                  <p:nvPr/>
                </p:nvSpPr>
                <p:spPr>
                  <a:xfrm>
                    <a:off x="3589068" y="5485619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9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9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61" name="Freeform: Shape 60">
                    <a:extLst>
                      <a:ext uri="{FF2B5EF4-FFF2-40B4-BE49-F238E27FC236}">
                        <a16:creationId xmlns:a16="http://schemas.microsoft.com/office/drawing/2014/main" id="{C5D72699-0C80-6235-29A5-51411961F7DD}"/>
                      </a:ext>
                    </a:extLst>
                  </p:cNvPr>
                  <p:cNvSpPr/>
                  <p:nvPr/>
                </p:nvSpPr>
                <p:spPr>
                  <a:xfrm>
                    <a:off x="3589068" y="5608296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9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9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98341289-02AD-9330-A25C-80AD03E34F57}"/>
                      </a:ext>
                    </a:extLst>
                  </p:cNvPr>
                  <p:cNvSpPr/>
                  <p:nvPr/>
                </p:nvSpPr>
                <p:spPr>
                  <a:xfrm>
                    <a:off x="3510779" y="5674544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9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9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63" name="Freeform: Shape 62">
                    <a:extLst>
                      <a:ext uri="{FF2B5EF4-FFF2-40B4-BE49-F238E27FC236}">
                        <a16:creationId xmlns:a16="http://schemas.microsoft.com/office/drawing/2014/main" id="{EA98CCBC-BFDB-FFF9-2EB7-675B62BA4E30}"/>
                      </a:ext>
                    </a:extLst>
                  </p:cNvPr>
                  <p:cNvSpPr/>
                  <p:nvPr/>
                </p:nvSpPr>
                <p:spPr>
                  <a:xfrm>
                    <a:off x="3510779" y="5551812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64" name="Freeform: Shape 63">
                    <a:extLst>
                      <a:ext uri="{FF2B5EF4-FFF2-40B4-BE49-F238E27FC236}">
                        <a16:creationId xmlns:a16="http://schemas.microsoft.com/office/drawing/2014/main" id="{D6A60926-BDA8-EDD1-D973-1EE55DB9B5A0}"/>
                      </a:ext>
                    </a:extLst>
                  </p:cNvPr>
                  <p:cNvSpPr/>
                  <p:nvPr/>
                </p:nvSpPr>
                <p:spPr>
                  <a:xfrm>
                    <a:off x="3510779" y="5429135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8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8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65" name="Freeform: Shape 64">
                    <a:extLst>
                      <a:ext uri="{FF2B5EF4-FFF2-40B4-BE49-F238E27FC236}">
                        <a16:creationId xmlns:a16="http://schemas.microsoft.com/office/drawing/2014/main" id="{CC4250DD-1318-8F67-BCBD-738FD142F52B}"/>
                      </a:ext>
                    </a:extLst>
                  </p:cNvPr>
                  <p:cNvSpPr/>
                  <p:nvPr/>
                </p:nvSpPr>
                <p:spPr>
                  <a:xfrm>
                    <a:off x="3510779" y="5306403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66" name="Freeform: Shape 65">
                    <a:extLst>
                      <a:ext uri="{FF2B5EF4-FFF2-40B4-BE49-F238E27FC236}">
                        <a16:creationId xmlns:a16="http://schemas.microsoft.com/office/drawing/2014/main" id="{E5E29329-A4D3-1CFA-8EC2-F216018C3E3B}"/>
                      </a:ext>
                    </a:extLst>
                  </p:cNvPr>
                  <p:cNvSpPr/>
                  <p:nvPr/>
                </p:nvSpPr>
                <p:spPr>
                  <a:xfrm>
                    <a:off x="3510779" y="5183726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67" name="Freeform: Shape 66">
                    <a:extLst>
                      <a:ext uri="{FF2B5EF4-FFF2-40B4-BE49-F238E27FC236}">
                        <a16:creationId xmlns:a16="http://schemas.microsoft.com/office/drawing/2014/main" id="{522A11B1-C329-ADB2-656F-4E8798ED2B62}"/>
                      </a:ext>
                    </a:extLst>
                  </p:cNvPr>
                  <p:cNvSpPr/>
                  <p:nvPr/>
                </p:nvSpPr>
                <p:spPr>
                  <a:xfrm>
                    <a:off x="3510779" y="5061049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668" y="52197"/>
                          <a:pt x="28194" y="52197"/>
                        </a:cubicBezTo>
                        <a:cubicBezTo>
                          <a:pt x="43720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68" name="Freeform: Shape 67">
                    <a:extLst>
                      <a:ext uri="{FF2B5EF4-FFF2-40B4-BE49-F238E27FC236}">
                        <a16:creationId xmlns:a16="http://schemas.microsoft.com/office/drawing/2014/main" id="{D395F570-B1FA-3C42-AA78-D5E39CB8D061}"/>
                      </a:ext>
                    </a:extLst>
                  </p:cNvPr>
                  <p:cNvSpPr/>
                  <p:nvPr/>
                </p:nvSpPr>
                <p:spPr>
                  <a:xfrm>
                    <a:off x="3459733" y="5000015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00541B96-FA40-B30F-7FFD-2BB2FC4DF596}"/>
                      </a:ext>
                    </a:extLst>
                  </p:cNvPr>
                  <p:cNvSpPr/>
                  <p:nvPr/>
                </p:nvSpPr>
                <p:spPr>
                  <a:xfrm>
                    <a:off x="3459733" y="5122693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9A79E8C8-BBC9-DF8D-1197-0EF7BE6D098F}"/>
                      </a:ext>
                    </a:extLst>
                  </p:cNvPr>
                  <p:cNvSpPr/>
                  <p:nvPr/>
                </p:nvSpPr>
                <p:spPr>
                  <a:xfrm>
                    <a:off x="3459733" y="5245425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71" name="Freeform: Shape 70">
                    <a:extLst>
                      <a:ext uri="{FF2B5EF4-FFF2-40B4-BE49-F238E27FC236}">
                        <a16:creationId xmlns:a16="http://schemas.microsoft.com/office/drawing/2014/main" id="{FF880866-B4D0-30CF-056F-D78257A8681A}"/>
                      </a:ext>
                    </a:extLst>
                  </p:cNvPr>
                  <p:cNvSpPr/>
                  <p:nvPr/>
                </p:nvSpPr>
                <p:spPr>
                  <a:xfrm>
                    <a:off x="3459733" y="5368101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72" name="Freeform: Shape 71">
                    <a:extLst>
                      <a:ext uri="{FF2B5EF4-FFF2-40B4-BE49-F238E27FC236}">
                        <a16:creationId xmlns:a16="http://schemas.microsoft.com/office/drawing/2014/main" id="{CD56BA78-F8AD-3852-0D94-FC8EDDA88FE5}"/>
                      </a:ext>
                    </a:extLst>
                  </p:cNvPr>
                  <p:cNvSpPr/>
                  <p:nvPr/>
                </p:nvSpPr>
                <p:spPr>
                  <a:xfrm>
                    <a:off x="3459733" y="5490835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9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9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73" name="Freeform: Shape 72">
                    <a:extLst>
                      <a:ext uri="{FF2B5EF4-FFF2-40B4-BE49-F238E27FC236}">
                        <a16:creationId xmlns:a16="http://schemas.microsoft.com/office/drawing/2014/main" id="{23F4917C-404E-23CC-F8EC-A3DC6958CCC7}"/>
                      </a:ext>
                    </a:extLst>
                  </p:cNvPr>
                  <p:cNvSpPr/>
                  <p:nvPr/>
                </p:nvSpPr>
                <p:spPr>
                  <a:xfrm>
                    <a:off x="3459733" y="5613511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9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9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74" name="Freeform: Shape 73">
                    <a:extLst>
                      <a:ext uri="{FF2B5EF4-FFF2-40B4-BE49-F238E27FC236}">
                        <a16:creationId xmlns:a16="http://schemas.microsoft.com/office/drawing/2014/main" id="{28A8FFB4-CE6E-AE6B-CF02-B5C151FB6CF0}"/>
                      </a:ext>
                    </a:extLst>
                  </p:cNvPr>
                  <p:cNvSpPr/>
                  <p:nvPr/>
                </p:nvSpPr>
                <p:spPr>
                  <a:xfrm>
                    <a:off x="3381444" y="5679704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577"/>
                          <a:pt x="56388" y="26099"/>
                        </a:cubicBezTo>
                        <a:cubicBezTo>
                          <a:pt x="56388" y="11621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75" name="Freeform: Shape 74">
                    <a:extLst>
                      <a:ext uri="{FF2B5EF4-FFF2-40B4-BE49-F238E27FC236}">
                        <a16:creationId xmlns:a16="http://schemas.microsoft.com/office/drawing/2014/main" id="{C21FA14F-2EC9-30D0-3B98-E9D97F6D410B}"/>
                      </a:ext>
                    </a:extLst>
                  </p:cNvPr>
                  <p:cNvSpPr/>
                  <p:nvPr/>
                </p:nvSpPr>
                <p:spPr>
                  <a:xfrm>
                    <a:off x="3381444" y="5557028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76" name="Freeform: Shape 75">
                    <a:extLst>
                      <a:ext uri="{FF2B5EF4-FFF2-40B4-BE49-F238E27FC236}">
                        <a16:creationId xmlns:a16="http://schemas.microsoft.com/office/drawing/2014/main" id="{F93D8339-6A9B-A0EC-7E0D-D97C90D1AE37}"/>
                      </a:ext>
                    </a:extLst>
                  </p:cNvPr>
                  <p:cNvSpPr/>
                  <p:nvPr/>
                </p:nvSpPr>
                <p:spPr>
                  <a:xfrm>
                    <a:off x="3381444" y="5434351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8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8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77" name="Freeform: Shape 76">
                    <a:extLst>
                      <a:ext uri="{FF2B5EF4-FFF2-40B4-BE49-F238E27FC236}">
                        <a16:creationId xmlns:a16="http://schemas.microsoft.com/office/drawing/2014/main" id="{6A3957EF-55CC-CDC9-A7AB-6895E696E02B}"/>
                      </a:ext>
                    </a:extLst>
                  </p:cNvPr>
                  <p:cNvSpPr/>
                  <p:nvPr/>
                </p:nvSpPr>
                <p:spPr>
                  <a:xfrm>
                    <a:off x="3381444" y="5311618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78" name="Freeform: Shape 77">
                    <a:extLst>
                      <a:ext uri="{FF2B5EF4-FFF2-40B4-BE49-F238E27FC236}">
                        <a16:creationId xmlns:a16="http://schemas.microsoft.com/office/drawing/2014/main" id="{9CBCE9E6-1B80-E03C-0425-0BD466FDEFC3}"/>
                      </a:ext>
                    </a:extLst>
                  </p:cNvPr>
                  <p:cNvSpPr/>
                  <p:nvPr/>
                </p:nvSpPr>
                <p:spPr>
                  <a:xfrm>
                    <a:off x="3381444" y="5188941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79" name="Freeform: Shape 78">
                    <a:extLst>
                      <a:ext uri="{FF2B5EF4-FFF2-40B4-BE49-F238E27FC236}">
                        <a16:creationId xmlns:a16="http://schemas.microsoft.com/office/drawing/2014/main" id="{D34B3EB3-F470-3FD9-033B-5E6EFF13C960}"/>
                      </a:ext>
                    </a:extLst>
                  </p:cNvPr>
                  <p:cNvSpPr/>
                  <p:nvPr/>
                </p:nvSpPr>
                <p:spPr>
                  <a:xfrm>
                    <a:off x="3381444" y="5066209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80" name="Freeform: Shape 79">
                    <a:extLst>
                      <a:ext uri="{FF2B5EF4-FFF2-40B4-BE49-F238E27FC236}">
                        <a16:creationId xmlns:a16="http://schemas.microsoft.com/office/drawing/2014/main" id="{081CB271-844D-5E13-5683-E7F77566B31A}"/>
                      </a:ext>
                    </a:extLst>
                  </p:cNvPr>
                  <p:cNvSpPr/>
                  <p:nvPr/>
                </p:nvSpPr>
                <p:spPr>
                  <a:xfrm>
                    <a:off x="4165278" y="5362886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81" name="Freeform: Shape 80">
                    <a:extLst>
                      <a:ext uri="{FF2B5EF4-FFF2-40B4-BE49-F238E27FC236}">
                        <a16:creationId xmlns:a16="http://schemas.microsoft.com/office/drawing/2014/main" id="{2ECC5EB3-4AF1-FE19-12B7-61247DFAD7EE}"/>
                      </a:ext>
                    </a:extLst>
                  </p:cNvPr>
                  <p:cNvSpPr/>
                  <p:nvPr/>
                </p:nvSpPr>
                <p:spPr>
                  <a:xfrm>
                    <a:off x="4075891" y="5551812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71CCA74B-DCA8-3772-4688-F7C93B579671}"/>
                      </a:ext>
                    </a:extLst>
                  </p:cNvPr>
                  <p:cNvSpPr/>
                  <p:nvPr/>
                </p:nvSpPr>
                <p:spPr>
                  <a:xfrm>
                    <a:off x="4086988" y="5429135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8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8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83" name="Freeform: Shape 82">
                    <a:extLst>
                      <a:ext uri="{FF2B5EF4-FFF2-40B4-BE49-F238E27FC236}">
                        <a16:creationId xmlns:a16="http://schemas.microsoft.com/office/drawing/2014/main" id="{C93F5521-47F1-1B57-97E7-AD3BCF1B1119}"/>
                      </a:ext>
                    </a:extLst>
                  </p:cNvPr>
                  <p:cNvSpPr/>
                  <p:nvPr/>
                </p:nvSpPr>
                <p:spPr>
                  <a:xfrm>
                    <a:off x="4086988" y="5306403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84" name="Freeform: Shape 83">
                    <a:extLst>
                      <a:ext uri="{FF2B5EF4-FFF2-40B4-BE49-F238E27FC236}">
                        <a16:creationId xmlns:a16="http://schemas.microsoft.com/office/drawing/2014/main" id="{51184228-2743-9BBC-7721-5F5A5BDDAE8E}"/>
                      </a:ext>
                    </a:extLst>
                  </p:cNvPr>
                  <p:cNvSpPr/>
                  <p:nvPr/>
                </p:nvSpPr>
                <p:spPr>
                  <a:xfrm>
                    <a:off x="4086988" y="5183726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85" name="Freeform: Shape 84">
                    <a:extLst>
                      <a:ext uri="{FF2B5EF4-FFF2-40B4-BE49-F238E27FC236}">
                        <a16:creationId xmlns:a16="http://schemas.microsoft.com/office/drawing/2014/main" id="{474FB039-30BA-EC0A-27B2-A61E191FA099}"/>
                      </a:ext>
                    </a:extLst>
                  </p:cNvPr>
                  <p:cNvSpPr/>
                  <p:nvPr/>
                </p:nvSpPr>
                <p:spPr>
                  <a:xfrm>
                    <a:off x="4013804" y="5000015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86" name="Freeform: Shape 85">
                    <a:extLst>
                      <a:ext uri="{FF2B5EF4-FFF2-40B4-BE49-F238E27FC236}">
                        <a16:creationId xmlns:a16="http://schemas.microsoft.com/office/drawing/2014/main" id="{FBCDD23F-A514-A1EA-4057-4AB937758F09}"/>
                      </a:ext>
                    </a:extLst>
                  </p:cNvPr>
                  <p:cNvSpPr/>
                  <p:nvPr/>
                </p:nvSpPr>
                <p:spPr>
                  <a:xfrm>
                    <a:off x="4035998" y="5122693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8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8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87" name="Freeform: Shape 86">
                    <a:extLst>
                      <a:ext uri="{FF2B5EF4-FFF2-40B4-BE49-F238E27FC236}">
                        <a16:creationId xmlns:a16="http://schemas.microsoft.com/office/drawing/2014/main" id="{6C2C2242-D9AE-FF2F-D960-5DAABD68959D}"/>
                      </a:ext>
                    </a:extLst>
                  </p:cNvPr>
                  <p:cNvSpPr/>
                  <p:nvPr/>
                </p:nvSpPr>
                <p:spPr>
                  <a:xfrm>
                    <a:off x="4035998" y="5245425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88" name="Freeform: Shape 87">
                    <a:extLst>
                      <a:ext uri="{FF2B5EF4-FFF2-40B4-BE49-F238E27FC236}">
                        <a16:creationId xmlns:a16="http://schemas.microsoft.com/office/drawing/2014/main" id="{C3D17DDD-0E7B-442E-0C59-11C003E3608B}"/>
                      </a:ext>
                    </a:extLst>
                  </p:cNvPr>
                  <p:cNvSpPr/>
                  <p:nvPr/>
                </p:nvSpPr>
                <p:spPr>
                  <a:xfrm>
                    <a:off x="4035998" y="5368101"/>
                    <a:ext cx="32846" cy="30406"/>
                  </a:xfrm>
                  <a:custGeom>
                    <a:avLst/>
                    <a:gdLst>
                      <a:gd name="connsiteX0" fmla="*/ 28194 w 56387"/>
                      <a:gd name="connsiteY0" fmla="*/ 0 h 52197"/>
                      <a:gd name="connsiteX1" fmla="*/ 0 w 56387"/>
                      <a:gd name="connsiteY1" fmla="*/ 26099 h 52197"/>
                      <a:gd name="connsiteX2" fmla="*/ 28194 w 56387"/>
                      <a:gd name="connsiteY2" fmla="*/ 52197 h 52197"/>
                      <a:gd name="connsiteX3" fmla="*/ 56388 w 56387"/>
                      <a:gd name="connsiteY3" fmla="*/ 26099 h 52197"/>
                      <a:gd name="connsiteX4" fmla="*/ 28194 w 56387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89" name="Freeform: Shape 88">
                    <a:extLst>
                      <a:ext uri="{FF2B5EF4-FFF2-40B4-BE49-F238E27FC236}">
                        <a16:creationId xmlns:a16="http://schemas.microsoft.com/office/drawing/2014/main" id="{66D54E6D-C59C-20B9-135B-A6C0FCBA7DA6}"/>
                      </a:ext>
                    </a:extLst>
                  </p:cNvPr>
                  <p:cNvSpPr/>
                  <p:nvPr/>
                </p:nvSpPr>
                <p:spPr>
                  <a:xfrm>
                    <a:off x="4035998" y="5490835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9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9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90" name="Freeform: Shape 89">
                    <a:extLst>
                      <a:ext uri="{FF2B5EF4-FFF2-40B4-BE49-F238E27FC236}">
                        <a16:creationId xmlns:a16="http://schemas.microsoft.com/office/drawing/2014/main" id="{69F3F845-7542-D2D2-F3F4-1190A22144E5}"/>
                      </a:ext>
                    </a:extLst>
                  </p:cNvPr>
                  <p:cNvSpPr/>
                  <p:nvPr/>
                </p:nvSpPr>
                <p:spPr>
                  <a:xfrm>
                    <a:off x="4035998" y="5613511"/>
                    <a:ext cx="32846" cy="30405"/>
                  </a:xfrm>
                  <a:custGeom>
                    <a:avLst/>
                    <a:gdLst>
                      <a:gd name="connsiteX0" fmla="*/ 28194 w 56387"/>
                      <a:gd name="connsiteY0" fmla="*/ 0 h 52196"/>
                      <a:gd name="connsiteX1" fmla="*/ 0 w 56387"/>
                      <a:gd name="connsiteY1" fmla="*/ 26099 h 52196"/>
                      <a:gd name="connsiteX2" fmla="*/ 28194 w 56387"/>
                      <a:gd name="connsiteY2" fmla="*/ 52197 h 52196"/>
                      <a:gd name="connsiteX3" fmla="*/ 56388 w 56387"/>
                      <a:gd name="connsiteY3" fmla="*/ 26099 h 52196"/>
                      <a:gd name="connsiteX4" fmla="*/ 28194 w 56387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7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91" name="Freeform: Shape 90">
                    <a:extLst>
                      <a:ext uri="{FF2B5EF4-FFF2-40B4-BE49-F238E27FC236}">
                        <a16:creationId xmlns:a16="http://schemas.microsoft.com/office/drawing/2014/main" id="{D85E5911-3A5A-46F4-8815-D1384D493AC8}"/>
                      </a:ext>
                    </a:extLst>
                  </p:cNvPr>
                  <p:cNvSpPr/>
                  <p:nvPr/>
                </p:nvSpPr>
                <p:spPr>
                  <a:xfrm>
                    <a:off x="3957709" y="5679704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577"/>
                          <a:pt x="56388" y="26099"/>
                        </a:cubicBezTo>
                        <a:cubicBezTo>
                          <a:pt x="56388" y="11621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92" name="Freeform: Shape 91">
                    <a:extLst>
                      <a:ext uri="{FF2B5EF4-FFF2-40B4-BE49-F238E27FC236}">
                        <a16:creationId xmlns:a16="http://schemas.microsoft.com/office/drawing/2014/main" id="{20016C52-778E-4295-4DCC-E72FD9AACA22}"/>
                      </a:ext>
                    </a:extLst>
                  </p:cNvPr>
                  <p:cNvSpPr/>
                  <p:nvPr/>
                </p:nvSpPr>
                <p:spPr>
                  <a:xfrm>
                    <a:off x="3957709" y="5557028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93" name="Freeform: Shape 92">
                    <a:extLst>
                      <a:ext uri="{FF2B5EF4-FFF2-40B4-BE49-F238E27FC236}">
                        <a16:creationId xmlns:a16="http://schemas.microsoft.com/office/drawing/2014/main" id="{D72B461B-7D6C-DB98-66D0-44E5269ACCCB}"/>
                      </a:ext>
                    </a:extLst>
                  </p:cNvPr>
                  <p:cNvSpPr/>
                  <p:nvPr/>
                </p:nvSpPr>
                <p:spPr>
                  <a:xfrm>
                    <a:off x="3957709" y="5434351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8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8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94" name="Freeform: Shape 93">
                    <a:extLst>
                      <a:ext uri="{FF2B5EF4-FFF2-40B4-BE49-F238E27FC236}">
                        <a16:creationId xmlns:a16="http://schemas.microsoft.com/office/drawing/2014/main" id="{5D9048EF-5C87-932E-D3A1-A77DC36FF7EB}"/>
                      </a:ext>
                    </a:extLst>
                  </p:cNvPr>
                  <p:cNvSpPr/>
                  <p:nvPr/>
                </p:nvSpPr>
                <p:spPr>
                  <a:xfrm>
                    <a:off x="3957709" y="5311618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95" name="Freeform: Shape 94">
                    <a:extLst>
                      <a:ext uri="{FF2B5EF4-FFF2-40B4-BE49-F238E27FC236}">
                        <a16:creationId xmlns:a16="http://schemas.microsoft.com/office/drawing/2014/main" id="{5CA8C701-0DB9-80D7-5F18-84C44D1785A0}"/>
                      </a:ext>
                    </a:extLst>
                  </p:cNvPr>
                  <p:cNvSpPr/>
                  <p:nvPr/>
                </p:nvSpPr>
                <p:spPr>
                  <a:xfrm>
                    <a:off x="3957709" y="5188941"/>
                    <a:ext cx="32847" cy="30406"/>
                  </a:xfrm>
                  <a:custGeom>
                    <a:avLst/>
                    <a:gdLst>
                      <a:gd name="connsiteX0" fmla="*/ 28194 w 56388"/>
                      <a:gd name="connsiteY0" fmla="*/ 0 h 52197"/>
                      <a:gd name="connsiteX1" fmla="*/ 0 w 56388"/>
                      <a:gd name="connsiteY1" fmla="*/ 26099 h 52197"/>
                      <a:gd name="connsiteX2" fmla="*/ 28194 w 56388"/>
                      <a:gd name="connsiteY2" fmla="*/ 52197 h 52197"/>
                      <a:gd name="connsiteX3" fmla="*/ 56388 w 56388"/>
                      <a:gd name="connsiteY3" fmla="*/ 26099 h 52197"/>
                      <a:gd name="connsiteX4" fmla="*/ 28194 w 56388"/>
                      <a:gd name="connsiteY4" fmla="*/ 0 h 521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7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9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9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  <p:sp>
                <p:nvSpPr>
                  <p:cNvPr id="96" name="Freeform: Shape 95">
                    <a:extLst>
                      <a:ext uri="{FF2B5EF4-FFF2-40B4-BE49-F238E27FC236}">
                        <a16:creationId xmlns:a16="http://schemas.microsoft.com/office/drawing/2014/main" id="{4649B976-B519-3089-A216-1DBF2F0AF800}"/>
                      </a:ext>
                    </a:extLst>
                  </p:cNvPr>
                  <p:cNvSpPr/>
                  <p:nvPr/>
                </p:nvSpPr>
                <p:spPr>
                  <a:xfrm>
                    <a:off x="3957709" y="5066209"/>
                    <a:ext cx="32847" cy="30405"/>
                  </a:xfrm>
                  <a:custGeom>
                    <a:avLst/>
                    <a:gdLst>
                      <a:gd name="connsiteX0" fmla="*/ 28194 w 56388"/>
                      <a:gd name="connsiteY0" fmla="*/ 0 h 52196"/>
                      <a:gd name="connsiteX1" fmla="*/ 0 w 56388"/>
                      <a:gd name="connsiteY1" fmla="*/ 26098 h 52196"/>
                      <a:gd name="connsiteX2" fmla="*/ 28194 w 56388"/>
                      <a:gd name="connsiteY2" fmla="*/ 52197 h 52196"/>
                      <a:gd name="connsiteX3" fmla="*/ 56388 w 56388"/>
                      <a:gd name="connsiteY3" fmla="*/ 26098 h 52196"/>
                      <a:gd name="connsiteX4" fmla="*/ 28194 w 56388"/>
                      <a:gd name="connsiteY4" fmla="*/ 0 h 521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388" h="52196">
                        <a:moveTo>
                          <a:pt x="28194" y="0"/>
                        </a:moveTo>
                        <a:cubicBezTo>
                          <a:pt x="12668" y="0"/>
                          <a:pt x="0" y="11716"/>
                          <a:pt x="0" y="26098"/>
                        </a:cubicBezTo>
                        <a:cubicBezTo>
                          <a:pt x="0" y="40481"/>
                          <a:pt x="12573" y="52197"/>
                          <a:pt x="28194" y="52197"/>
                        </a:cubicBezTo>
                        <a:cubicBezTo>
                          <a:pt x="43815" y="52197"/>
                          <a:pt x="56388" y="40481"/>
                          <a:pt x="56388" y="26098"/>
                        </a:cubicBezTo>
                        <a:cubicBezTo>
                          <a:pt x="56388" y="11716"/>
                          <a:pt x="43815" y="0"/>
                          <a:pt x="28194" y="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N"/>
                  </a:p>
                </p:txBody>
              </p:sp>
            </p:grpSp>
          </p:grp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7DE55378-6B6D-DBDF-4FC7-389CF2F4BCEB}"/>
                  </a:ext>
                </a:extLst>
              </p:cNvPr>
              <p:cNvSpPr/>
              <p:nvPr/>
            </p:nvSpPr>
            <p:spPr>
              <a:xfrm>
                <a:off x="675129" y="4879911"/>
                <a:ext cx="3095030" cy="1070426"/>
              </a:xfrm>
              <a:custGeom>
                <a:avLst/>
                <a:gdLst>
                  <a:gd name="connsiteX0" fmla="*/ 4427792 w 4904422"/>
                  <a:gd name="connsiteY0" fmla="*/ 0 h 1696212"/>
                  <a:gd name="connsiteX1" fmla="*/ 476441 w 4904422"/>
                  <a:gd name="connsiteY1" fmla="*/ 0 h 1696212"/>
                  <a:gd name="connsiteX2" fmla="*/ 364236 w 4904422"/>
                  <a:gd name="connsiteY2" fmla="*/ 70199 h 1696212"/>
                  <a:gd name="connsiteX3" fmla="*/ 12573 w 4904422"/>
                  <a:gd name="connsiteY3" fmla="*/ 793528 h 1696212"/>
                  <a:gd name="connsiteX4" fmla="*/ 12573 w 4904422"/>
                  <a:gd name="connsiteY4" fmla="*/ 902589 h 1696212"/>
                  <a:gd name="connsiteX5" fmla="*/ 364331 w 4904422"/>
                  <a:gd name="connsiteY5" fmla="*/ 1626013 h 1696212"/>
                  <a:gd name="connsiteX6" fmla="*/ 476536 w 4904422"/>
                  <a:gd name="connsiteY6" fmla="*/ 1696212 h 1696212"/>
                  <a:gd name="connsiteX7" fmla="*/ 4427887 w 4904422"/>
                  <a:gd name="connsiteY7" fmla="*/ 1696212 h 1696212"/>
                  <a:gd name="connsiteX8" fmla="*/ 4540091 w 4904422"/>
                  <a:gd name="connsiteY8" fmla="*/ 1626013 h 1696212"/>
                  <a:gd name="connsiteX9" fmla="*/ 4891850 w 4904422"/>
                  <a:gd name="connsiteY9" fmla="*/ 902589 h 1696212"/>
                  <a:gd name="connsiteX10" fmla="*/ 4891850 w 4904422"/>
                  <a:gd name="connsiteY10" fmla="*/ 793528 h 1696212"/>
                  <a:gd name="connsiteX11" fmla="*/ 4539996 w 4904422"/>
                  <a:gd name="connsiteY11" fmla="*/ 70199 h 1696212"/>
                  <a:gd name="connsiteX12" fmla="*/ 4427792 w 4904422"/>
                  <a:gd name="connsiteY12" fmla="*/ 0 h 1696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04422" h="1696212">
                    <a:moveTo>
                      <a:pt x="4427792" y="0"/>
                    </a:moveTo>
                    <a:lnTo>
                      <a:pt x="476441" y="0"/>
                    </a:lnTo>
                    <a:cubicBezTo>
                      <a:pt x="428720" y="0"/>
                      <a:pt x="385191" y="27241"/>
                      <a:pt x="364236" y="70199"/>
                    </a:cubicBezTo>
                    <a:lnTo>
                      <a:pt x="12573" y="793528"/>
                    </a:lnTo>
                    <a:cubicBezTo>
                      <a:pt x="-4191" y="828008"/>
                      <a:pt x="-4191" y="868204"/>
                      <a:pt x="12573" y="902589"/>
                    </a:cubicBezTo>
                    <a:lnTo>
                      <a:pt x="364331" y="1626013"/>
                    </a:lnTo>
                    <a:cubicBezTo>
                      <a:pt x="385191" y="1668971"/>
                      <a:pt x="428720" y="1696212"/>
                      <a:pt x="476536" y="1696212"/>
                    </a:cubicBezTo>
                    <a:lnTo>
                      <a:pt x="4427887" y="1696212"/>
                    </a:lnTo>
                    <a:cubicBezTo>
                      <a:pt x="4475607" y="1696212"/>
                      <a:pt x="4519137" y="1668971"/>
                      <a:pt x="4540091" y="1626013"/>
                    </a:cubicBezTo>
                    <a:lnTo>
                      <a:pt x="4891850" y="902589"/>
                    </a:lnTo>
                    <a:cubicBezTo>
                      <a:pt x="4908614" y="868109"/>
                      <a:pt x="4908614" y="827913"/>
                      <a:pt x="4891850" y="793528"/>
                    </a:cubicBezTo>
                    <a:lnTo>
                      <a:pt x="4539996" y="70199"/>
                    </a:lnTo>
                    <a:cubicBezTo>
                      <a:pt x="4519137" y="27241"/>
                      <a:pt x="4475607" y="0"/>
                      <a:pt x="4427792" y="0"/>
                    </a:cubicBezTo>
                    <a:close/>
                  </a:path>
                </a:pathLst>
              </a:custGeom>
              <a:solidFill>
                <a:schemeClr val="tx1">
                  <a:alpha val="14000"/>
                </a:schemeClr>
              </a:solidFill>
              <a:ln w="19050" cap="flat">
                <a:noFill/>
                <a:prstDash val="solid"/>
                <a:miter/>
              </a:ln>
              <a:effectLst>
                <a:softEdge rad="165100"/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03A9B50-5637-5450-7750-0A64D9CDA4B3}"/>
                  </a:ext>
                </a:extLst>
              </p:cNvPr>
              <p:cNvSpPr/>
              <p:nvPr/>
            </p:nvSpPr>
            <p:spPr>
              <a:xfrm>
                <a:off x="794188" y="4725144"/>
                <a:ext cx="2856912" cy="988073"/>
              </a:xfrm>
              <a:custGeom>
                <a:avLst/>
                <a:gdLst>
                  <a:gd name="connsiteX0" fmla="*/ 4427792 w 4904422"/>
                  <a:gd name="connsiteY0" fmla="*/ 0 h 1696212"/>
                  <a:gd name="connsiteX1" fmla="*/ 476441 w 4904422"/>
                  <a:gd name="connsiteY1" fmla="*/ 0 h 1696212"/>
                  <a:gd name="connsiteX2" fmla="*/ 364236 w 4904422"/>
                  <a:gd name="connsiteY2" fmla="*/ 70199 h 1696212"/>
                  <a:gd name="connsiteX3" fmla="*/ 12573 w 4904422"/>
                  <a:gd name="connsiteY3" fmla="*/ 793528 h 1696212"/>
                  <a:gd name="connsiteX4" fmla="*/ 12573 w 4904422"/>
                  <a:gd name="connsiteY4" fmla="*/ 902589 h 1696212"/>
                  <a:gd name="connsiteX5" fmla="*/ 364331 w 4904422"/>
                  <a:gd name="connsiteY5" fmla="*/ 1626013 h 1696212"/>
                  <a:gd name="connsiteX6" fmla="*/ 476536 w 4904422"/>
                  <a:gd name="connsiteY6" fmla="*/ 1696212 h 1696212"/>
                  <a:gd name="connsiteX7" fmla="*/ 4427887 w 4904422"/>
                  <a:gd name="connsiteY7" fmla="*/ 1696212 h 1696212"/>
                  <a:gd name="connsiteX8" fmla="*/ 4540091 w 4904422"/>
                  <a:gd name="connsiteY8" fmla="*/ 1626013 h 1696212"/>
                  <a:gd name="connsiteX9" fmla="*/ 4891850 w 4904422"/>
                  <a:gd name="connsiteY9" fmla="*/ 902589 h 1696212"/>
                  <a:gd name="connsiteX10" fmla="*/ 4891850 w 4904422"/>
                  <a:gd name="connsiteY10" fmla="*/ 793528 h 1696212"/>
                  <a:gd name="connsiteX11" fmla="*/ 4539996 w 4904422"/>
                  <a:gd name="connsiteY11" fmla="*/ 70199 h 1696212"/>
                  <a:gd name="connsiteX12" fmla="*/ 4427792 w 4904422"/>
                  <a:gd name="connsiteY12" fmla="*/ 0 h 1696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04422" h="1696212">
                    <a:moveTo>
                      <a:pt x="4427792" y="0"/>
                    </a:moveTo>
                    <a:lnTo>
                      <a:pt x="476441" y="0"/>
                    </a:lnTo>
                    <a:cubicBezTo>
                      <a:pt x="428720" y="0"/>
                      <a:pt x="385191" y="27241"/>
                      <a:pt x="364236" y="70199"/>
                    </a:cubicBezTo>
                    <a:lnTo>
                      <a:pt x="12573" y="793528"/>
                    </a:lnTo>
                    <a:cubicBezTo>
                      <a:pt x="-4191" y="828008"/>
                      <a:pt x="-4191" y="868204"/>
                      <a:pt x="12573" y="902589"/>
                    </a:cubicBezTo>
                    <a:lnTo>
                      <a:pt x="364331" y="1626013"/>
                    </a:lnTo>
                    <a:cubicBezTo>
                      <a:pt x="385191" y="1668971"/>
                      <a:pt x="428720" y="1696212"/>
                      <a:pt x="476536" y="1696212"/>
                    </a:cubicBezTo>
                    <a:lnTo>
                      <a:pt x="4427887" y="1696212"/>
                    </a:lnTo>
                    <a:cubicBezTo>
                      <a:pt x="4475607" y="1696212"/>
                      <a:pt x="4519137" y="1668971"/>
                      <a:pt x="4540091" y="1626013"/>
                    </a:cubicBezTo>
                    <a:lnTo>
                      <a:pt x="4891850" y="902589"/>
                    </a:lnTo>
                    <a:cubicBezTo>
                      <a:pt x="4908614" y="868109"/>
                      <a:pt x="4908614" y="827913"/>
                      <a:pt x="4891850" y="793528"/>
                    </a:cubicBezTo>
                    <a:lnTo>
                      <a:pt x="4539996" y="70199"/>
                    </a:lnTo>
                    <a:cubicBezTo>
                      <a:pt x="4519137" y="27241"/>
                      <a:pt x="4475607" y="0"/>
                      <a:pt x="4427792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9050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2C95779F-C33A-78EC-E6F6-5E93E0C1C996}"/>
                  </a:ext>
                </a:extLst>
              </p:cNvPr>
              <p:cNvGrpSpPr/>
              <p:nvPr/>
            </p:nvGrpSpPr>
            <p:grpSpPr>
              <a:xfrm>
                <a:off x="776623" y="4488139"/>
                <a:ext cx="1314672" cy="548935"/>
                <a:chOff x="776623" y="4488139"/>
                <a:chExt cx="1314672" cy="548935"/>
              </a:xfrm>
            </p:grpSpPr>
            <p:sp>
              <p:nvSpPr>
                <p:cNvPr id="394" name="Freeform: Shape 393">
                  <a:extLst>
                    <a:ext uri="{FF2B5EF4-FFF2-40B4-BE49-F238E27FC236}">
                      <a16:creationId xmlns:a16="http://schemas.microsoft.com/office/drawing/2014/main" id="{D26BE4E1-CCC8-7069-8127-C480FF9C5CB3}"/>
                    </a:ext>
                  </a:extLst>
                </p:cNvPr>
                <p:cNvSpPr/>
                <p:nvPr/>
              </p:nvSpPr>
              <p:spPr>
                <a:xfrm>
                  <a:off x="776623" y="4582392"/>
                  <a:ext cx="1314672" cy="454682"/>
                </a:xfrm>
                <a:custGeom>
                  <a:avLst/>
                  <a:gdLst>
                    <a:gd name="connsiteX0" fmla="*/ 4427792 w 4904422"/>
                    <a:gd name="connsiteY0" fmla="*/ 0 h 1696212"/>
                    <a:gd name="connsiteX1" fmla="*/ 476441 w 4904422"/>
                    <a:gd name="connsiteY1" fmla="*/ 0 h 1696212"/>
                    <a:gd name="connsiteX2" fmla="*/ 364236 w 4904422"/>
                    <a:gd name="connsiteY2" fmla="*/ 70199 h 1696212"/>
                    <a:gd name="connsiteX3" fmla="*/ 12573 w 4904422"/>
                    <a:gd name="connsiteY3" fmla="*/ 793528 h 1696212"/>
                    <a:gd name="connsiteX4" fmla="*/ 12573 w 4904422"/>
                    <a:gd name="connsiteY4" fmla="*/ 902589 h 1696212"/>
                    <a:gd name="connsiteX5" fmla="*/ 364331 w 4904422"/>
                    <a:gd name="connsiteY5" fmla="*/ 1626013 h 1696212"/>
                    <a:gd name="connsiteX6" fmla="*/ 476536 w 4904422"/>
                    <a:gd name="connsiteY6" fmla="*/ 1696212 h 1696212"/>
                    <a:gd name="connsiteX7" fmla="*/ 4427887 w 4904422"/>
                    <a:gd name="connsiteY7" fmla="*/ 1696212 h 1696212"/>
                    <a:gd name="connsiteX8" fmla="*/ 4540091 w 4904422"/>
                    <a:gd name="connsiteY8" fmla="*/ 1626013 h 1696212"/>
                    <a:gd name="connsiteX9" fmla="*/ 4891850 w 4904422"/>
                    <a:gd name="connsiteY9" fmla="*/ 902589 h 1696212"/>
                    <a:gd name="connsiteX10" fmla="*/ 4891850 w 4904422"/>
                    <a:gd name="connsiteY10" fmla="*/ 793528 h 1696212"/>
                    <a:gd name="connsiteX11" fmla="*/ 4539996 w 4904422"/>
                    <a:gd name="connsiteY11" fmla="*/ 70199 h 1696212"/>
                    <a:gd name="connsiteX12" fmla="*/ 4427792 w 4904422"/>
                    <a:gd name="connsiteY12" fmla="*/ 0 h 1696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904422" h="1696212">
                      <a:moveTo>
                        <a:pt x="4427792" y="0"/>
                      </a:moveTo>
                      <a:lnTo>
                        <a:pt x="476441" y="0"/>
                      </a:lnTo>
                      <a:cubicBezTo>
                        <a:pt x="428720" y="0"/>
                        <a:pt x="385191" y="27241"/>
                        <a:pt x="364236" y="70199"/>
                      </a:cubicBezTo>
                      <a:lnTo>
                        <a:pt x="12573" y="793528"/>
                      </a:lnTo>
                      <a:cubicBezTo>
                        <a:pt x="-4191" y="828008"/>
                        <a:pt x="-4191" y="868204"/>
                        <a:pt x="12573" y="902589"/>
                      </a:cubicBezTo>
                      <a:lnTo>
                        <a:pt x="364331" y="1626013"/>
                      </a:lnTo>
                      <a:cubicBezTo>
                        <a:pt x="385191" y="1668971"/>
                        <a:pt x="428720" y="1696212"/>
                        <a:pt x="476536" y="1696212"/>
                      </a:cubicBezTo>
                      <a:lnTo>
                        <a:pt x="4427887" y="1696212"/>
                      </a:lnTo>
                      <a:cubicBezTo>
                        <a:pt x="4475607" y="1696212"/>
                        <a:pt x="4519137" y="1668971"/>
                        <a:pt x="4540091" y="1626013"/>
                      </a:cubicBezTo>
                      <a:lnTo>
                        <a:pt x="4891850" y="902589"/>
                      </a:lnTo>
                      <a:cubicBezTo>
                        <a:pt x="4908614" y="868109"/>
                        <a:pt x="4908614" y="827913"/>
                        <a:pt x="4891850" y="793528"/>
                      </a:cubicBezTo>
                      <a:lnTo>
                        <a:pt x="4539996" y="70199"/>
                      </a:lnTo>
                      <a:cubicBezTo>
                        <a:pt x="4519137" y="27241"/>
                        <a:pt x="4475607" y="0"/>
                        <a:pt x="4427792" y="0"/>
                      </a:cubicBezTo>
                      <a:close/>
                    </a:path>
                  </a:pathLst>
                </a:custGeom>
                <a:solidFill>
                  <a:schemeClr val="tx1">
                    <a:alpha val="49000"/>
                  </a:schemeClr>
                </a:solidFill>
                <a:ln w="9525" cap="flat">
                  <a:noFill/>
                  <a:prstDash val="solid"/>
                  <a:miter/>
                </a:ln>
                <a:effectLst>
                  <a:softEdge rad="114300"/>
                </a:effectLst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89" name="Freeform: Shape 388">
                  <a:extLst>
                    <a:ext uri="{FF2B5EF4-FFF2-40B4-BE49-F238E27FC236}">
                      <a16:creationId xmlns:a16="http://schemas.microsoft.com/office/drawing/2014/main" id="{0FFC0FFB-DF77-33AE-87E2-676CCAA9B43C}"/>
                    </a:ext>
                  </a:extLst>
                </p:cNvPr>
                <p:cNvSpPr/>
                <p:nvPr/>
              </p:nvSpPr>
              <p:spPr>
                <a:xfrm>
                  <a:off x="843175" y="4488139"/>
                  <a:ext cx="1181568" cy="408649"/>
                </a:xfrm>
                <a:custGeom>
                  <a:avLst/>
                  <a:gdLst>
                    <a:gd name="connsiteX0" fmla="*/ 4427792 w 4904422"/>
                    <a:gd name="connsiteY0" fmla="*/ 0 h 1696212"/>
                    <a:gd name="connsiteX1" fmla="*/ 476441 w 4904422"/>
                    <a:gd name="connsiteY1" fmla="*/ 0 h 1696212"/>
                    <a:gd name="connsiteX2" fmla="*/ 364236 w 4904422"/>
                    <a:gd name="connsiteY2" fmla="*/ 70199 h 1696212"/>
                    <a:gd name="connsiteX3" fmla="*/ 12573 w 4904422"/>
                    <a:gd name="connsiteY3" fmla="*/ 793528 h 1696212"/>
                    <a:gd name="connsiteX4" fmla="*/ 12573 w 4904422"/>
                    <a:gd name="connsiteY4" fmla="*/ 902589 h 1696212"/>
                    <a:gd name="connsiteX5" fmla="*/ 364331 w 4904422"/>
                    <a:gd name="connsiteY5" fmla="*/ 1626013 h 1696212"/>
                    <a:gd name="connsiteX6" fmla="*/ 476536 w 4904422"/>
                    <a:gd name="connsiteY6" fmla="*/ 1696212 h 1696212"/>
                    <a:gd name="connsiteX7" fmla="*/ 4427887 w 4904422"/>
                    <a:gd name="connsiteY7" fmla="*/ 1696212 h 1696212"/>
                    <a:gd name="connsiteX8" fmla="*/ 4540091 w 4904422"/>
                    <a:gd name="connsiteY8" fmla="*/ 1626013 h 1696212"/>
                    <a:gd name="connsiteX9" fmla="*/ 4891850 w 4904422"/>
                    <a:gd name="connsiteY9" fmla="*/ 902589 h 1696212"/>
                    <a:gd name="connsiteX10" fmla="*/ 4891850 w 4904422"/>
                    <a:gd name="connsiteY10" fmla="*/ 793528 h 1696212"/>
                    <a:gd name="connsiteX11" fmla="*/ 4539996 w 4904422"/>
                    <a:gd name="connsiteY11" fmla="*/ 70199 h 1696212"/>
                    <a:gd name="connsiteX12" fmla="*/ 4427792 w 4904422"/>
                    <a:gd name="connsiteY12" fmla="*/ 0 h 1696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904422" h="1696212">
                      <a:moveTo>
                        <a:pt x="4427792" y="0"/>
                      </a:moveTo>
                      <a:lnTo>
                        <a:pt x="476441" y="0"/>
                      </a:lnTo>
                      <a:cubicBezTo>
                        <a:pt x="428720" y="0"/>
                        <a:pt x="385191" y="27241"/>
                        <a:pt x="364236" y="70199"/>
                      </a:cubicBezTo>
                      <a:lnTo>
                        <a:pt x="12573" y="793528"/>
                      </a:lnTo>
                      <a:cubicBezTo>
                        <a:pt x="-4191" y="828008"/>
                        <a:pt x="-4191" y="868204"/>
                        <a:pt x="12573" y="902589"/>
                      </a:cubicBezTo>
                      <a:lnTo>
                        <a:pt x="364331" y="1626013"/>
                      </a:lnTo>
                      <a:cubicBezTo>
                        <a:pt x="385191" y="1668971"/>
                        <a:pt x="428720" y="1696212"/>
                        <a:pt x="476536" y="1696212"/>
                      </a:cubicBezTo>
                      <a:lnTo>
                        <a:pt x="4427887" y="1696212"/>
                      </a:lnTo>
                      <a:cubicBezTo>
                        <a:pt x="4475607" y="1696212"/>
                        <a:pt x="4519137" y="1668971"/>
                        <a:pt x="4540091" y="1626013"/>
                      </a:cubicBezTo>
                      <a:lnTo>
                        <a:pt x="4891850" y="902589"/>
                      </a:lnTo>
                      <a:cubicBezTo>
                        <a:pt x="4908614" y="868109"/>
                        <a:pt x="4908614" y="827913"/>
                        <a:pt x="4891850" y="793528"/>
                      </a:cubicBezTo>
                      <a:lnTo>
                        <a:pt x="4539996" y="70199"/>
                      </a:lnTo>
                      <a:cubicBezTo>
                        <a:pt x="4519137" y="27241"/>
                        <a:pt x="4475607" y="0"/>
                        <a:pt x="442779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1614AFD1-5D25-7BA7-9839-E688B0C1B291}"/>
                </a:ext>
              </a:extLst>
            </p:cNvPr>
            <p:cNvSpPr txBox="1"/>
            <p:nvPr/>
          </p:nvSpPr>
          <p:spPr>
            <a:xfrm>
              <a:off x="1841875" y="5045667"/>
              <a:ext cx="1402286" cy="490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s-ES_tradnl" sz="1400" noProof="1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Ecuación sujeta a optimización</a:t>
              </a:r>
              <a:endParaRPr lang="en-I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17" name="TextBox 716">
              <a:extLst>
                <a:ext uri="{FF2B5EF4-FFF2-40B4-BE49-F238E27FC236}">
                  <a16:creationId xmlns:a16="http://schemas.microsoft.com/office/drawing/2014/main" id="{B1BEAFEF-415A-0617-94BD-0C42EB0A8C80}"/>
                </a:ext>
              </a:extLst>
            </p:cNvPr>
            <p:cNvSpPr txBox="1"/>
            <p:nvPr/>
          </p:nvSpPr>
          <p:spPr>
            <a:xfrm>
              <a:off x="992254" y="4542201"/>
              <a:ext cx="910316" cy="3087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s-ES_tradnl" sz="1400" b="1" noProof="1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Ecuación</a:t>
              </a:r>
            </a:p>
          </p:txBody>
        </p:sp>
        <p:pic>
          <p:nvPicPr>
            <p:cNvPr id="728" name="Graphic 727" descr="Lights On outline">
              <a:extLst>
                <a:ext uri="{FF2B5EF4-FFF2-40B4-BE49-F238E27FC236}">
                  <a16:creationId xmlns:a16="http://schemas.microsoft.com/office/drawing/2014/main" id="{8B8A933D-A429-3A1B-FC81-3118096C21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33468" y="4993458"/>
              <a:ext cx="594568" cy="594568"/>
            </a:xfrm>
            <a:prstGeom prst="rect">
              <a:avLst/>
            </a:prstGeom>
          </p:spPr>
        </p:pic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8EDDEBA-19C0-B6D5-E7C5-DE3A6B1E236C}"/>
              </a:ext>
            </a:extLst>
          </p:cNvPr>
          <p:cNvSpPr txBox="1"/>
          <p:nvPr/>
        </p:nvSpPr>
        <p:spPr>
          <a:xfrm>
            <a:off x="251877" y="276402"/>
            <a:ext cx="3364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4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Metodología</a:t>
            </a:r>
            <a:endParaRPr kumimoji="0" lang="es-ES_tradnl" sz="4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701" name="Group 700">
            <a:extLst>
              <a:ext uri="{FF2B5EF4-FFF2-40B4-BE49-F238E27FC236}">
                <a16:creationId xmlns:a16="http://schemas.microsoft.com/office/drawing/2014/main" id="{828432F9-3AC7-69A4-244B-D7F3AA19D623}"/>
              </a:ext>
            </a:extLst>
          </p:cNvPr>
          <p:cNvGrpSpPr/>
          <p:nvPr/>
        </p:nvGrpSpPr>
        <p:grpSpPr>
          <a:xfrm>
            <a:off x="5456216" y="2679998"/>
            <a:ext cx="542611" cy="542611"/>
            <a:chOff x="2211049" y="2602523"/>
            <a:chExt cx="542611" cy="542611"/>
          </a:xfrm>
        </p:grpSpPr>
        <p:sp>
          <p:nvSpPr>
            <p:cNvPr id="702" name="Oval 701">
              <a:extLst>
                <a:ext uri="{FF2B5EF4-FFF2-40B4-BE49-F238E27FC236}">
                  <a16:creationId xmlns:a16="http://schemas.microsoft.com/office/drawing/2014/main" id="{02152EF7-29ED-41BB-B1B5-0725BF5AFAE2}"/>
                </a:ext>
              </a:extLst>
            </p:cNvPr>
            <p:cNvSpPr/>
            <p:nvPr/>
          </p:nvSpPr>
          <p:spPr>
            <a:xfrm>
              <a:off x="2211049" y="2602523"/>
              <a:ext cx="542611" cy="542611"/>
            </a:xfrm>
            <a:prstGeom prst="ellipse">
              <a:avLst/>
            </a:prstGeom>
            <a:solidFill>
              <a:schemeClr val="tx1">
                <a:alpha val="25000"/>
              </a:schemeClr>
            </a:solidFill>
            <a:ln>
              <a:noFill/>
            </a:ln>
            <a:effectLst>
              <a:softEdge rad="76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3" name="Oval 702">
              <a:extLst>
                <a:ext uri="{FF2B5EF4-FFF2-40B4-BE49-F238E27FC236}">
                  <a16:creationId xmlns:a16="http://schemas.microsoft.com/office/drawing/2014/main" id="{C807F328-E954-8B1C-5757-43A1198BC3AF}"/>
                </a:ext>
              </a:extLst>
            </p:cNvPr>
            <p:cNvSpPr/>
            <p:nvPr/>
          </p:nvSpPr>
          <p:spPr>
            <a:xfrm>
              <a:off x="2291727" y="2623031"/>
              <a:ext cx="381134" cy="381134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731" name="Group 730">
            <a:extLst>
              <a:ext uri="{FF2B5EF4-FFF2-40B4-BE49-F238E27FC236}">
                <a16:creationId xmlns:a16="http://schemas.microsoft.com/office/drawing/2014/main" id="{38234E2D-2B37-DDC4-BBE1-D61C0E19682E}"/>
              </a:ext>
            </a:extLst>
          </p:cNvPr>
          <p:cNvGrpSpPr/>
          <p:nvPr/>
        </p:nvGrpSpPr>
        <p:grpSpPr>
          <a:xfrm>
            <a:off x="3908762" y="1096186"/>
            <a:ext cx="3547075" cy="1462198"/>
            <a:chOff x="3022916" y="1484784"/>
            <a:chExt cx="3547075" cy="1462198"/>
          </a:xfrm>
        </p:grpSpPr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AAC47D80-4E3C-447D-3809-0C466001A0C4}"/>
                </a:ext>
              </a:extLst>
            </p:cNvPr>
            <p:cNvSpPr/>
            <p:nvPr/>
          </p:nvSpPr>
          <p:spPr>
            <a:xfrm>
              <a:off x="4422563" y="1965811"/>
              <a:ext cx="2147428" cy="744106"/>
            </a:xfrm>
            <a:custGeom>
              <a:avLst/>
              <a:gdLst>
                <a:gd name="connsiteX0" fmla="*/ 3311747 w 3686460"/>
                <a:gd name="connsiteY0" fmla="*/ 0 h 1277397"/>
                <a:gd name="connsiteX1" fmla="*/ 374714 w 3686460"/>
                <a:gd name="connsiteY1" fmla="*/ 0 h 1277397"/>
                <a:gd name="connsiteX2" fmla="*/ 262509 w 3686460"/>
                <a:gd name="connsiteY2" fmla="*/ 70199 h 1277397"/>
                <a:gd name="connsiteX3" fmla="*/ 12573 w 3686460"/>
                <a:gd name="connsiteY3" fmla="*/ 584168 h 1277397"/>
                <a:gd name="connsiteX4" fmla="*/ 12573 w 3686460"/>
                <a:gd name="connsiteY4" fmla="*/ 693230 h 1277397"/>
                <a:gd name="connsiteX5" fmla="*/ 262509 w 3686460"/>
                <a:gd name="connsiteY5" fmla="*/ 1207199 h 1277397"/>
                <a:gd name="connsiteX6" fmla="*/ 374714 w 3686460"/>
                <a:gd name="connsiteY6" fmla="*/ 1277398 h 1277397"/>
                <a:gd name="connsiteX7" fmla="*/ 3311747 w 3686460"/>
                <a:gd name="connsiteY7" fmla="*/ 1277398 h 1277397"/>
                <a:gd name="connsiteX8" fmla="*/ 3423952 w 3686460"/>
                <a:gd name="connsiteY8" fmla="*/ 1207199 h 1277397"/>
                <a:gd name="connsiteX9" fmla="*/ 3673888 w 3686460"/>
                <a:gd name="connsiteY9" fmla="*/ 693230 h 1277397"/>
                <a:gd name="connsiteX10" fmla="*/ 3673888 w 3686460"/>
                <a:gd name="connsiteY10" fmla="*/ 584168 h 1277397"/>
                <a:gd name="connsiteX11" fmla="*/ 3423952 w 3686460"/>
                <a:gd name="connsiteY11" fmla="*/ 70199 h 1277397"/>
                <a:gd name="connsiteX12" fmla="*/ 3311747 w 3686460"/>
                <a:gd name="connsiteY12" fmla="*/ 0 h 127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86460" h="1277397">
                  <a:moveTo>
                    <a:pt x="3311747" y="0"/>
                  </a:moveTo>
                  <a:lnTo>
                    <a:pt x="374714" y="0"/>
                  </a:lnTo>
                  <a:cubicBezTo>
                    <a:pt x="326993" y="0"/>
                    <a:pt x="283464" y="27242"/>
                    <a:pt x="262509" y="70199"/>
                  </a:cubicBezTo>
                  <a:lnTo>
                    <a:pt x="12573" y="584168"/>
                  </a:lnTo>
                  <a:cubicBezTo>
                    <a:pt x="-4191" y="618649"/>
                    <a:pt x="-4191" y="658844"/>
                    <a:pt x="12573" y="693230"/>
                  </a:cubicBezTo>
                  <a:lnTo>
                    <a:pt x="262509" y="1207199"/>
                  </a:lnTo>
                  <a:cubicBezTo>
                    <a:pt x="283369" y="1250156"/>
                    <a:pt x="326898" y="1277398"/>
                    <a:pt x="374714" y="1277398"/>
                  </a:cubicBezTo>
                  <a:lnTo>
                    <a:pt x="3311747" y="1277398"/>
                  </a:lnTo>
                  <a:cubicBezTo>
                    <a:pt x="3359468" y="1277398"/>
                    <a:pt x="3402997" y="1250156"/>
                    <a:pt x="3423952" y="1207199"/>
                  </a:cubicBezTo>
                  <a:lnTo>
                    <a:pt x="3673888" y="693230"/>
                  </a:lnTo>
                  <a:cubicBezTo>
                    <a:pt x="3690652" y="658749"/>
                    <a:pt x="3690652" y="618554"/>
                    <a:pt x="3673888" y="584168"/>
                  </a:cubicBezTo>
                  <a:lnTo>
                    <a:pt x="3423952" y="70199"/>
                  </a:lnTo>
                  <a:cubicBezTo>
                    <a:pt x="3403092" y="27242"/>
                    <a:pt x="3359563" y="0"/>
                    <a:pt x="3311747" y="0"/>
                  </a:cubicBezTo>
                  <a:close/>
                </a:path>
              </a:pathLst>
            </a:custGeom>
            <a:solidFill>
              <a:schemeClr val="bg1"/>
            </a:solidFill>
            <a:ln w="19050" cap="flat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509" name="Group 508">
              <a:extLst>
                <a:ext uri="{FF2B5EF4-FFF2-40B4-BE49-F238E27FC236}">
                  <a16:creationId xmlns:a16="http://schemas.microsoft.com/office/drawing/2014/main" id="{135679E4-B8D6-A102-E63C-96DF0213253C}"/>
                </a:ext>
              </a:extLst>
            </p:cNvPr>
            <p:cNvGrpSpPr/>
            <p:nvPr/>
          </p:nvGrpSpPr>
          <p:grpSpPr>
            <a:xfrm>
              <a:off x="5449199" y="1973856"/>
              <a:ext cx="1096712" cy="732899"/>
              <a:chOff x="3101412" y="4977211"/>
              <a:chExt cx="1096712" cy="732899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2E5E3A23-08D8-A7FC-85EC-9B89DD34E520}"/>
                  </a:ext>
                </a:extLst>
              </p:cNvPr>
              <p:cNvSpPr/>
              <p:nvPr/>
            </p:nvSpPr>
            <p:spPr>
              <a:xfrm>
                <a:off x="3101412" y="5662116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D71B6864-4F95-D2E1-D1CD-67263FC89A9B}"/>
                  </a:ext>
                </a:extLst>
              </p:cNvPr>
              <p:cNvSpPr/>
              <p:nvPr/>
            </p:nvSpPr>
            <p:spPr>
              <a:xfrm>
                <a:off x="3101412" y="5539383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1D87FC85-AB16-2BC4-B1AB-B3A0E27524E5}"/>
                  </a:ext>
                </a:extLst>
              </p:cNvPr>
              <p:cNvSpPr/>
              <p:nvPr/>
            </p:nvSpPr>
            <p:spPr>
              <a:xfrm>
                <a:off x="3101412" y="541670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0F774BE8-15A2-7AD0-2208-7A29BA7D84EE}"/>
                  </a:ext>
                </a:extLst>
              </p:cNvPr>
              <p:cNvSpPr/>
              <p:nvPr/>
            </p:nvSpPr>
            <p:spPr>
              <a:xfrm>
                <a:off x="3101412" y="5294030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C8955557-4647-7C3F-FC12-031D317E1262}"/>
                  </a:ext>
                </a:extLst>
              </p:cNvPr>
              <p:cNvSpPr/>
              <p:nvPr/>
            </p:nvSpPr>
            <p:spPr>
              <a:xfrm>
                <a:off x="3101412" y="5171297"/>
                <a:ext cx="32846" cy="30405"/>
              </a:xfrm>
              <a:custGeom>
                <a:avLst/>
                <a:gdLst>
                  <a:gd name="connsiteX0" fmla="*/ 56388 w 56387"/>
                  <a:gd name="connsiteY0" fmla="*/ 26099 h 52196"/>
                  <a:gd name="connsiteX1" fmla="*/ 28194 w 56387"/>
                  <a:gd name="connsiteY1" fmla="*/ 52197 h 52196"/>
                  <a:gd name="connsiteX2" fmla="*/ 0 w 56387"/>
                  <a:gd name="connsiteY2" fmla="*/ 26099 h 52196"/>
                  <a:gd name="connsiteX3" fmla="*/ 28194 w 56387"/>
                  <a:gd name="connsiteY3" fmla="*/ 0 h 52196"/>
                  <a:gd name="connsiteX4" fmla="*/ 56388 w 56387"/>
                  <a:gd name="connsiteY4" fmla="*/ 26099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56388" y="26099"/>
                    </a:moveTo>
                    <a:cubicBezTo>
                      <a:pt x="56388" y="40512"/>
                      <a:pt x="43765" y="52197"/>
                      <a:pt x="28194" y="52197"/>
                    </a:cubicBezTo>
                    <a:cubicBezTo>
                      <a:pt x="12623" y="52197"/>
                      <a:pt x="0" y="40512"/>
                      <a:pt x="0" y="26099"/>
                    </a:cubicBezTo>
                    <a:cubicBezTo>
                      <a:pt x="0" y="11685"/>
                      <a:pt x="12623" y="0"/>
                      <a:pt x="28194" y="0"/>
                    </a:cubicBezTo>
                    <a:cubicBezTo>
                      <a:pt x="43765" y="0"/>
                      <a:pt x="56388" y="11685"/>
                      <a:pt x="56388" y="260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B8F99940-8D91-743B-FBD9-C8BDE2E09F2A}"/>
                  </a:ext>
                </a:extLst>
              </p:cNvPr>
              <p:cNvSpPr/>
              <p:nvPr/>
            </p:nvSpPr>
            <p:spPr>
              <a:xfrm>
                <a:off x="3101412" y="5048620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FEC8866C-77BC-C5E9-956F-CC9EA26A3728}"/>
                  </a:ext>
                </a:extLst>
              </p:cNvPr>
              <p:cNvSpPr/>
              <p:nvPr/>
            </p:nvSpPr>
            <p:spPr>
              <a:xfrm>
                <a:off x="3179701" y="4982372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D0308A15-8C93-3235-1E7C-51A2BF494578}"/>
                  </a:ext>
                </a:extLst>
              </p:cNvPr>
              <p:cNvSpPr/>
              <p:nvPr/>
            </p:nvSpPr>
            <p:spPr>
              <a:xfrm>
                <a:off x="3179701" y="5105104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A9F73FFA-D07F-8CA3-6499-20CF281E0650}"/>
                  </a:ext>
                </a:extLst>
              </p:cNvPr>
              <p:cNvSpPr/>
              <p:nvPr/>
            </p:nvSpPr>
            <p:spPr>
              <a:xfrm>
                <a:off x="3179701" y="5227781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56A20BF6-AC44-F657-D137-9AD9B6AF70E0}"/>
                  </a:ext>
                </a:extLst>
              </p:cNvPr>
              <p:cNvSpPr/>
              <p:nvPr/>
            </p:nvSpPr>
            <p:spPr>
              <a:xfrm>
                <a:off x="3179701" y="5350513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8 h 52197"/>
                  <a:gd name="connsiteX2" fmla="*/ 28194 w 56387"/>
                  <a:gd name="connsiteY2" fmla="*/ 52197 h 52197"/>
                  <a:gd name="connsiteX3" fmla="*/ 56388 w 56387"/>
                  <a:gd name="connsiteY3" fmla="*/ 26098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E60A2CBA-8F36-915E-BBD2-0D50D7C32367}"/>
                  </a:ext>
                </a:extLst>
              </p:cNvPr>
              <p:cNvSpPr/>
              <p:nvPr/>
            </p:nvSpPr>
            <p:spPr>
              <a:xfrm>
                <a:off x="3179701" y="5473190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63805500-AB47-313D-1736-4250E63A4333}"/>
                  </a:ext>
                </a:extLst>
              </p:cNvPr>
              <p:cNvSpPr/>
              <p:nvPr/>
            </p:nvSpPr>
            <p:spPr>
              <a:xfrm>
                <a:off x="3179701" y="5595867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540F1D35-7BA6-E151-7697-5A9FCF890B4A}"/>
                  </a:ext>
                </a:extLst>
              </p:cNvPr>
              <p:cNvSpPr/>
              <p:nvPr/>
            </p:nvSpPr>
            <p:spPr>
              <a:xfrm>
                <a:off x="3230747" y="5656900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508E03F2-B7CC-D337-5B0B-0FD6F60071E4}"/>
                  </a:ext>
                </a:extLst>
              </p:cNvPr>
              <p:cNvSpPr/>
              <p:nvPr/>
            </p:nvSpPr>
            <p:spPr>
              <a:xfrm>
                <a:off x="3230747" y="553422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F42BCC99-73C4-F5E7-50AF-219D9D5F3E23}"/>
                  </a:ext>
                </a:extLst>
              </p:cNvPr>
              <p:cNvSpPr/>
              <p:nvPr/>
            </p:nvSpPr>
            <p:spPr>
              <a:xfrm>
                <a:off x="3230747" y="541149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D6DBE9E4-F34E-CBC1-C2DC-3BBBB302D598}"/>
                  </a:ext>
                </a:extLst>
              </p:cNvPr>
              <p:cNvSpPr/>
              <p:nvPr/>
            </p:nvSpPr>
            <p:spPr>
              <a:xfrm>
                <a:off x="3230747" y="5288814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621"/>
                      <a:pt x="0" y="26099"/>
                    </a:cubicBezTo>
                    <a:cubicBezTo>
                      <a:pt x="0" y="40577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8ACB447D-AE3F-7788-91CE-342B3D2B21B4}"/>
                  </a:ext>
                </a:extLst>
              </p:cNvPr>
              <p:cNvSpPr/>
              <p:nvPr/>
            </p:nvSpPr>
            <p:spPr>
              <a:xfrm>
                <a:off x="3230747" y="5166137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940D09AE-ADAE-F1CC-67CB-44D9EE11984E}"/>
                  </a:ext>
                </a:extLst>
              </p:cNvPr>
              <p:cNvSpPr/>
              <p:nvPr/>
            </p:nvSpPr>
            <p:spPr>
              <a:xfrm>
                <a:off x="3230747" y="504340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E9D7FA8A-C594-3A30-9F18-1C58024901DE}"/>
                  </a:ext>
                </a:extLst>
              </p:cNvPr>
              <p:cNvSpPr/>
              <p:nvPr/>
            </p:nvSpPr>
            <p:spPr>
              <a:xfrm>
                <a:off x="3309036" y="4977211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226437FC-4B60-4F2F-49AC-74688939EF01}"/>
                  </a:ext>
                </a:extLst>
              </p:cNvPr>
              <p:cNvSpPr/>
              <p:nvPr/>
            </p:nvSpPr>
            <p:spPr>
              <a:xfrm>
                <a:off x="3309036" y="5099888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EFFF6950-D309-FFBE-9977-41869DA6EA8B}"/>
                  </a:ext>
                </a:extLst>
              </p:cNvPr>
              <p:cNvSpPr/>
              <p:nvPr/>
            </p:nvSpPr>
            <p:spPr>
              <a:xfrm>
                <a:off x="3309036" y="522256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DF608B17-2DEC-DF8E-EBF4-DF3F3E75A1F1}"/>
                  </a:ext>
                </a:extLst>
              </p:cNvPr>
              <p:cNvSpPr/>
              <p:nvPr/>
            </p:nvSpPr>
            <p:spPr>
              <a:xfrm>
                <a:off x="3309036" y="534529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4447ED19-651C-577B-A7DF-39C1B3AEFC05}"/>
                  </a:ext>
                </a:extLst>
              </p:cNvPr>
              <p:cNvSpPr/>
              <p:nvPr/>
            </p:nvSpPr>
            <p:spPr>
              <a:xfrm>
                <a:off x="3309036" y="546797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354F4919-2A9D-5E95-C11B-D45FD7B1BEFE}"/>
                  </a:ext>
                </a:extLst>
              </p:cNvPr>
              <p:cNvSpPr/>
              <p:nvPr/>
            </p:nvSpPr>
            <p:spPr>
              <a:xfrm>
                <a:off x="3309036" y="5590707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720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3CAD91C7-56CD-B672-5616-331B8A5B12D7}"/>
                  </a:ext>
                </a:extLst>
              </p:cNvPr>
              <p:cNvSpPr/>
              <p:nvPr/>
            </p:nvSpPr>
            <p:spPr>
              <a:xfrm>
                <a:off x="3878643" y="4977211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6303F0C0-5C0D-8C8B-67B1-F36B31604539}"/>
                  </a:ext>
                </a:extLst>
              </p:cNvPr>
              <p:cNvSpPr/>
              <p:nvPr/>
            </p:nvSpPr>
            <p:spPr>
              <a:xfrm>
                <a:off x="3878643" y="5099888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913DA2EA-5147-973C-B24A-5EE22AB2250B}"/>
                  </a:ext>
                </a:extLst>
              </p:cNvPr>
              <p:cNvSpPr/>
              <p:nvPr/>
            </p:nvSpPr>
            <p:spPr>
              <a:xfrm>
                <a:off x="3878643" y="522256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C6645DB8-6A63-EA0B-375A-2A51D98EED59}"/>
                  </a:ext>
                </a:extLst>
              </p:cNvPr>
              <p:cNvSpPr/>
              <p:nvPr/>
            </p:nvSpPr>
            <p:spPr>
              <a:xfrm>
                <a:off x="3878643" y="534529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4BC499C8-251E-87FE-D3FE-A0E9E0DD0E7D}"/>
                  </a:ext>
                </a:extLst>
              </p:cNvPr>
              <p:cNvSpPr/>
              <p:nvPr/>
            </p:nvSpPr>
            <p:spPr>
              <a:xfrm>
                <a:off x="3878643" y="5467975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D15BE331-5AA9-F016-6AAA-8517783DB690}"/>
                  </a:ext>
                </a:extLst>
              </p:cNvPr>
              <p:cNvSpPr/>
              <p:nvPr/>
            </p:nvSpPr>
            <p:spPr>
              <a:xfrm>
                <a:off x="3878643" y="5590707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3B56DC64-3C97-0D41-6EB8-9A87B4D01AF0}"/>
                  </a:ext>
                </a:extLst>
              </p:cNvPr>
              <p:cNvSpPr/>
              <p:nvPr/>
            </p:nvSpPr>
            <p:spPr>
              <a:xfrm>
                <a:off x="3800354" y="5656900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2DB5FAC0-F300-E50A-7AC0-D38A6446452F}"/>
                  </a:ext>
                </a:extLst>
              </p:cNvPr>
              <p:cNvSpPr/>
              <p:nvPr/>
            </p:nvSpPr>
            <p:spPr>
              <a:xfrm>
                <a:off x="3800354" y="553422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AE31C876-24CD-872F-7DA1-642EF22FF6AA}"/>
                  </a:ext>
                </a:extLst>
              </p:cNvPr>
              <p:cNvSpPr/>
              <p:nvPr/>
            </p:nvSpPr>
            <p:spPr>
              <a:xfrm>
                <a:off x="3800354" y="541149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AA429035-6112-DCD9-8F10-0A527B0CBAF2}"/>
                  </a:ext>
                </a:extLst>
              </p:cNvPr>
              <p:cNvSpPr/>
              <p:nvPr/>
            </p:nvSpPr>
            <p:spPr>
              <a:xfrm>
                <a:off x="3800354" y="5288814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2F33E99-3B36-313C-D6D2-AE7A76FF55E4}"/>
                  </a:ext>
                </a:extLst>
              </p:cNvPr>
              <p:cNvSpPr/>
              <p:nvPr/>
            </p:nvSpPr>
            <p:spPr>
              <a:xfrm>
                <a:off x="3800354" y="5166137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5D810B3B-F6F3-177F-C97A-FC5C6779A80E}"/>
                  </a:ext>
                </a:extLst>
              </p:cNvPr>
              <p:cNvSpPr/>
              <p:nvPr/>
            </p:nvSpPr>
            <p:spPr>
              <a:xfrm>
                <a:off x="3800354" y="504340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E09FB981-E2B1-2EB4-014F-AD5183D1FC6A}"/>
                  </a:ext>
                </a:extLst>
              </p:cNvPr>
              <p:cNvSpPr/>
              <p:nvPr/>
            </p:nvSpPr>
            <p:spPr>
              <a:xfrm>
                <a:off x="3749308" y="4982372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E792B77E-3278-28E8-BA17-D3AD74107AA3}"/>
                  </a:ext>
                </a:extLst>
              </p:cNvPr>
              <p:cNvSpPr/>
              <p:nvPr/>
            </p:nvSpPr>
            <p:spPr>
              <a:xfrm>
                <a:off x="3749308" y="5105104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90D09C49-EEBB-7D27-0F11-F1D35700EFEA}"/>
                  </a:ext>
                </a:extLst>
              </p:cNvPr>
              <p:cNvSpPr/>
              <p:nvPr/>
            </p:nvSpPr>
            <p:spPr>
              <a:xfrm>
                <a:off x="3749308" y="522778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287CC46F-8CCC-7336-7482-BE259653EC25}"/>
                  </a:ext>
                </a:extLst>
              </p:cNvPr>
              <p:cNvSpPr/>
              <p:nvPr/>
            </p:nvSpPr>
            <p:spPr>
              <a:xfrm>
                <a:off x="3749308" y="5350513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BFDAE3-4679-EA19-D476-11B583EAE423}"/>
                  </a:ext>
                </a:extLst>
              </p:cNvPr>
              <p:cNvSpPr/>
              <p:nvPr/>
            </p:nvSpPr>
            <p:spPr>
              <a:xfrm>
                <a:off x="3749308" y="5473190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821CD8E8-DD0F-0A5F-BF5A-207B6C7CD9BE}"/>
                  </a:ext>
                </a:extLst>
              </p:cNvPr>
              <p:cNvSpPr/>
              <p:nvPr/>
            </p:nvSpPr>
            <p:spPr>
              <a:xfrm>
                <a:off x="3749308" y="5595867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99D784CF-C229-328D-8ACD-0D044269793B}"/>
                  </a:ext>
                </a:extLst>
              </p:cNvPr>
              <p:cNvSpPr/>
              <p:nvPr/>
            </p:nvSpPr>
            <p:spPr>
              <a:xfrm>
                <a:off x="3671019" y="5662116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955E5DFE-39FD-024C-728F-7114C5DEA75E}"/>
                  </a:ext>
                </a:extLst>
              </p:cNvPr>
              <p:cNvSpPr/>
              <p:nvPr/>
            </p:nvSpPr>
            <p:spPr>
              <a:xfrm>
                <a:off x="3671019" y="553938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F1B058C-B709-BB9A-18E1-D8210C4F5705}"/>
                  </a:ext>
                </a:extLst>
              </p:cNvPr>
              <p:cNvSpPr/>
              <p:nvPr/>
            </p:nvSpPr>
            <p:spPr>
              <a:xfrm>
                <a:off x="3671019" y="5416706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E4CC95D6-B8B3-5938-1479-FC204CB4EF77}"/>
                  </a:ext>
                </a:extLst>
              </p:cNvPr>
              <p:cNvSpPr/>
              <p:nvPr/>
            </p:nvSpPr>
            <p:spPr>
              <a:xfrm>
                <a:off x="3671019" y="5294030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8 h 52197"/>
                  <a:gd name="connsiteX2" fmla="*/ 28194 w 56387"/>
                  <a:gd name="connsiteY2" fmla="*/ 52197 h 52197"/>
                  <a:gd name="connsiteX3" fmla="*/ 56388 w 56387"/>
                  <a:gd name="connsiteY3" fmla="*/ 26098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E0EC6760-F94F-3F54-78FD-6D340303CEE4}"/>
                  </a:ext>
                </a:extLst>
              </p:cNvPr>
              <p:cNvSpPr/>
              <p:nvPr/>
            </p:nvSpPr>
            <p:spPr>
              <a:xfrm>
                <a:off x="3671019" y="5171297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709BD69B-A5EE-3EB8-5240-7040EA722346}"/>
                  </a:ext>
                </a:extLst>
              </p:cNvPr>
              <p:cNvSpPr/>
              <p:nvPr/>
            </p:nvSpPr>
            <p:spPr>
              <a:xfrm>
                <a:off x="3671019" y="5048620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7E475EA-C97C-C28C-F203-83E32696323E}"/>
                  </a:ext>
                </a:extLst>
              </p:cNvPr>
              <p:cNvSpPr/>
              <p:nvPr/>
            </p:nvSpPr>
            <p:spPr>
              <a:xfrm>
                <a:off x="3589068" y="4994800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90C2CA81-A545-13C6-BF95-1AEB694BF548}"/>
                  </a:ext>
                </a:extLst>
              </p:cNvPr>
              <p:cNvSpPr/>
              <p:nvPr/>
            </p:nvSpPr>
            <p:spPr>
              <a:xfrm>
                <a:off x="3589068" y="5117533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367CD19E-AB9D-7DAE-B527-E570AFE69F60}"/>
                  </a:ext>
                </a:extLst>
              </p:cNvPr>
              <p:cNvSpPr/>
              <p:nvPr/>
            </p:nvSpPr>
            <p:spPr>
              <a:xfrm>
                <a:off x="3589068" y="524020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8244B2A1-6C1F-AE71-7CB1-B10BF9E7DCDA}"/>
                  </a:ext>
                </a:extLst>
              </p:cNvPr>
              <p:cNvSpPr/>
              <p:nvPr/>
            </p:nvSpPr>
            <p:spPr>
              <a:xfrm>
                <a:off x="3589068" y="536288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931F37DA-CAF9-6B41-737A-654E88643BB3}"/>
                  </a:ext>
                </a:extLst>
              </p:cNvPr>
              <p:cNvSpPr/>
              <p:nvPr/>
            </p:nvSpPr>
            <p:spPr>
              <a:xfrm>
                <a:off x="3589068" y="548561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EC516CAE-335A-E802-C593-DF86F253B645}"/>
                  </a:ext>
                </a:extLst>
              </p:cNvPr>
              <p:cNvSpPr/>
              <p:nvPr/>
            </p:nvSpPr>
            <p:spPr>
              <a:xfrm>
                <a:off x="3589068" y="560829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5D7765F8-5FF4-64EB-E62E-A7EFA2B35338}"/>
                  </a:ext>
                </a:extLst>
              </p:cNvPr>
              <p:cNvSpPr/>
              <p:nvPr/>
            </p:nvSpPr>
            <p:spPr>
              <a:xfrm>
                <a:off x="3510779" y="5674544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9 h 52196"/>
                  <a:gd name="connsiteX2" fmla="*/ 28194 w 56388"/>
                  <a:gd name="connsiteY2" fmla="*/ 52197 h 52196"/>
                  <a:gd name="connsiteX3" fmla="*/ 56388 w 56388"/>
                  <a:gd name="connsiteY3" fmla="*/ 26099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235E7B70-3E64-D0EF-8C81-F06846AD7E4E}"/>
                  </a:ext>
                </a:extLst>
              </p:cNvPr>
              <p:cNvSpPr/>
              <p:nvPr/>
            </p:nvSpPr>
            <p:spPr>
              <a:xfrm>
                <a:off x="3510779" y="5551812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A31929AB-BCBA-D016-3158-BE1718C97DCF}"/>
                  </a:ext>
                </a:extLst>
              </p:cNvPr>
              <p:cNvSpPr/>
              <p:nvPr/>
            </p:nvSpPr>
            <p:spPr>
              <a:xfrm>
                <a:off x="3510779" y="5429135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B6EA6AFF-7BD8-7358-89F9-8C98CD898EBC}"/>
                  </a:ext>
                </a:extLst>
              </p:cNvPr>
              <p:cNvSpPr/>
              <p:nvPr/>
            </p:nvSpPr>
            <p:spPr>
              <a:xfrm>
                <a:off x="3510779" y="5306403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DF69AA12-55BD-E278-0B6B-10C6241EA756}"/>
                  </a:ext>
                </a:extLst>
              </p:cNvPr>
              <p:cNvSpPr/>
              <p:nvPr/>
            </p:nvSpPr>
            <p:spPr>
              <a:xfrm>
                <a:off x="3510779" y="5183726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BA2D82CF-6E41-554D-229F-DC2B3385D9E9}"/>
                  </a:ext>
                </a:extLst>
              </p:cNvPr>
              <p:cNvSpPr/>
              <p:nvPr/>
            </p:nvSpPr>
            <p:spPr>
              <a:xfrm>
                <a:off x="3510779" y="506104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668" y="52197"/>
                      <a:pt x="28194" y="52197"/>
                    </a:cubicBezTo>
                    <a:cubicBezTo>
                      <a:pt x="43720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EB70B619-5BA8-A539-EF7C-26935376EC64}"/>
                  </a:ext>
                </a:extLst>
              </p:cNvPr>
              <p:cNvSpPr/>
              <p:nvPr/>
            </p:nvSpPr>
            <p:spPr>
              <a:xfrm>
                <a:off x="3459733" y="500001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9A3AF473-58CB-F776-4194-273D805FB302}"/>
                  </a:ext>
                </a:extLst>
              </p:cNvPr>
              <p:cNvSpPr/>
              <p:nvPr/>
            </p:nvSpPr>
            <p:spPr>
              <a:xfrm>
                <a:off x="3459733" y="512269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0F409688-D6F4-5DDE-3A74-4E467BEED0D4}"/>
                  </a:ext>
                </a:extLst>
              </p:cNvPr>
              <p:cNvSpPr/>
              <p:nvPr/>
            </p:nvSpPr>
            <p:spPr>
              <a:xfrm>
                <a:off x="3459733" y="5245425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A728A418-DD93-7D64-DA8E-BC6980DB13B1}"/>
                  </a:ext>
                </a:extLst>
              </p:cNvPr>
              <p:cNvSpPr/>
              <p:nvPr/>
            </p:nvSpPr>
            <p:spPr>
              <a:xfrm>
                <a:off x="3459733" y="5368101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D11845BD-4BC9-953F-56C2-54D7B4EE431A}"/>
                  </a:ext>
                </a:extLst>
              </p:cNvPr>
              <p:cNvSpPr/>
              <p:nvPr/>
            </p:nvSpPr>
            <p:spPr>
              <a:xfrm>
                <a:off x="3459733" y="549083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440B0C4C-3207-FF45-62B2-7AB04BB2D2ED}"/>
                  </a:ext>
                </a:extLst>
              </p:cNvPr>
              <p:cNvSpPr/>
              <p:nvPr/>
            </p:nvSpPr>
            <p:spPr>
              <a:xfrm>
                <a:off x="3459733" y="561351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DF083D2A-81C2-4480-5DB2-6B992457D11F}"/>
                  </a:ext>
                </a:extLst>
              </p:cNvPr>
              <p:cNvSpPr/>
              <p:nvPr/>
            </p:nvSpPr>
            <p:spPr>
              <a:xfrm>
                <a:off x="3381444" y="5679704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577"/>
                      <a:pt x="56388" y="26099"/>
                    </a:cubicBezTo>
                    <a:cubicBezTo>
                      <a:pt x="56388" y="11621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5B5EC0BE-D2C7-BD22-8BAC-15CC73FE1F10}"/>
                  </a:ext>
                </a:extLst>
              </p:cNvPr>
              <p:cNvSpPr/>
              <p:nvPr/>
            </p:nvSpPr>
            <p:spPr>
              <a:xfrm>
                <a:off x="3381444" y="555702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85CFFCFE-FB08-85B3-0D6B-3F65E3B7D059}"/>
                  </a:ext>
                </a:extLst>
              </p:cNvPr>
              <p:cNvSpPr/>
              <p:nvPr/>
            </p:nvSpPr>
            <p:spPr>
              <a:xfrm>
                <a:off x="3381444" y="543435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9E700FBE-CF5B-CB0E-D97B-F36E7F06A8FC}"/>
                  </a:ext>
                </a:extLst>
              </p:cNvPr>
              <p:cNvSpPr/>
              <p:nvPr/>
            </p:nvSpPr>
            <p:spPr>
              <a:xfrm>
                <a:off x="3381444" y="531161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AC241FF2-1494-D311-C11E-92046479F69D}"/>
                  </a:ext>
                </a:extLst>
              </p:cNvPr>
              <p:cNvSpPr/>
              <p:nvPr/>
            </p:nvSpPr>
            <p:spPr>
              <a:xfrm>
                <a:off x="3381444" y="518894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6125CFC7-2C3E-A990-8D25-CA30EF760E2D}"/>
                  </a:ext>
                </a:extLst>
              </p:cNvPr>
              <p:cNvSpPr/>
              <p:nvPr/>
            </p:nvSpPr>
            <p:spPr>
              <a:xfrm>
                <a:off x="3381444" y="506620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B0EBC9D-04F4-9D4A-9A4D-55F0180EFE62}"/>
                  </a:ext>
                </a:extLst>
              </p:cNvPr>
              <p:cNvSpPr/>
              <p:nvPr/>
            </p:nvSpPr>
            <p:spPr>
              <a:xfrm>
                <a:off x="4165278" y="5362886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BBC30F5A-3EF5-28AE-A242-06D5D92573D1}"/>
                  </a:ext>
                </a:extLst>
              </p:cNvPr>
              <p:cNvSpPr/>
              <p:nvPr/>
            </p:nvSpPr>
            <p:spPr>
              <a:xfrm>
                <a:off x="4075891" y="5551812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E29DD556-5DC4-8841-6C7A-34C75AC466FC}"/>
                  </a:ext>
                </a:extLst>
              </p:cNvPr>
              <p:cNvSpPr/>
              <p:nvPr/>
            </p:nvSpPr>
            <p:spPr>
              <a:xfrm>
                <a:off x="4086988" y="5429135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8 h 52197"/>
                  <a:gd name="connsiteX2" fmla="*/ 28194 w 56387"/>
                  <a:gd name="connsiteY2" fmla="*/ 52197 h 52197"/>
                  <a:gd name="connsiteX3" fmla="*/ 56388 w 56387"/>
                  <a:gd name="connsiteY3" fmla="*/ 26098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4170E2C9-3065-F963-7A26-8D21A923B341}"/>
                  </a:ext>
                </a:extLst>
              </p:cNvPr>
              <p:cNvSpPr/>
              <p:nvPr/>
            </p:nvSpPr>
            <p:spPr>
              <a:xfrm>
                <a:off x="4086988" y="530640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247E6B25-16BB-B994-C644-60C0B013C2BF}"/>
                  </a:ext>
                </a:extLst>
              </p:cNvPr>
              <p:cNvSpPr/>
              <p:nvPr/>
            </p:nvSpPr>
            <p:spPr>
              <a:xfrm>
                <a:off x="4086988" y="5183726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8EE73BB0-0AF2-911A-38E4-052F0DC32EC2}"/>
                  </a:ext>
                </a:extLst>
              </p:cNvPr>
              <p:cNvSpPr/>
              <p:nvPr/>
            </p:nvSpPr>
            <p:spPr>
              <a:xfrm>
                <a:off x="4013804" y="500001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E369DD7D-BB69-1BC0-ED9F-7E3D6FFCD53A}"/>
                  </a:ext>
                </a:extLst>
              </p:cNvPr>
              <p:cNvSpPr/>
              <p:nvPr/>
            </p:nvSpPr>
            <p:spPr>
              <a:xfrm>
                <a:off x="4035998" y="5122693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8 h 52196"/>
                  <a:gd name="connsiteX2" fmla="*/ 28194 w 56387"/>
                  <a:gd name="connsiteY2" fmla="*/ 52197 h 52196"/>
                  <a:gd name="connsiteX3" fmla="*/ 56388 w 56387"/>
                  <a:gd name="connsiteY3" fmla="*/ 26098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7823ECA4-7F1C-93E1-3569-77759AB9AA52}"/>
                  </a:ext>
                </a:extLst>
              </p:cNvPr>
              <p:cNvSpPr/>
              <p:nvPr/>
            </p:nvSpPr>
            <p:spPr>
              <a:xfrm>
                <a:off x="4035998" y="5245425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792CCE55-0FD7-2848-8003-A6A631563A51}"/>
                  </a:ext>
                </a:extLst>
              </p:cNvPr>
              <p:cNvSpPr/>
              <p:nvPr/>
            </p:nvSpPr>
            <p:spPr>
              <a:xfrm>
                <a:off x="4035998" y="5368101"/>
                <a:ext cx="32846" cy="30406"/>
              </a:xfrm>
              <a:custGeom>
                <a:avLst/>
                <a:gdLst>
                  <a:gd name="connsiteX0" fmla="*/ 28194 w 56387"/>
                  <a:gd name="connsiteY0" fmla="*/ 0 h 52197"/>
                  <a:gd name="connsiteX1" fmla="*/ 0 w 56387"/>
                  <a:gd name="connsiteY1" fmla="*/ 26099 h 52197"/>
                  <a:gd name="connsiteX2" fmla="*/ 28194 w 56387"/>
                  <a:gd name="connsiteY2" fmla="*/ 52197 h 52197"/>
                  <a:gd name="connsiteX3" fmla="*/ 56388 w 56387"/>
                  <a:gd name="connsiteY3" fmla="*/ 26099 h 52197"/>
                  <a:gd name="connsiteX4" fmla="*/ 28194 w 56387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4D384E37-CF3C-D834-FD4C-F7A6043026B1}"/>
                  </a:ext>
                </a:extLst>
              </p:cNvPr>
              <p:cNvSpPr/>
              <p:nvPr/>
            </p:nvSpPr>
            <p:spPr>
              <a:xfrm>
                <a:off x="4035998" y="5490835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3F67C3C8-81E0-5FBE-B34C-94FE97BB2CF7}"/>
                  </a:ext>
                </a:extLst>
              </p:cNvPr>
              <p:cNvSpPr/>
              <p:nvPr/>
            </p:nvSpPr>
            <p:spPr>
              <a:xfrm>
                <a:off x="4035998" y="5613511"/>
                <a:ext cx="32846" cy="30405"/>
              </a:xfrm>
              <a:custGeom>
                <a:avLst/>
                <a:gdLst>
                  <a:gd name="connsiteX0" fmla="*/ 28194 w 56387"/>
                  <a:gd name="connsiteY0" fmla="*/ 0 h 52196"/>
                  <a:gd name="connsiteX1" fmla="*/ 0 w 56387"/>
                  <a:gd name="connsiteY1" fmla="*/ 26099 h 52196"/>
                  <a:gd name="connsiteX2" fmla="*/ 28194 w 56387"/>
                  <a:gd name="connsiteY2" fmla="*/ 52197 h 52196"/>
                  <a:gd name="connsiteX3" fmla="*/ 56388 w 56387"/>
                  <a:gd name="connsiteY3" fmla="*/ 26099 h 52196"/>
                  <a:gd name="connsiteX4" fmla="*/ 28194 w 56387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7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EB1D6C50-B6EC-BDB0-E2E7-2DE34FF3A352}"/>
                  </a:ext>
                </a:extLst>
              </p:cNvPr>
              <p:cNvSpPr/>
              <p:nvPr/>
            </p:nvSpPr>
            <p:spPr>
              <a:xfrm>
                <a:off x="3957709" y="5679704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577"/>
                      <a:pt x="56388" y="26099"/>
                    </a:cubicBezTo>
                    <a:cubicBezTo>
                      <a:pt x="56388" y="11621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5D5A48F3-96E1-85EE-2D10-4BFECBE46C5C}"/>
                  </a:ext>
                </a:extLst>
              </p:cNvPr>
              <p:cNvSpPr/>
              <p:nvPr/>
            </p:nvSpPr>
            <p:spPr>
              <a:xfrm>
                <a:off x="3957709" y="555702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E3337C4B-6E94-1FD6-15C4-A4CCF7D8575D}"/>
                  </a:ext>
                </a:extLst>
              </p:cNvPr>
              <p:cNvSpPr/>
              <p:nvPr/>
            </p:nvSpPr>
            <p:spPr>
              <a:xfrm>
                <a:off x="3957709" y="543435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8 h 52197"/>
                  <a:gd name="connsiteX2" fmla="*/ 28194 w 56388"/>
                  <a:gd name="connsiteY2" fmla="*/ 52197 h 52197"/>
                  <a:gd name="connsiteX3" fmla="*/ 56388 w 56388"/>
                  <a:gd name="connsiteY3" fmla="*/ 26098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D532C0C0-7B35-D79E-E49C-F8CECC231CD7}"/>
                  </a:ext>
                </a:extLst>
              </p:cNvPr>
              <p:cNvSpPr/>
              <p:nvPr/>
            </p:nvSpPr>
            <p:spPr>
              <a:xfrm>
                <a:off x="3957709" y="5311618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7932C282-C809-68BE-AC84-438F10A06CC9}"/>
                  </a:ext>
                </a:extLst>
              </p:cNvPr>
              <p:cNvSpPr/>
              <p:nvPr/>
            </p:nvSpPr>
            <p:spPr>
              <a:xfrm>
                <a:off x="3957709" y="5188941"/>
                <a:ext cx="32847" cy="30406"/>
              </a:xfrm>
              <a:custGeom>
                <a:avLst/>
                <a:gdLst>
                  <a:gd name="connsiteX0" fmla="*/ 28194 w 56388"/>
                  <a:gd name="connsiteY0" fmla="*/ 0 h 52197"/>
                  <a:gd name="connsiteX1" fmla="*/ 0 w 56388"/>
                  <a:gd name="connsiteY1" fmla="*/ 26099 h 52197"/>
                  <a:gd name="connsiteX2" fmla="*/ 28194 w 56388"/>
                  <a:gd name="connsiteY2" fmla="*/ 52197 h 52197"/>
                  <a:gd name="connsiteX3" fmla="*/ 56388 w 56388"/>
                  <a:gd name="connsiteY3" fmla="*/ 26099 h 52197"/>
                  <a:gd name="connsiteX4" fmla="*/ 28194 w 56388"/>
                  <a:gd name="connsiteY4" fmla="*/ 0 h 52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7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9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9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15CC3905-81E6-B81C-4BAC-51DB1AC1D687}"/>
                  </a:ext>
                </a:extLst>
              </p:cNvPr>
              <p:cNvSpPr/>
              <p:nvPr/>
            </p:nvSpPr>
            <p:spPr>
              <a:xfrm>
                <a:off x="3957709" y="5066209"/>
                <a:ext cx="32847" cy="30405"/>
              </a:xfrm>
              <a:custGeom>
                <a:avLst/>
                <a:gdLst>
                  <a:gd name="connsiteX0" fmla="*/ 28194 w 56388"/>
                  <a:gd name="connsiteY0" fmla="*/ 0 h 52196"/>
                  <a:gd name="connsiteX1" fmla="*/ 0 w 56388"/>
                  <a:gd name="connsiteY1" fmla="*/ 26098 h 52196"/>
                  <a:gd name="connsiteX2" fmla="*/ 28194 w 56388"/>
                  <a:gd name="connsiteY2" fmla="*/ 52197 h 52196"/>
                  <a:gd name="connsiteX3" fmla="*/ 56388 w 56388"/>
                  <a:gd name="connsiteY3" fmla="*/ 26098 h 52196"/>
                  <a:gd name="connsiteX4" fmla="*/ 28194 w 56388"/>
                  <a:gd name="connsiteY4" fmla="*/ 0 h 52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88" h="52196">
                    <a:moveTo>
                      <a:pt x="28194" y="0"/>
                    </a:moveTo>
                    <a:cubicBezTo>
                      <a:pt x="12668" y="0"/>
                      <a:pt x="0" y="11716"/>
                      <a:pt x="0" y="26098"/>
                    </a:cubicBezTo>
                    <a:cubicBezTo>
                      <a:pt x="0" y="40481"/>
                      <a:pt x="12573" y="52197"/>
                      <a:pt x="28194" y="52197"/>
                    </a:cubicBezTo>
                    <a:cubicBezTo>
                      <a:pt x="43815" y="52197"/>
                      <a:pt x="56388" y="40481"/>
                      <a:pt x="56388" y="26098"/>
                    </a:cubicBezTo>
                    <a:cubicBezTo>
                      <a:pt x="56388" y="11716"/>
                      <a:pt x="43815" y="0"/>
                      <a:pt x="28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25B29E84-1BB7-A71B-4302-74C1CDDAA574}"/>
                </a:ext>
              </a:extLst>
            </p:cNvPr>
            <p:cNvSpPr/>
            <p:nvPr/>
          </p:nvSpPr>
          <p:spPr>
            <a:xfrm>
              <a:off x="3022916" y="1876556"/>
              <a:ext cx="3095030" cy="1070426"/>
            </a:xfrm>
            <a:custGeom>
              <a:avLst/>
              <a:gdLst>
                <a:gd name="connsiteX0" fmla="*/ 4427792 w 4904422"/>
                <a:gd name="connsiteY0" fmla="*/ 0 h 1696212"/>
                <a:gd name="connsiteX1" fmla="*/ 476441 w 4904422"/>
                <a:gd name="connsiteY1" fmla="*/ 0 h 1696212"/>
                <a:gd name="connsiteX2" fmla="*/ 364236 w 4904422"/>
                <a:gd name="connsiteY2" fmla="*/ 70199 h 1696212"/>
                <a:gd name="connsiteX3" fmla="*/ 12573 w 4904422"/>
                <a:gd name="connsiteY3" fmla="*/ 793528 h 1696212"/>
                <a:gd name="connsiteX4" fmla="*/ 12573 w 4904422"/>
                <a:gd name="connsiteY4" fmla="*/ 902589 h 1696212"/>
                <a:gd name="connsiteX5" fmla="*/ 364331 w 4904422"/>
                <a:gd name="connsiteY5" fmla="*/ 1626013 h 1696212"/>
                <a:gd name="connsiteX6" fmla="*/ 476536 w 4904422"/>
                <a:gd name="connsiteY6" fmla="*/ 1696212 h 1696212"/>
                <a:gd name="connsiteX7" fmla="*/ 4427887 w 4904422"/>
                <a:gd name="connsiteY7" fmla="*/ 1696212 h 1696212"/>
                <a:gd name="connsiteX8" fmla="*/ 4540091 w 4904422"/>
                <a:gd name="connsiteY8" fmla="*/ 1626013 h 1696212"/>
                <a:gd name="connsiteX9" fmla="*/ 4891850 w 4904422"/>
                <a:gd name="connsiteY9" fmla="*/ 902589 h 1696212"/>
                <a:gd name="connsiteX10" fmla="*/ 4891850 w 4904422"/>
                <a:gd name="connsiteY10" fmla="*/ 793528 h 1696212"/>
                <a:gd name="connsiteX11" fmla="*/ 4539996 w 4904422"/>
                <a:gd name="connsiteY11" fmla="*/ 70199 h 1696212"/>
                <a:gd name="connsiteX12" fmla="*/ 4427792 w 4904422"/>
                <a:gd name="connsiteY12" fmla="*/ 0 h 169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04422" h="1696212">
                  <a:moveTo>
                    <a:pt x="4427792" y="0"/>
                  </a:moveTo>
                  <a:lnTo>
                    <a:pt x="476441" y="0"/>
                  </a:lnTo>
                  <a:cubicBezTo>
                    <a:pt x="428720" y="0"/>
                    <a:pt x="385191" y="27241"/>
                    <a:pt x="364236" y="70199"/>
                  </a:cubicBezTo>
                  <a:lnTo>
                    <a:pt x="12573" y="793528"/>
                  </a:lnTo>
                  <a:cubicBezTo>
                    <a:pt x="-4191" y="828008"/>
                    <a:pt x="-4191" y="868204"/>
                    <a:pt x="12573" y="902589"/>
                  </a:cubicBezTo>
                  <a:lnTo>
                    <a:pt x="364331" y="1626013"/>
                  </a:lnTo>
                  <a:cubicBezTo>
                    <a:pt x="385191" y="1668971"/>
                    <a:pt x="428720" y="1696212"/>
                    <a:pt x="476536" y="1696212"/>
                  </a:cubicBezTo>
                  <a:lnTo>
                    <a:pt x="4427887" y="1696212"/>
                  </a:lnTo>
                  <a:cubicBezTo>
                    <a:pt x="4475607" y="1696212"/>
                    <a:pt x="4519137" y="1668971"/>
                    <a:pt x="4540091" y="1626013"/>
                  </a:cubicBezTo>
                  <a:lnTo>
                    <a:pt x="4891850" y="902589"/>
                  </a:lnTo>
                  <a:cubicBezTo>
                    <a:pt x="4908614" y="868109"/>
                    <a:pt x="4908614" y="827913"/>
                    <a:pt x="4891850" y="793528"/>
                  </a:cubicBezTo>
                  <a:lnTo>
                    <a:pt x="4539996" y="70199"/>
                  </a:lnTo>
                  <a:cubicBezTo>
                    <a:pt x="4519137" y="27241"/>
                    <a:pt x="4475607" y="0"/>
                    <a:pt x="4427792" y="0"/>
                  </a:cubicBezTo>
                  <a:close/>
                </a:path>
              </a:pathLst>
            </a:custGeom>
            <a:solidFill>
              <a:schemeClr val="tx1">
                <a:alpha val="14000"/>
              </a:schemeClr>
            </a:solidFill>
            <a:ln w="19050" cap="flat">
              <a:noFill/>
              <a:prstDash val="solid"/>
              <a:miter/>
            </a:ln>
            <a:effectLst>
              <a:softEdge rad="165100"/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C4A01DF7-9D80-569E-BE18-1599BC147586}"/>
                </a:ext>
              </a:extLst>
            </p:cNvPr>
            <p:cNvSpPr/>
            <p:nvPr/>
          </p:nvSpPr>
          <p:spPr>
            <a:xfrm>
              <a:off x="3141975" y="1721789"/>
              <a:ext cx="2856912" cy="988073"/>
            </a:xfrm>
            <a:custGeom>
              <a:avLst/>
              <a:gdLst>
                <a:gd name="connsiteX0" fmla="*/ 4427792 w 4904422"/>
                <a:gd name="connsiteY0" fmla="*/ 0 h 1696212"/>
                <a:gd name="connsiteX1" fmla="*/ 476441 w 4904422"/>
                <a:gd name="connsiteY1" fmla="*/ 0 h 1696212"/>
                <a:gd name="connsiteX2" fmla="*/ 364236 w 4904422"/>
                <a:gd name="connsiteY2" fmla="*/ 70199 h 1696212"/>
                <a:gd name="connsiteX3" fmla="*/ 12573 w 4904422"/>
                <a:gd name="connsiteY3" fmla="*/ 793528 h 1696212"/>
                <a:gd name="connsiteX4" fmla="*/ 12573 w 4904422"/>
                <a:gd name="connsiteY4" fmla="*/ 902589 h 1696212"/>
                <a:gd name="connsiteX5" fmla="*/ 364331 w 4904422"/>
                <a:gd name="connsiteY5" fmla="*/ 1626013 h 1696212"/>
                <a:gd name="connsiteX6" fmla="*/ 476536 w 4904422"/>
                <a:gd name="connsiteY6" fmla="*/ 1696212 h 1696212"/>
                <a:gd name="connsiteX7" fmla="*/ 4427887 w 4904422"/>
                <a:gd name="connsiteY7" fmla="*/ 1696212 h 1696212"/>
                <a:gd name="connsiteX8" fmla="*/ 4540091 w 4904422"/>
                <a:gd name="connsiteY8" fmla="*/ 1626013 h 1696212"/>
                <a:gd name="connsiteX9" fmla="*/ 4891850 w 4904422"/>
                <a:gd name="connsiteY9" fmla="*/ 902589 h 1696212"/>
                <a:gd name="connsiteX10" fmla="*/ 4891850 w 4904422"/>
                <a:gd name="connsiteY10" fmla="*/ 793528 h 1696212"/>
                <a:gd name="connsiteX11" fmla="*/ 4539996 w 4904422"/>
                <a:gd name="connsiteY11" fmla="*/ 70199 h 1696212"/>
                <a:gd name="connsiteX12" fmla="*/ 4427792 w 4904422"/>
                <a:gd name="connsiteY12" fmla="*/ 0 h 169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04422" h="1696212">
                  <a:moveTo>
                    <a:pt x="4427792" y="0"/>
                  </a:moveTo>
                  <a:lnTo>
                    <a:pt x="476441" y="0"/>
                  </a:lnTo>
                  <a:cubicBezTo>
                    <a:pt x="428720" y="0"/>
                    <a:pt x="385191" y="27241"/>
                    <a:pt x="364236" y="70199"/>
                  </a:cubicBezTo>
                  <a:lnTo>
                    <a:pt x="12573" y="793528"/>
                  </a:lnTo>
                  <a:cubicBezTo>
                    <a:pt x="-4191" y="828008"/>
                    <a:pt x="-4191" y="868204"/>
                    <a:pt x="12573" y="902589"/>
                  </a:cubicBezTo>
                  <a:lnTo>
                    <a:pt x="364331" y="1626013"/>
                  </a:lnTo>
                  <a:cubicBezTo>
                    <a:pt x="385191" y="1668971"/>
                    <a:pt x="428720" y="1696212"/>
                    <a:pt x="476536" y="1696212"/>
                  </a:cubicBezTo>
                  <a:lnTo>
                    <a:pt x="4427887" y="1696212"/>
                  </a:lnTo>
                  <a:cubicBezTo>
                    <a:pt x="4475607" y="1696212"/>
                    <a:pt x="4519137" y="1668971"/>
                    <a:pt x="4540091" y="1626013"/>
                  </a:cubicBezTo>
                  <a:lnTo>
                    <a:pt x="4891850" y="902589"/>
                  </a:lnTo>
                  <a:cubicBezTo>
                    <a:pt x="4908614" y="868109"/>
                    <a:pt x="4908614" y="827913"/>
                    <a:pt x="4891850" y="793528"/>
                  </a:cubicBezTo>
                  <a:lnTo>
                    <a:pt x="4539996" y="70199"/>
                  </a:lnTo>
                  <a:cubicBezTo>
                    <a:pt x="4519137" y="27241"/>
                    <a:pt x="4475607" y="0"/>
                    <a:pt x="4427792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9050" cap="flat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505" name="Group 504">
              <a:extLst>
                <a:ext uri="{FF2B5EF4-FFF2-40B4-BE49-F238E27FC236}">
                  <a16:creationId xmlns:a16="http://schemas.microsoft.com/office/drawing/2014/main" id="{81250F50-C766-2E2B-C709-6F462CC95729}"/>
                </a:ext>
              </a:extLst>
            </p:cNvPr>
            <p:cNvGrpSpPr/>
            <p:nvPr/>
          </p:nvGrpSpPr>
          <p:grpSpPr>
            <a:xfrm>
              <a:off x="3124410" y="1484784"/>
              <a:ext cx="1314672" cy="548935"/>
              <a:chOff x="776623" y="4488139"/>
              <a:chExt cx="1314672" cy="548935"/>
            </a:xfrm>
          </p:grpSpPr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5264878E-471E-6E00-F0D1-F8C0857248EF}"/>
                  </a:ext>
                </a:extLst>
              </p:cNvPr>
              <p:cNvSpPr/>
              <p:nvPr/>
            </p:nvSpPr>
            <p:spPr>
              <a:xfrm>
                <a:off x="776623" y="4582392"/>
                <a:ext cx="1314672" cy="454682"/>
              </a:xfrm>
              <a:custGeom>
                <a:avLst/>
                <a:gdLst>
                  <a:gd name="connsiteX0" fmla="*/ 4427792 w 4904422"/>
                  <a:gd name="connsiteY0" fmla="*/ 0 h 1696212"/>
                  <a:gd name="connsiteX1" fmla="*/ 476441 w 4904422"/>
                  <a:gd name="connsiteY1" fmla="*/ 0 h 1696212"/>
                  <a:gd name="connsiteX2" fmla="*/ 364236 w 4904422"/>
                  <a:gd name="connsiteY2" fmla="*/ 70199 h 1696212"/>
                  <a:gd name="connsiteX3" fmla="*/ 12573 w 4904422"/>
                  <a:gd name="connsiteY3" fmla="*/ 793528 h 1696212"/>
                  <a:gd name="connsiteX4" fmla="*/ 12573 w 4904422"/>
                  <a:gd name="connsiteY4" fmla="*/ 902589 h 1696212"/>
                  <a:gd name="connsiteX5" fmla="*/ 364331 w 4904422"/>
                  <a:gd name="connsiteY5" fmla="*/ 1626013 h 1696212"/>
                  <a:gd name="connsiteX6" fmla="*/ 476536 w 4904422"/>
                  <a:gd name="connsiteY6" fmla="*/ 1696212 h 1696212"/>
                  <a:gd name="connsiteX7" fmla="*/ 4427887 w 4904422"/>
                  <a:gd name="connsiteY7" fmla="*/ 1696212 h 1696212"/>
                  <a:gd name="connsiteX8" fmla="*/ 4540091 w 4904422"/>
                  <a:gd name="connsiteY8" fmla="*/ 1626013 h 1696212"/>
                  <a:gd name="connsiteX9" fmla="*/ 4891850 w 4904422"/>
                  <a:gd name="connsiteY9" fmla="*/ 902589 h 1696212"/>
                  <a:gd name="connsiteX10" fmla="*/ 4891850 w 4904422"/>
                  <a:gd name="connsiteY10" fmla="*/ 793528 h 1696212"/>
                  <a:gd name="connsiteX11" fmla="*/ 4539996 w 4904422"/>
                  <a:gd name="connsiteY11" fmla="*/ 70199 h 1696212"/>
                  <a:gd name="connsiteX12" fmla="*/ 4427792 w 4904422"/>
                  <a:gd name="connsiteY12" fmla="*/ 0 h 1696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04422" h="1696212">
                    <a:moveTo>
                      <a:pt x="4427792" y="0"/>
                    </a:moveTo>
                    <a:lnTo>
                      <a:pt x="476441" y="0"/>
                    </a:lnTo>
                    <a:cubicBezTo>
                      <a:pt x="428720" y="0"/>
                      <a:pt x="385191" y="27241"/>
                      <a:pt x="364236" y="70199"/>
                    </a:cubicBezTo>
                    <a:lnTo>
                      <a:pt x="12573" y="793528"/>
                    </a:lnTo>
                    <a:cubicBezTo>
                      <a:pt x="-4191" y="828008"/>
                      <a:pt x="-4191" y="868204"/>
                      <a:pt x="12573" y="902589"/>
                    </a:cubicBezTo>
                    <a:lnTo>
                      <a:pt x="364331" y="1626013"/>
                    </a:lnTo>
                    <a:cubicBezTo>
                      <a:pt x="385191" y="1668971"/>
                      <a:pt x="428720" y="1696212"/>
                      <a:pt x="476536" y="1696212"/>
                    </a:cubicBezTo>
                    <a:lnTo>
                      <a:pt x="4427887" y="1696212"/>
                    </a:lnTo>
                    <a:cubicBezTo>
                      <a:pt x="4475607" y="1696212"/>
                      <a:pt x="4519137" y="1668971"/>
                      <a:pt x="4540091" y="1626013"/>
                    </a:cubicBezTo>
                    <a:lnTo>
                      <a:pt x="4891850" y="902589"/>
                    </a:lnTo>
                    <a:cubicBezTo>
                      <a:pt x="4908614" y="868109"/>
                      <a:pt x="4908614" y="827913"/>
                      <a:pt x="4891850" y="793528"/>
                    </a:cubicBezTo>
                    <a:lnTo>
                      <a:pt x="4539996" y="70199"/>
                    </a:lnTo>
                    <a:cubicBezTo>
                      <a:pt x="4519137" y="27241"/>
                      <a:pt x="4475607" y="0"/>
                      <a:pt x="4427792" y="0"/>
                    </a:cubicBezTo>
                    <a:close/>
                  </a:path>
                </a:pathLst>
              </a:custGeom>
              <a:solidFill>
                <a:schemeClr val="tx1">
                  <a:alpha val="49000"/>
                </a:schemeClr>
              </a:solidFill>
              <a:ln w="9525" cap="flat">
                <a:noFill/>
                <a:prstDash val="solid"/>
                <a:miter/>
              </a:ln>
              <a:effectLst>
                <a:softEdge rad="114300"/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F6893E8-D967-DEE6-73B8-F93AE3E47862}"/>
                  </a:ext>
                </a:extLst>
              </p:cNvPr>
              <p:cNvSpPr/>
              <p:nvPr/>
            </p:nvSpPr>
            <p:spPr>
              <a:xfrm>
                <a:off x="843175" y="4488139"/>
                <a:ext cx="1181568" cy="408649"/>
              </a:xfrm>
              <a:custGeom>
                <a:avLst/>
                <a:gdLst>
                  <a:gd name="connsiteX0" fmla="*/ 4427792 w 4904422"/>
                  <a:gd name="connsiteY0" fmla="*/ 0 h 1696212"/>
                  <a:gd name="connsiteX1" fmla="*/ 476441 w 4904422"/>
                  <a:gd name="connsiteY1" fmla="*/ 0 h 1696212"/>
                  <a:gd name="connsiteX2" fmla="*/ 364236 w 4904422"/>
                  <a:gd name="connsiteY2" fmla="*/ 70199 h 1696212"/>
                  <a:gd name="connsiteX3" fmla="*/ 12573 w 4904422"/>
                  <a:gd name="connsiteY3" fmla="*/ 793528 h 1696212"/>
                  <a:gd name="connsiteX4" fmla="*/ 12573 w 4904422"/>
                  <a:gd name="connsiteY4" fmla="*/ 902589 h 1696212"/>
                  <a:gd name="connsiteX5" fmla="*/ 364331 w 4904422"/>
                  <a:gd name="connsiteY5" fmla="*/ 1626013 h 1696212"/>
                  <a:gd name="connsiteX6" fmla="*/ 476536 w 4904422"/>
                  <a:gd name="connsiteY6" fmla="*/ 1696212 h 1696212"/>
                  <a:gd name="connsiteX7" fmla="*/ 4427887 w 4904422"/>
                  <a:gd name="connsiteY7" fmla="*/ 1696212 h 1696212"/>
                  <a:gd name="connsiteX8" fmla="*/ 4540091 w 4904422"/>
                  <a:gd name="connsiteY8" fmla="*/ 1626013 h 1696212"/>
                  <a:gd name="connsiteX9" fmla="*/ 4891850 w 4904422"/>
                  <a:gd name="connsiteY9" fmla="*/ 902589 h 1696212"/>
                  <a:gd name="connsiteX10" fmla="*/ 4891850 w 4904422"/>
                  <a:gd name="connsiteY10" fmla="*/ 793528 h 1696212"/>
                  <a:gd name="connsiteX11" fmla="*/ 4539996 w 4904422"/>
                  <a:gd name="connsiteY11" fmla="*/ 70199 h 1696212"/>
                  <a:gd name="connsiteX12" fmla="*/ 4427792 w 4904422"/>
                  <a:gd name="connsiteY12" fmla="*/ 0 h 1696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04422" h="1696212">
                    <a:moveTo>
                      <a:pt x="4427792" y="0"/>
                    </a:moveTo>
                    <a:lnTo>
                      <a:pt x="476441" y="0"/>
                    </a:lnTo>
                    <a:cubicBezTo>
                      <a:pt x="428720" y="0"/>
                      <a:pt x="385191" y="27241"/>
                      <a:pt x="364236" y="70199"/>
                    </a:cubicBezTo>
                    <a:lnTo>
                      <a:pt x="12573" y="793528"/>
                    </a:lnTo>
                    <a:cubicBezTo>
                      <a:pt x="-4191" y="828008"/>
                      <a:pt x="-4191" y="868204"/>
                      <a:pt x="12573" y="902589"/>
                    </a:cubicBezTo>
                    <a:lnTo>
                      <a:pt x="364331" y="1626013"/>
                    </a:lnTo>
                    <a:cubicBezTo>
                      <a:pt x="385191" y="1668971"/>
                      <a:pt x="428720" y="1696212"/>
                      <a:pt x="476536" y="1696212"/>
                    </a:cubicBezTo>
                    <a:lnTo>
                      <a:pt x="4427887" y="1696212"/>
                    </a:lnTo>
                    <a:cubicBezTo>
                      <a:pt x="4475607" y="1696212"/>
                      <a:pt x="4519137" y="1668971"/>
                      <a:pt x="4540091" y="1626013"/>
                    </a:cubicBezTo>
                    <a:lnTo>
                      <a:pt x="4891850" y="902589"/>
                    </a:lnTo>
                    <a:cubicBezTo>
                      <a:pt x="4908614" y="868109"/>
                      <a:pt x="4908614" y="827913"/>
                      <a:pt x="4891850" y="793528"/>
                    </a:cubicBezTo>
                    <a:lnTo>
                      <a:pt x="4539996" y="70199"/>
                    </a:lnTo>
                    <a:cubicBezTo>
                      <a:pt x="4519137" y="27241"/>
                      <a:pt x="4475607" y="0"/>
                      <a:pt x="44277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709" name="TextBox 708">
              <a:extLst>
                <a:ext uri="{FF2B5EF4-FFF2-40B4-BE49-F238E27FC236}">
                  <a16:creationId xmlns:a16="http://schemas.microsoft.com/office/drawing/2014/main" id="{0BB28B90-321E-E72E-2210-F81B222CFDD8}"/>
                </a:ext>
              </a:extLst>
            </p:cNvPr>
            <p:cNvSpPr txBox="1"/>
            <p:nvPr/>
          </p:nvSpPr>
          <p:spPr>
            <a:xfrm>
              <a:off x="4193190" y="2025798"/>
              <a:ext cx="1402286" cy="490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s-ES_tradnl" sz="1400" noProof="1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Variables numéricas</a:t>
              </a:r>
            </a:p>
          </p:txBody>
        </p:sp>
        <p:sp>
          <p:nvSpPr>
            <p:cNvPr id="718" name="TextBox 717">
              <a:extLst>
                <a:ext uri="{FF2B5EF4-FFF2-40B4-BE49-F238E27FC236}">
                  <a16:creationId xmlns:a16="http://schemas.microsoft.com/office/drawing/2014/main" id="{660111A4-0053-BA80-49B4-052C3FEAE161}"/>
                </a:ext>
              </a:extLst>
            </p:cNvPr>
            <p:cNvSpPr txBox="1"/>
            <p:nvPr/>
          </p:nvSpPr>
          <p:spPr>
            <a:xfrm>
              <a:off x="3348593" y="1541193"/>
              <a:ext cx="910316" cy="3087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Comp 01</a:t>
              </a:r>
            </a:p>
          </p:txBody>
        </p:sp>
        <p:pic>
          <p:nvPicPr>
            <p:cNvPr id="726" name="Graphic 725" descr="Gears outline">
              <a:extLst>
                <a:ext uri="{FF2B5EF4-FFF2-40B4-BE49-F238E27FC236}">
                  <a16:creationId xmlns:a16="http://schemas.microsoft.com/office/drawing/2014/main" id="{73B46198-541B-3604-D8A1-D57B68DD5C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79721" y="1973589"/>
              <a:ext cx="594568" cy="594568"/>
            </a:xfrm>
            <a:prstGeom prst="rect">
              <a:avLst/>
            </a:prstGeom>
          </p:spPr>
        </p:pic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13EB21AA-2516-7DED-CD30-0AE14DCC76CA}"/>
              </a:ext>
            </a:extLst>
          </p:cNvPr>
          <p:cNvGrpSpPr/>
          <p:nvPr/>
        </p:nvGrpSpPr>
        <p:grpSpPr>
          <a:xfrm>
            <a:off x="2213025" y="3168231"/>
            <a:ext cx="9915663" cy="1841964"/>
            <a:chOff x="2213025" y="3168231"/>
            <a:chExt cx="9915663" cy="1841964"/>
          </a:xfrm>
        </p:grpSpPr>
        <p:cxnSp>
          <p:nvCxnSpPr>
            <p:cNvPr id="106" name="Straight Connector 399">
              <a:extLst>
                <a:ext uri="{FF2B5EF4-FFF2-40B4-BE49-F238E27FC236}">
                  <a16:creationId xmlns:a16="http://schemas.microsoft.com/office/drawing/2014/main" id="{3B8A7A07-6A3F-000F-573E-45AB4DEB09FF}"/>
                </a:ext>
              </a:extLst>
            </p:cNvPr>
            <p:cNvCxnSpPr>
              <a:cxnSpLocks/>
            </p:cNvCxnSpPr>
            <p:nvPr/>
          </p:nvCxnSpPr>
          <p:spPr>
            <a:xfrm>
              <a:off x="8107726" y="4652217"/>
              <a:ext cx="0" cy="357978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oup 397">
              <a:extLst>
                <a:ext uri="{FF2B5EF4-FFF2-40B4-BE49-F238E27FC236}">
                  <a16:creationId xmlns:a16="http://schemas.microsoft.com/office/drawing/2014/main" id="{756D6532-2EDC-FB9E-309E-43B2A9BACE2C}"/>
                </a:ext>
              </a:extLst>
            </p:cNvPr>
            <p:cNvGrpSpPr/>
            <p:nvPr/>
          </p:nvGrpSpPr>
          <p:grpSpPr>
            <a:xfrm>
              <a:off x="7836422" y="4297980"/>
              <a:ext cx="542611" cy="542611"/>
              <a:chOff x="2211049" y="2602523"/>
              <a:chExt cx="542611" cy="542611"/>
            </a:xfrm>
          </p:grpSpPr>
          <p:sp>
            <p:nvSpPr>
              <p:cNvPr id="109" name="Oval 396">
                <a:extLst>
                  <a:ext uri="{FF2B5EF4-FFF2-40B4-BE49-F238E27FC236}">
                    <a16:creationId xmlns:a16="http://schemas.microsoft.com/office/drawing/2014/main" id="{DF5640E6-C4C5-5603-9B41-E74B673D9DAC}"/>
                  </a:ext>
                </a:extLst>
              </p:cNvPr>
              <p:cNvSpPr/>
              <p:nvPr/>
            </p:nvSpPr>
            <p:spPr>
              <a:xfrm>
                <a:off x="2211049" y="2602523"/>
                <a:ext cx="542611" cy="542611"/>
              </a:xfrm>
              <a:prstGeom prst="ellipse">
                <a:avLst/>
              </a:prstGeom>
              <a:solidFill>
                <a:schemeClr val="tx1">
                  <a:alpha val="25000"/>
                </a:schemeClr>
              </a:solidFill>
              <a:ln>
                <a:noFill/>
              </a:ln>
              <a:effectLst>
                <a:softEdge rad="762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0" name="Oval 395">
                <a:extLst>
                  <a:ext uri="{FF2B5EF4-FFF2-40B4-BE49-F238E27FC236}">
                    <a16:creationId xmlns:a16="http://schemas.microsoft.com/office/drawing/2014/main" id="{929120AF-1AC7-7167-8E77-FC0A74FFF909}"/>
                  </a:ext>
                </a:extLst>
              </p:cNvPr>
              <p:cNvSpPr/>
              <p:nvPr/>
            </p:nvSpPr>
            <p:spPr>
              <a:xfrm>
                <a:off x="2291727" y="2623031"/>
                <a:ext cx="381134" cy="38113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CuadroTexto 501">
                  <a:extLst>
                    <a:ext uri="{FF2B5EF4-FFF2-40B4-BE49-F238E27FC236}">
                      <a16:creationId xmlns:a16="http://schemas.microsoft.com/office/drawing/2014/main" id="{C0C9BBF9-0EEC-344A-003C-54FD88593C06}"/>
                    </a:ext>
                  </a:extLst>
                </p:cNvPr>
                <p:cNvSpPr txBox="1"/>
                <p:nvPr/>
              </p:nvSpPr>
              <p:spPr>
                <a:xfrm>
                  <a:off x="2213025" y="3242303"/>
                  <a:ext cx="9915663" cy="15651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s-EC" sz="32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s-EC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s-EC" sz="320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sSub>
                                  <m:sSub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ctrlPr>
                                  <a:rPr lang="es-EC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3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3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sub>
                                      <m:sup/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sz="3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n-US" sz="3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3200" b="0" i="1" smtClean="0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a:rPr lang="en-US" sz="3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sup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sz="3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sz="32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32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32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𝑖𝑗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sz="3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sz="32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acc>
                                                          <m:accPr>
                                                            <m:chr m:val="̅"/>
                                                            <m:ctrlPr>
                                                              <a:rPr lang="en-US" sz="32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accPr>
                                                          <m:e>
                                                            <m:r>
                                                              <a:rPr lang="en-US" sz="32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𝑥</m:t>
                                                            </m:r>
                                                          </m:e>
                                                        </m:acc>
                                                      </m:e>
                                                      <m:sub>
                                                        <m:r>
                                                          <a:rPr lang="en-US" sz="32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𝑘𝑗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en-US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nary>
                                      </m:e>
                                    </m:nary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3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3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3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3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sub>
                                      <m:sup/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sz="3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n-US" sz="32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3200" i="1"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en-US" sz="3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r>
                                              <a:rPr lang="en-US" sz="32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  <m:sup>
                                            <m:r>
                                              <a:rPr lang="en-US" sz="3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p>
                                          <m:e>
                                            <m:r>
                                              <a:rPr lang="en-US" sz="32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32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3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3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𝑖𝑗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32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sz="3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sz="32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sz="32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𝑘𝑗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nary>
                                      </m:e>
                                    </m:nary>
                                  </m:e>
                                </m:d>
                              </m:e>
                            </m:nary>
                          </m:e>
                        </m:func>
                      </m:oMath>
                    </m:oMathPara>
                  </a14:m>
                  <a:endParaRPr lang="es-EC" sz="3200" dirty="0"/>
                </a:p>
              </p:txBody>
            </p:sp>
          </mc:Choice>
          <mc:Fallback xmlns="">
            <p:sp>
              <p:nvSpPr>
                <p:cNvPr id="502" name="CuadroTexto 501">
                  <a:extLst>
                    <a:ext uri="{FF2B5EF4-FFF2-40B4-BE49-F238E27FC236}">
                      <a16:creationId xmlns:a16="http://schemas.microsoft.com/office/drawing/2014/main" id="{C0C9BBF9-0EEC-344A-003C-54FD88593C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3025" y="3242303"/>
                  <a:ext cx="9915663" cy="1565172"/>
                </a:xfrm>
                <a:prstGeom prst="rect">
                  <a:avLst/>
                </a:prstGeom>
                <a:blipFill>
                  <a:blip r:embed="rId6"/>
                  <a:stretch>
                    <a:fillRect l="-3197" t="-96774" b="-149194"/>
                  </a:stretch>
                </a:blipFill>
              </p:spPr>
              <p:txBody>
                <a:bodyPr/>
                <a:lstStyle/>
                <a:p>
                  <a:r>
                    <a:rPr lang="es-EC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Corchete izquierdo 101">
              <a:extLst>
                <a:ext uri="{FF2B5EF4-FFF2-40B4-BE49-F238E27FC236}">
                  <a16:creationId xmlns:a16="http://schemas.microsoft.com/office/drawing/2014/main" id="{E598C6C1-980A-29C9-645F-80DA27CE429F}"/>
                </a:ext>
              </a:extLst>
            </p:cNvPr>
            <p:cNvSpPr/>
            <p:nvPr/>
          </p:nvSpPr>
          <p:spPr>
            <a:xfrm rot="5400000">
              <a:off x="5578899" y="1860706"/>
              <a:ext cx="292660" cy="2907710"/>
            </a:xfrm>
            <a:prstGeom prst="leftBrac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05" name="Corchete izquierdo 104">
              <a:extLst>
                <a:ext uri="{FF2B5EF4-FFF2-40B4-BE49-F238E27FC236}">
                  <a16:creationId xmlns:a16="http://schemas.microsoft.com/office/drawing/2014/main" id="{E7D37286-7B76-449E-1078-2FD0574A09B3}"/>
                </a:ext>
              </a:extLst>
            </p:cNvPr>
            <p:cNvSpPr/>
            <p:nvPr/>
          </p:nvSpPr>
          <p:spPr>
            <a:xfrm rot="5400000">
              <a:off x="9821172" y="1860706"/>
              <a:ext cx="292660" cy="2907710"/>
            </a:xfrm>
            <a:prstGeom prst="leftBrac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sp>
        <p:nvSpPr>
          <p:cNvPr id="114" name="Freeform: Shape 18">
            <a:extLst>
              <a:ext uri="{FF2B5EF4-FFF2-40B4-BE49-F238E27FC236}">
                <a16:creationId xmlns:a16="http://schemas.microsoft.com/office/drawing/2014/main" id="{C1B25A9F-3C9D-D052-3EDB-E56071580ED6}"/>
              </a:ext>
            </a:extLst>
          </p:cNvPr>
          <p:cNvSpPr/>
          <p:nvPr/>
        </p:nvSpPr>
        <p:spPr>
          <a:xfrm>
            <a:off x="-714365" y="965854"/>
            <a:ext cx="4242371" cy="3629596"/>
          </a:xfrm>
          <a:custGeom>
            <a:avLst/>
            <a:gdLst>
              <a:gd name="connsiteX0" fmla="*/ 2121154 w 4242371"/>
              <a:gd name="connsiteY0" fmla="*/ 3629597 h 3629596"/>
              <a:gd name="connsiteX1" fmla="*/ 4242372 w 4242371"/>
              <a:gd name="connsiteY1" fmla="*/ 0 h 3629596"/>
              <a:gd name="connsiteX2" fmla="*/ 0 w 4242371"/>
              <a:gd name="connsiteY2" fmla="*/ 0 h 3629596"/>
              <a:gd name="connsiteX3" fmla="*/ 2121154 w 4242371"/>
              <a:gd name="connsiteY3" fmla="*/ 3629597 h 3629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2371" h="3629596">
                <a:moveTo>
                  <a:pt x="2121154" y="3629597"/>
                </a:moveTo>
                <a:lnTo>
                  <a:pt x="4242372" y="0"/>
                </a:lnTo>
                <a:lnTo>
                  <a:pt x="0" y="0"/>
                </a:lnTo>
                <a:lnTo>
                  <a:pt x="2121154" y="362959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5" name="Freeform: Shape 19">
            <a:extLst>
              <a:ext uri="{FF2B5EF4-FFF2-40B4-BE49-F238E27FC236}">
                <a16:creationId xmlns:a16="http://schemas.microsoft.com/office/drawing/2014/main" id="{7B274DA7-C1C8-508F-2BA7-387F11956115}"/>
              </a:ext>
            </a:extLst>
          </p:cNvPr>
          <p:cNvSpPr/>
          <p:nvPr/>
        </p:nvSpPr>
        <p:spPr>
          <a:xfrm>
            <a:off x="-795164" y="3255791"/>
            <a:ext cx="2215433" cy="1800860"/>
          </a:xfrm>
          <a:custGeom>
            <a:avLst/>
            <a:gdLst>
              <a:gd name="connsiteX0" fmla="*/ 782892 w 1565783"/>
              <a:gd name="connsiteY0" fmla="*/ 0 h 1339659"/>
              <a:gd name="connsiteX1" fmla="*/ 0 w 1565783"/>
              <a:gd name="connsiteY1" fmla="*/ 1339660 h 1339659"/>
              <a:gd name="connsiteX2" fmla="*/ 1565783 w 1565783"/>
              <a:gd name="connsiteY2" fmla="*/ 1339660 h 1339659"/>
              <a:gd name="connsiteX3" fmla="*/ 782892 w 1565783"/>
              <a:gd name="connsiteY3" fmla="*/ 0 h 133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5783" h="1339659">
                <a:moveTo>
                  <a:pt x="782892" y="0"/>
                </a:moveTo>
                <a:lnTo>
                  <a:pt x="0" y="1339660"/>
                </a:lnTo>
                <a:lnTo>
                  <a:pt x="1565783" y="1339660"/>
                </a:lnTo>
                <a:lnTo>
                  <a:pt x="782892" y="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8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00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300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3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3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" grpId="0"/>
      <p:bldP spid="714" grpId="0"/>
      <p:bldP spid="715" grpId="0"/>
      <p:bldP spid="716" grpId="0"/>
      <p:bldP spid="114" grpId="0" animBg="1"/>
      <p:bldP spid="1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BED422-2289-20E7-7520-8C88B716FAD4}"/>
              </a:ext>
            </a:extLst>
          </p:cNvPr>
          <p:cNvSpPr/>
          <p:nvPr/>
        </p:nvSpPr>
        <p:spPr>
          <a:xfrm>
            <a:off x="0" y="0"/>
            <a:ext cx="12192000" cy="2311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FC39F5-D862-3397-0225-CC6EA0435AD8}"/>
              </a:ext>
            </a:extLst>
          </p:cNvPr>
          <p:cNvSpPr/>
          <p:nvPr/>
        </p:nvSpPr>
        <p:spPr>
          <a:xfrm>
            <a:off x="11887200" y="0"/>
            <a:ext cx="304800" cy="231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EE581-8715-1048-AB31-D32ACBFA2F48}"/>
              </a:ext>
            </a:extLst>
          </p:cNvPr>
          <p:cNvSpPr txBox="1"/>
          <p:nvPr/>
        </p:nvSpPr>
        <p:spPr>
          <a:xfrm>
            <a:off x="914400" y="1155699"/>
            <a:ext cx="5181600" cy="9028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5867" b="1" noProof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Componentes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FB79018-05E2-E245-98FD-8F8B99DFBDCC}"/>
              </a:ext>
            </a:extLst>
          </p:cNvPr>
          <p:cNvCxnSpPr>
            <a:cxnSpLocks/>
          </p:cNvCxnSpPr>
          <p:nvPr/>
        </p:nvCxnSpPr>
        <p:spPr>
          <a:xfrm>
            <a:off x="1161926" y="3029989"/>
            <a:ext cx="710059" cy="0"/>
          </a:xfrm>
          <a:prstGeom prst="line">
            <a:avLst/>
          </a:prstGeom>
          <a:ln w="1270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42F8577-30D2-B040-93E0-CF6CCC37458D}"/>
              </a:ext>
            </a:extLst>
          </p:cNvPr>
          <p:cNvCxnSpPr>
            <a:cxnSpLocks/>
          </p:cNvCxnSpPr>
          <p:nvPr/>
        </p:nvCxnSpPr>
        <p:spPr>
          <a:xfrm>
            <a:off x="7441532" y="3028250"/>
            <a:ext cx="624782" cy="0"/>
          </a:xfrm>
          <a:prstGeom prst="line">
            <a:avLst/>
          </a:prstGeom>
          <a:ln w="1270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FBEE4DFA-CA41-2243-A14F-CC68BED05C07}"/>
              </a:ext>
            </a:extLst>
          </p:cNvPr>
          <p:cNvSpPr/>
          <p:nvPr/>
        </p:nvSpPr>
        <p:spPr>
          <a:xfrm>
            <a:off x="527121" y="2644943"/>
            <a:ext cx="750985" cy="750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4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9E11197-2C68-C945-A39A-7EB3F8680E53}"/>
              </a:ext>
            </a:extLst>
          </p:cNvPr>
          <p:cNvSpPr/>
          <p:nvPr/>
        </p:nvSpPr>
        <p:spPr>
          <a:xfrm>
            <a:off x="6690547" y="2644943"/>
            <a:ext cx="750985" cy="750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4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D4D78BB-25D0-FE47-97E1-947667B389F6}"/>
              </a:ext>
            </a:extLst>
          </p:cNvPr>
          <p:cNvSpPr txBox="1"/>
          <p:nvPr/>
        </p:nvSpPr>
        <p:spPr>
          <a:xfrm>
            <a:off x="666174" y="2814972"/>
            <a:ext cx="477884" cy="43086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01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36FC80-58B0-8A4E-B07E-31589FF64FC9}"/>
              </a:ext>
            </a:extLst>
          </p:cNvPr>
          <p:cNvSpPr txBox="1"/>
          <p:nvPr/>
        </p:nvSpPr>
        <p:spPr>
          <a:xfrm>
            <a:off x="6825965" y="2814972"/>
            <a:ext cx="477884" cy="43086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06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D44D1C-B3BB-0349-A6C7-95FB4BCEE400}"/>
              </a:ext>
            </a:extLst>
          </p:cNvPr>
          <p:cNvSpPr txBox="1"/>
          <p:nvPr/>
        </p:nvSpPr>
        <p:spPr>
          <a:xfrm flipH="1">
            <a:off x="2041679" y="2717801"/>
            <a:ext cx="2189823" cy="6339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s-ES_tradnl" sz="1867" kern="0" noProof="1"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Suma de cuadrados de los componentes</a:t>
            </a:r>
            <a:endParaRPr lang="es-ES_tradnl" sz="1867" noProof="1"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89CC34C-083B-1B4C-8704-C4FC207DFD08}"/>
              </a:ext>
            </a:extLst>
          </p:cNvPr>
          <p:cNvSpPr txBox="1"/>
          <p:nvPr/>
        </p:nvSpPr>
        <p:spPr>
          <a:xfrm flipH="1">
            <a:off x="8203996" y="2717801"/>
            <a:ext cx="2322490" cy="6339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s-ES_tradnl" sz="1867" kern="0" noProof="1"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Coincidencias simples en cualitativas</a:t>
            </a:r>
            <a:endParaRPr lang="es-ES_tradnl" sz="1867" noProof="1"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A4F33C-F6B0-6085-069E-9AF5019CC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21" y="3214274"/>
            <a:ext cx="5336185" cy="3923665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E65728F-7093-64AA-DB88-1568CFC5C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585048"/>
              </p:ext>
            </p:extLst>
          </p:nvPr>
        </p:nvGraphicFramePr>
        <p:xfrm>
          <a:off x="6244103" y="3734741"/>
          <a:ext cx="5643097" cy="12668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0954">
                  <a:extLst>
                    <a:ext uri="{9D8B030D-6E8A-4147-A177-3AD203B41FA5}">
                      <a16:colId xmlns:a16="http://schemas.microsoft.com/office/drawing/2014/main" val="1971941077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191033929"/>
                    </a:ext>
                  </a:extLst>
                </a:gridCol>
                <a:gridCol w="1632873">
                  <a:extLst>
                    <a:ext uri="{9D8B030D-6E8A-4147-A177-3AD203B41FA5}">
                      <a16:colId xmlns:a16="http://schemas.microsoft.com/office/drawing/2014/main" val="19140581"/>
                    </a:ext>
                  </a:extLst>
                </a:gridCol>
                <a:gridCol w="731513">
                  <a:extLst>
                    <a:ext uri="{9D8B030D-6E8A-4147-A177-3AD203B41FA5}">
                      <a16:colId xmlns:a16="http://schemas.microsoft.com/office/drawing/2014/main" val="2222088841"/>
                    </a:ext>
                  </a:extLst>
                </a:gridCol>
                <a:gridCol w="836014">
                  <a:extLst>
                    <a:ext uri="{9D8B030D-6E8A-4147-A177-3AD203B41FA5}">
                      <a16:colId xmlns:a16="http://schemas.microsoft.com/office/drawing/2014/main" val="3778884319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1" u="none" strike="noStrike" dirty="0">
                          <a:effectLst/>
                        </a:rPr>
                        <a:t>Variable</a:t>
                      </a:r>
                      <a:endParaRPr lang="es-EC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1" u="none" strike="noStrike" dirty="0">
                          <a:effectLst/>
                        </a:rPr>
                        <a:t>Hogar A</a:t>
                      </a:r>
                      <a:endParaRPr lang="es-EC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1" u="none" strike="noStrike" dirty="0">
                          <a:effectLst/>
                        </a:rPr>
                        <a:t>Centroide (moda del clúster)</a:t>
                      </a:r>
                      <a:endParaRPr lang="es-EC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1" u="none" strike="noStrike" dirty="0">
                          <a:effectLst/>
                        </a:rPr>
                        <a:t>¿Coinciden?</a:t>
                      </a:r>
                      <a:endParaRPr lang="es-EC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1000" b="1" u="none" strike="noStrike" dirty="0">
                          <a:effectLst/>
                        </a:rPr>
                        <a:t>δ (</a:t>
                      </a:r>
                      <a:r>
                        <a:rPr lang="es-EC" sz="1000" b="1" u="none" strike="noStrike" dirty="0">
                          <a:effectLst/>
                        </a:rPr>
                        <a:t>desacuerdo)</a:t>
                      </a:r>
                      <a:endParaRPr lang="es-EC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61508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Combustible para cocinar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Leña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Gas GLP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No</a:t>
                      </a:r>
                      <a:endParaRPr lang="es-EC" sz="1000" b="1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100159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Tipo de alumbrado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Electricidad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Electricidad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Sí</a:t>
                      </a:r>
                      <a:endParaRPr lang="es-EC" sz="1000" b="1" i="0" u="none" strike="noStrike">
                        <a:solidFill>
                          <a:srgbClr val="37562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0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886175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Área urbano/rural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Urbana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Urbana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Sí</a:t>
                      </a:r>
                      <a:endParaRPr lang="es-EC" sz="1000" b="1" i="0" u="none" strike="noStrike" dirty="0">
                        <a:solidFill>
                          <a:srgbClr val="37562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 dirty="0">
                          <a:effectLst/>
                        </a:rPr>
                        <a:t>0</a:t>
                      </a:r>
                      <a:endParaRPr lang="es-EC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9662888"/>
                  </a:ext>
                </a:extLst>
              </a:tr>
              <a:tr h="24765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1" u="none" strike="noStrike" dirty="0">
                          <a:effectLst/>
                        </a:rPr>
                        <a:t>Suma de desacuerdos categóricos  →  distancia simple total:</a:t>
                      </a:r>
                      <a:endParaRPr lang="es-EC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1" u="none" strike="noStrike" dirty="0">
                          <a:effectLst/>
                        </a:rPr>
                        <a:t>1</a:t>
                      </a:r>
                      <a:endParaRPr lang="es-EC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308960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5B0B0DD9-77F7-A9C2-45E4-5BD5181ED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905315"/>
              </p:ext>
            </p:extLst>
          </p:nvPr>
        </p:nvGraphicFramePr>
        <p:xfrm>
          <a:off x="6244102" y="5395569"/>
          <a:ext cx="5643098" cy="12668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0383">
                  <a:extLst>
                    <a:ext uri="{9D8B030D-6E8A-4147-A177-3AD203B41FA5}">
                      <a16:colId xmlns:a16="http://schemas.microsoft.com/office/drawing/2014/main" val="12089111"/>
                    </a:ext>
                  </a:extLst>
                </a:gridCol>
                <a:gridCol w="995841">
                  <a:extLst>
                    <a:ext uri="{9D8B030D-6E8A-4147-A177-3AD203B41FA5}">
                      <a16:colId xmlns:a16="http://schemas.microsoft.com/office/drawing/2014/main" val="2399199338"/>
                    </a:ext>
                  </a:extLst>
                </a:gridCol>
                <a:gridCol w="1217139">
                  <a:extLst>
                    <a:ext uri="{9D8B030D-6E8A-4147-A177-3AD203B41FA5}">
                      <a16:colId xmlns:a16="http://schemas.microsoft.com/office/drawing/2014/main" val="2983461130"/>
                    </a:ext>
                  </a:extLst>
                </a:gridCol>
                <a:gridCol w="774543">
                  <a:extLst>
                    <a:ext uri="{9D8B030D-6E8A-4147-A177-3AD203B41FA5}">
                      <a16:colId xmlns:a16="http://schemas.microsoft.com/office/drawing/2014/main" val="2029366717"/>
                    </a:ext>
                  </a:extLst>
                </a:gridCol>
                <a:gridCol w="885192">
                  <a:extLst>
                    <a:ext uri="{9D8B030D-6E8A-4147-A177-3AD203B41FA5}">
                      <a16:colId xmlns:a16="http://schemas.microsoft.com/office/drawing/2014/main" val="1203697599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Variable</a:t>
                      </a:r>
                      <a:endParaRPr lang="es-EC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Hogar A</a:t>
                      </a:r>
                      <a:endParaRPr lang="es-EC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Hogar B</a:t>
                      </a:r>
                      <a:endParaRPr lang="es-EC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¿Coinciden?</a:t>
                      </a:r>
                      <a:endParaRPr lang="es-EC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1000" u="none" strike="noStrike">
                          <a:effectLst/>
                        </a:rPr>
                        <a:t>δ (</a:t>
                      </a:r>
                      <a:r>
                        <a:rPr lang="es-EC" sz="1000" u="none" strike="noStrike">
                          <a:effectLst/>
                        </a:rPr>
                        <a:t>desacuerdo)</a:t>
                      </a:r>
                      <a:endParaRPr lang="es-EC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50085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Combustible para cocinar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Leña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Gas GLP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No</a:t>
                      </a:r>
                      <a:endParaRPr lang="es-EC" sz="1000" b="1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456673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Tipo de alumbrado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Vela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Electricidad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No</a:t>
                      </a:r>
                      <a:endParaRPr lang="es-EC" sz="1000" b="1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181404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Área urbano/rural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Rural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Urbana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No</a:t>
                      </a:r>
                      <a:endParaRPr lang="es-EC" sz="1000" b="1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u="none" strike="noStrike">
                          <a:effectLst/>
                        </a:rPr>
                        <a:t>1</a:t>
                      </a:r>
                      <a:endParaRPr lang="es-EC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76661857"/>
                  </a:ext>
                </a:extLst>
              </a:tr>
              <a:tr h="24765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000" b="1" u="none" strike="noStrike">
                          <a:effectLst/>
                        </a:rPr>
                        <a:t>Suma de desacuerdos categóricos  →  distancia simple </a:t>
                      </a:r>
                      <a:r>
                        <a:rPr lang="el-GR" sz="1000" b="1" u="none" strike="noStrike">
                          <a:effectLst/>
                        </a:rPr>
                        <a:t>δ </a:t>
                      </a:r>
                      <a:r>
                        <a:rPr lang="es-EC" sz="1000" b="1" u="none" strike="noStrike">
                          <a:effectLst/>
                        </a:rPr>
                        <a:t>total</a:t>
                      </a:r>
                      <a:endParaRPr lang="es-EC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000" b="1" u="none" strike="noStrike" dirty="0">
                          <a:effectLst/>
                        </a:rPr>
                        <a:t>3</a:t>
                      </a:r>
                      <a:endParaRPr lang="es-EC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2379873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1ED22FD7-D924-F1DD-3834-BD33F5E65558}"/>
              </a:ext>
            </a:extLst>
          </p:cNvPr>
          <p:cNvSpPr txBox="1"/>
          <p:nvPr/>
        </p:nvSpPr>
        <p:spPr>
          <a:xfrm>
            <a:off x="6171735" y="3461069"/>
            <a:ext cx="56430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100" dirty="0"/>
              <a:t>Supongamos que un centroide tiene el siguiente perfil categórico (las modas de su grupo):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0E2842E-EC39-129F-FF5F-8DB141BD0B04}"/>
              </a:ext>
            </a:extLst>
          </p:cNvPr>
          <p:cNvSpPr txBox="1"/>
          <p:nvPr/>
        </p:nvSpPr>
        <p:spPr>
          <a:xfrm>
            <a:off x="6171735" y="5133959"/>
            <a:ext cx="56430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100" dirty="0"/>
              <a:t>Y comparamos contra el Hogar A, cuyo perfil es:</a:t>
            </a:r>
          </a:p>
        </p:txBody>
      </p:sp>
    </p:spTree>
    <p:extLst>
      <p:ext uri="{BB962C8B-B14F-4D97-AF65-F5344CB8AC3E}">
        <p14:creationId xmlns:p14="http://schemas.microsoft.com/office/powerpoint/2010/main" val="214192684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11583-24CB-BBD3-A981-64AE16F11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453F1B-AB37-52C9-E42D-FC472E365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791" y="163287"/>
            <a:ext cx="5256212" cy="522125"/>
          </a:xfrm>
        </p:spPr>
        <p:txBody>
          <a:bodyPr/>
          <a:lstStyle/>
          <a:p>
            <a:r>
              <a:rPr lang="es-ES_tradnl" noProof="1"/>
              <a:t>Ajuste por escenarios</a:t>
            </a:r>
          </a:p>
        </p:txBody>
      </p:sp>
      <p:sp>
        <p:nvSpPr>
          <p:cNvPr id="32" name="Rectangle: Single Corner Rounded 31">
            <a:extLst>
              <a:ext uri="{FF2B5EF4-FFF2-40B4-BE49-F238E27FC236}">
                <a16:creationId xmlns:a16="http://schemas.microsoft.com/office/drawing/2014/main" id="{25743298-3B5A-D254-F6F6-4F8D7A54F0D5}"/>
              </a:ext>
            </a:extLst>
          </p:cNvPr>
          <p:cNvSpPr/>
          <p:nvPr/>
        </p:nvSpPr>
        <p:spPr>
          <a:xfrm rot="10800000">
            <a:off x="8055979" y="-1"/>
            <a:ext cx="4136019" cy="5564640"/>
          </a:xfrm>
          <a:prstGeom prst="round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latin typeface="Segoe UI" panose="020B0502040204020203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7F18C94-8B61-7A38-EF0E-9BDADE092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91" y="1159545"/>
            <a:ext cx="8196944" cy="268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AE54ABB-FC01-4583-C1EB-05A1E2D59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91" y="4085450"/>
            <a:ext cx="8196944" cy="268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9">
            <a:extLst>
              <a:ext uri="{FF2B5EF4-FFF2-40B4-BE49-F238E27FC236}">
                <a16:creationId xmlns:a16="http://schemas.microsoft.com/office/drawing/2014/main" id="{AB402094-099D-8C66-6927-8730CE5E9DFC}"/>
              </a:ext>
            </a:extLst>
          </p:cNvPr>
          <p:cNvSpPr txBox="1"/>
          <p:nvPr/>
        </p:nvSpPr>
        <p:spPr>
          <a:xfrm>
            <a:off x="316791" y="803809"/>
            <a:ext cx="7941683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s-EC" b="1" dirty="0"/>
              <a:t>Caso completo: punto de control para comparar los resultados originales</a:t>
            </a: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23AEEDE3-BF16-1670-0E87-F5C27D34C539}"/>
              </a:ext>
            </a:extLst>
          </p:cNvPr>
          <p:cNvSpPr txBox="1"/>
          <p:nvPr/>
        </p:nvSpPr>
        <p:spPr>
          <a:xfrm>
            <a:off x="316791" y="3853355"/>
            <a:ext cx="7941683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s-EC" b="1" dirty="0"/>
              <a:t>Caso de muestra por área y pobreza: sin gasto energético</a:t>
            </a: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6DEACC3-D9E4-C96D-C350-B262F2AB9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068000"/>
              </p:ext>
            </p:extLst>
          </p:nvPr>
        </p:nvGraphicFramePr>
        <p:xfrm>
          <a:off x="8901708" y="1620955"/>
          <a:ext cx="2973501" cy="97155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480093">
                  <a:extLst>
                    <a:ext uri="{9D8B030D-6E8A-4147-A177-3AD203B41FA5}">
                      <a16:colId xmlns:a16="http://schemas.microsoft.com/office/drawing/2014/main" val="350294754"/>
                    </a:ext>
                  </a:extLst>
                </a:gridCol>
                <a:gridCol w="1112254">
                  <a:extLst>
                    <a:ext uri="{9D8B030D-6E8A-4147-A177-3AD203B41FA5}">
                      <a16:colId xmlns:a16="http://schemas.microsoft.com/office/drawing/2014/main" val="905564299"/>
                    </a:ext>
                  </a:extLst>
                </a:gridCol>
                <a:gridCol w="1381154">
                  <a:extLst>
                    <a:ext uri="{9D8B030D-6E8A-4147-A177-3AD203B41FA5}">
                      <a16:colId xmlns:a16="http://schemas.microsoft.com/office/drawing/2014/main" val="246113797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K</a:t>
                      </a:r>
                      <a:endParaRPr lang="es-EC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 dirty="0">
                          <a:effectLst/>
                        </a:rPr>
                        <a:t>Costo (WSS)</a:t>
                      </a:r>
                      <a:endParaRPr lang="es-EC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 dirty="0">
                          <a:effectLst/>
                        </a:rPr>
                        <a:t>Índice de silueta</a:t>
                      </a:r>
                      <a:endParaRPr lang="es-EC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524579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137,989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 dirty="0">
                          <a:effectLst/>
                        </a:rPr>
                        <a:t>0,348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869483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3</a:t>
                      </a:r>
                      <a:endParaRPr lang="es-EC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 dirty="0">
                          <a:effectLst/>
                        </a:rPr>
                        <a:t>121,548</a:t>
                      </a:r>
                      <a:endParaRPr lang="es-EC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0,252</a:t>
                      </a:r>
                      <a:endParaRPr lang="es-EC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944363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4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 dirty="0">
                          <a:effectLst/>
                        </a:rPr>
                        <a:t>110,630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 dirty="0">
                          <a:effectLst/>
                        </a:rPr>
                        <a:t>0,1607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2871422"/>
                  </a:ext>
                </a:extLst>
              </a:tr>
            </a:tbl>
          </a:graphicData>
        </a:graphic>
      </p:graphicFrame>
      <p:sp>
        <p:nvSpPr>
          <p:cNvPr id="6" name="TextBox 9">
            <a:extLst>
              <a:ext uri="{FF2B5EF4-FFF2-40B4-BE49-F238E27FC236}">
                <a16:creationId xmlns:a16="http://schemas.microsoft.com/office/drawing/2014/main" id="{B1F35D47-5CBF-D1C0-6FB8-293CEC5E30A6}"/>
              </a:ext>
            </a:extLst>
          </p:cNvPr>
          <p:cNvSpPr txBox="1"/>
          <p:nvPr/>
        </p:nvSpPr>
        <p:spPr>
          <a:xfrm>
            <a:off x="8901708" y="1065139"/>
            <a:ext cx="2973501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s-EC" sz="1600" b="1" dirty="0">
                <a:solidFill>
                  <a:schemeClr val="bg1"/>
                </a:solidFill>
              </a:rPr>
              <a:t>Escenario sin ingresos: perfiles de consumo energético</a:t>
            </a:r>
            <a:endParaRPr lang="en-US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2D4084B4-184C-94B3-3094-4F807C99D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652152"/>
              </p:ext>
            </p:extLst>
          </p:nvPr>
        </p:nvGraphicFramePr>
        <p:xfrm>
          <a:off x="8901708" y="3486350"/>
          <a:ext cx="2973501" cy="1750695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279766">
                  <a:extLst>
                    <a:ext uri="{9D8B030D-6E8A-4147-A177-3AD203B41FA5}">
                      <a16:colId xmlns:a16="http://schemas.microsoft.com/office/drawing/2014/main" val="2926119374"/>
                    </a:ext>
                  </a:extLst>
                </a:gridCol>
                <a:gridCol w="2693735">
                  <a:extLst>
                    <a:ext uri="{9D8B030D-6E8A-4147-A177-3AD203B41FA5}">
                      <a16:colId xmlns:a16="http://schemas.microsoft.com/office/drawing/2014/main" val="64300184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K</a:t>
                      </a:r>
                      <a:endParaRPr lang="es-EC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Tamaño de los clústeres</a:t>
                      </a:r>
                      <a:endParaRPr lang="es-EC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480618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2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C0: 21,758 (70.1%) | C1: 9,274 (29.9%)</a:t>
                      </a:r>
                      <a:endParaRPr lang="es-EC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665109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3</a:t>
                      </a:r>
                      <a:endParaRPr lang="es-EC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C0: 15,421 (49.7%) | C1: 3,085 (9.9%) | C2: 12,526 (40.4%)</a:t>
                      </a:r>
                      <a:endParaRPr lang="es-EC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0733183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400" u="none" strike="noStrike" dirty="0">
                          <a:effectLst/>
                        </a:rPr>
                        <a:t>4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400" u="none" strike="noStrike" dirty="0">
                          <a:effectLst/>
                        </a:rPr>
                        <a:t>C0: 12,039 (38.8%) | C1: 2,429 (7.8%) | C2: 11,188 (36.1%) | C3: 5,376 (17.3%)</a:t>
                      </a:r>
                      <a:endParaRPr lang="es-EC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1647892"/>
                  </a:ext>
                </a:extLst>
              </a:tr>
            </a:tbl>
          </a:graphicData>
        </a:graphic>
      </p:graphicFrame>
      <p:sp>
        <p:nvSpPr>
          <p:cNvPr id="22" name="TextBox 9">
            <a:extLst>
              <a:ext uri="{FF2B5EF4-FFF2-40B4-BE49-F238E27FC236}">
                <a16:creationId xmlns:a16="http://schemas.microsoft.com/office/drawing/2014/main" id="{946BB36D-C9C7-1524-B02A-CD5BA4ADDD85}"/>
              </a:ext>
            </a:extLst>
          </p:cNvPr>
          <p:cNvSpPr txBox="1"/>
          <p:nvPr/>
        </p:nvSpPr>
        <p:spPr>
          <a:xfrm>
            <a:off x="8901708" y="2925989"/>
            <a:ext cx="2973501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s-EC" sz="1600" b="1" dirty="0">
                <a:solidFill>
                  <a:schemeClr val="bg1"/>
                </a:solidFill>
              </a:rPr>
              <a:t>Escenario sin ingresos: estructura de los clústeres</a:t>
            </a:r>
            <a:endParaRPr lang="en-US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294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2" grpId="0" animBg="1"/>
      <p:bldP spid="2" grpId="0"/>
      <p:bldP spid="3" grpId="0"/>
      <p:bldP spid="6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2">
            <a:extLst>
              <a:ext uri="{FF2B5EF4-FFF2-40B4-BE49-F238E27FC236}">
                <a16:creationId xmlns:a16="http://schemas.microsoft.com/office/drawing/2014/main" id="{C880D361-CE8E-A5AB-DEED-3F20BFE0EE81}"/>
              </a:ext>
            </a:extLst>
          </p:cNvPr>
          <p:cNvSpPr>
            <a:spLocks/>
          </p:cNvSpPr>
          <p:nvPr/>
        </p:nvSpPr>
        <p:spPr bwMode="auto">
          <a:xfrm>
            <a:off x="5101753" y="4228296"/>
            <a:ext cx="4510844" cy="4510844"/>
          </a:xfrm>
          <a:custGeom>
            <a:avLst/>
            <a:gdLst>
              <a:gd name="T0" fmla="*/ 165 w 357"/>
              <a:gd name="T1" fmla="*/ 349 h 357"/>
              <a:gd name="T2" fmla="*/ 8 w 357"/>
              <a:gd name="T3" fmla="*/ 192 h 357"/>
              <a:gd name="T4" fmla="*/ 8 w 357"/>
              <a:gd name="T5" fmla="*/ 164 h 357"/>
              <a:gd name="T6" fmla="*/ 165 w 357"/>
              <a:gd name="T7" fmla="*/ 7 h 357"/>
              <a:gd name="T8" fmla="*/ 193 w 357"/>
              <a:gd name="T9" fmla="*/ 7 h 357"/>
              <a:gd name="T10" fmla="*/ 350 w 357"/>
              <a:gd name="T11" fmla="*/ 164 h 357"/>
              <a:gd name="T12" fmla="*/ 350 w 357"/>
              <a:gd name="T13" fmla="*/ 192 h 357"/>
              <a:gd name="T14" fmla="*/ 193 w 357"/>
              <a:gd name="T15" fmla="*/ 349 h 357"/>
              <a:gd name="T16" fmla="*/ 165 w 357"/>
              <a:gd name="T17" fmla="*/ 349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7" h="357">
                <a:moveTo>
                  <a:pt x="165" y="349"/>
                </a:moveTo>
                <a:cubicBezTo>
                  <a:pt x="8" y="192"/>
                  <a:pt x="8" y="192"/>
                  <a:pt x="8" y="192"/>
                </a:cubicBezTo>
                <a:cubicBezTo>
                  <a:pt x="0" y="185"/>
                  <a:pt x="0" y="172"/>
                  <a:pt x="8" y="164"/>
                </a:cubicBezTo>
                <a:cubicBezTo>
                  <a:pt x="165" y="7"/>
                  <a:pt x="165" y="7"/>
                  <a:pt x="165" y="7"/>
                </a:cubicBezTo>
                <a:cubicBezTo>
                  <a:pt x="173" y="0"/>
                  <a:pt x="185" y="0"/>
                  <a:pt x="193" y="7"/>
                </a:cubicBezTo>
                <a:cubicBezTo>
                  <a:pt x="350" y="164"/>
                  <a:pt x="350" y="164"/>
                  <a:pt x="350" y="164"/>
                </a:cubicBezTo>
                <a:cubicBezTo>
                  <a:pt x="357" y="172"/>
                  <a:pt x="357" y="185"/>
                  <a:pt x="350" y="192"/>
                </a:cubicBezTo>
                <a:cubicBezTo>
                  <a:pt x="193" y="349"/>
                  <a:pt x="193" y="349"/>
                  <a:pt x="193" y="349"/>
                </a:cubicBezTo>
                <a:cubicBezTo>
                  <a:pt x="185" y="357"/>
                  <a:pt x="173" y="357"/>
                  <a:pt x="165" y="34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AFDEE8-3D6D-4DFA-F882-A118D33436BB}"/>
              </a:ext>
            </a:extLst>
          </p:cNvPr>
          <p:cNvSpPr/>
          <p:nvPr/>
        </p:nvSpPr>
        <p:spPr>
          <a:xfrm>
            <a:off x="5683113" y="0"/>
            <a:ext cx="2397125" cy="42344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3A4700-0B77-C32C-0F73-7DA01A207207}"/>
              </a:ext>
            </a:extLst>
          </p:cNvPr>
          <p:cNvSpPr/>
          <p:nvPr/>
        </p:nvSpPr>
        <p:spPr>
          <a:xfrm>
            <a:off x="5137249" y="301213"/>
            <a:ext cx="799980" cy="294759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49F5F5-0E53-715A-AA5A-6363ADD46E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979488"/>
            <a:ext cx="8037513" cy="553998"/>
          </a:xfrm>
        </p:spPr>
        <p:txBody>
          <a:bodyPr/>
          <a:lstStyle/>
          <a:p>
            <a:r>
              <a:rPr lang="es-ES_tradnl" noProof="1"/>
              <a:t>Perfil general de los clústeres</a:t>
            </a:r>
            <a:endParaRPr lang="es-ES_tradnl" b="0" noProof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0271CB-59B4-328F-C02F-5488C5A09699}"/>
              </a:ext>
            </a:extLst>
          </p:cNvPr>
          <p:cNvGrpSpPr/>
          <p:nvPr/>
        </p:nvGrpSpPr>
        <p:grpSpPr>
          <a:xfrm>
            <a:off x="740079" y="4083709"/>
            <a:ext cx="2100656" cy="2580120"/>
            <a:chOff x="740079" y="4083709"/>
            <a:chExt cx="2100656" cy="25801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7596ED7-E746-5045-5D97-DCE9DDCCC704}"/>
                </a:ext>
              </a:extLst>
            </p:cNvPr>
            <p:cNvSpPr txBox="1"/>
            <p:nvPr/>
          </p:nvSpPr>
          <p:spPr>
            <a:xfrm>
              <a:off x="740079" y="4939744"/>
              <a:ext cx="1867127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4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s-ES_tradnl" sz="1800" b="1" noProof="1"/>
                <a:t>Gasto energético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52C0AC-8552-74D8-26A4-8EB725BA0CC4}"/>
                </a:ext>
              </a:extLst>
            </p:cNvPr>
            <p:cNvSpPr txBox="1"/>
            <p:nvPr/>
          </p:nvSpPr>
          <p:spPr>
            <a:xfrm>
              <a:off x="740080" y="5371167"/>
              <a:ext cx="2100655" cy="129266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6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s-EC" sz="1400" dirty="0"/>
                <a:t>El Clúster 0 presenta el mayor gasto energético relativo (5%) y el menor ingreso, lo que evidencia una carga desproporcionada.</a:t>
              </a:r>
              <a:endParaRPr lang="es-ES_tradnl" sz="1400" noProof="1"/>
            </a:p>
          </p:txBody>
        </p:sp>
        <p:sp>
          <p:nvSpPr>
            <p:cNvPr id="12" name="Freeform 41">
              <a:extLst>
                <a:ext uri="{FF2B5EF4-FFF2-40B4-BE49-F238E27FC236}">
                  <a16:creationId xmlns:a16="http://schemas.microsoft.com/office/drawing/2014/main" id="{9A43B4FE-E2BE-F082-BC7D-8DA88A4216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0080" y="4083709"/>
              <a:ext cx="535920" cy="572893"/>
            </a:xfrm>
            <a:custGeom>
              <a:avLst/>
              <a:gdLst>
                <a:gd name="T0" fmla="*/ 1288 w 1424"/>
                <a:gd name="T1" fmla="*/ 68 h 1520"/>
                <a:gd name="T2" fmla="*/ 696 w 1424"/>
                <a:gd name="T3" fmla="*/ 486 h 1520"/>
                <a:gd name="T4" fmla="*/ 687 w 1424"/>
                <a:gd name="T5" fmla="*/ 75 h 1520"/>
                <a:gd name="T6" fmla="*/ 708 w 1424"/>
                <a:gd name="T7" fmla="*/ 39 h 1520"/>
                <a:gd name="T8" fmla="*/ 718 w 1424"/>
                <a:gd name="T9" fmla="*/ 257 h 1520"/>
                <a:gd name="T10" fmla="*/ 640 w 1424"/>
                <a:gd name="T11" fmla="*/ 279 h 1520"/>
                <a:gd name="T12" fmla="*/ 1023 w 1424"/>
                <a:gd name="T13" fmla="*/ 1079 h 1520"/>
                <a:gd name="T14" fmla="*/ 1021 w 1424"/>
                <a:gd name="T15" fmla="*/ 1349 h 1520"/>
                <a:gd name="T16" fmla="*/ 1253 w 1424"/>
                <a:gd name="T17" fmla="*/ 1097 h 1520"/>
                <a:gd name="T18" fmla="*/ 1049 w 1424"/>
                <a:gd name="T19" fmla="*/ 949 h 1520"/>
                <a:gd name="T20" fmla="*/ 1165 w 1424"/>
                <a:gd name="T21" fmla="*/ 611 h 1520"/>
                <a:gd name="T22" fmla="*/ 1204 w 1424"/>
                <a:gd name="T23" fmla="*/ 71 h 1520"/>
                <a:gd name="T24" fmla="*/ 879 w 1424"/>
                <a:gd name="T25" fmla="*/ 603 h 1520"/>
                <a:gd name="T26" fmla="*/ 551 w 1424"/>
                <a:gd name="T27" fmla="*/ 923 h 1520"/>
                <a:gd name="T28" fmla="*/ 604 w 1424"/>
                <a:gd name="T29" fmla="*/ 477 h 1520"/>
                <a:gd name="T30" fmla="*/ 274 w 1424"/>
                <a:gd name="T31" fmla="*/ 465 h 1520"/>
                <a:gd name="T32" fmla="*/ 295 w 1424"/>
                <a:gd name="T33" fmla="*/ 882 h 1520"/>
                <a:gd name="T34" fmla="*/ 10 w 1424"/>
                <a:gd name="T35" fmla="*/ 1492 h 1520"/>
                <a:gd name="T36" fmla="*/ 648 w 1424"/>
                <a:gd name="T37" fmla="*/ 1195 h 1520"/>
                <a:gd name="T38" fmla="*/ 738 w 1424"/>
                <a:gd name="T39" fmla="*/ 1195 h 1520"/>
                <a:gd name="T40" fmla="*/ 796 w 1424"/>
                <a:gd name="T41" fmla="*/ 1366 h 1520"/>
                <a:gd name="T42" fmla="*/ 900 w 1424"/>
                <a:gd name="T43" fmla="*/ 1455 h 1520"/>
                <a:gd name="T44" fmla="*/ 1062 w 1424"/>
                <a:gd name="T45" fmla="*/ 1519 h 1520"/>
                <a:gd name="T46" fmla="*/ 1163 w 1424"/>
                <a:gd name="T47" fmla="*/ 1468 h 1520"/>
                <a:gd name="T48" fmla="*/ 1240 w 1424"/>
                <a:gd name="T49" fmla="*/ 1325 h 1520"/>
                <a:gd name="T50" fmla="*/ 1287 w 1424"/>
                <a:gd name="T51" fmla="*/ 1170 h 1520"/>
                <a:gd name="T52" fmla="*/ 1243 w 1424"/>
                <a:gd name="T53" fmla="*/ 287 h 1520"/>
                <a:gd name="T54" fmla="*/ 1083 w 1424"/>
                <a:gd name="T55" fmla="*/ 538 h 1520"/>
                <a:gd name="T56" fmla="*/ 1107 w 1424"/>
                <a:gd name="T57" fmla="*/ 215 h 1520"/>
                <a:gd name="T58" fmla="*/ 952 w 1424"/>
                <a:gd name="T59" fmla="*/ 226 h 1520"/>
                <a:gd name="T60" fmla="*/ 962 w 1424"/>
                <a:gd name="T61" fmla="*/ 540 h 1520"/>
                <a:gd name="T62" fmla="*/ 1130 w 1424"/>
                <a:gd name="T63" fmla="*/ 248 h 1520"/>
                <a:gd name="T64" fmla="*/ 1004 w 1424"/>
                <a:gd name="T65" fmla="*/ 404 h 1520"/>
                <a:gd name="T66" fmla="*/ 956 w 1424"/>
                <a:gd name="T67" fmla="*/ 640 h 1520"/>
                <a:gd name="T68" fmla="*/ 1067 w 1424"/>
                <a:gd name="T69" fmla="*/ 696 h 1520"/>
                <a:gd name="T70" fmla="*/ 1021 w 1424"/>
                <a:gd name="T71" fmla="*/ 682 h 1520"/>
                <a:gd name="T72" fmla="*/ 287 w 1424"/>
                <a:gd name="T73" fmla="*/ 509 h 1520"/>
                <a:gd name="T74" fmla="*/ 575 w 1424"/>
                <a:gd name="T75" fmla="*/ 622 h 1520"/>
                <a:gd name="T76" fmla="*/ 315 w 1424"/>
                <a:gd name="T77" fmla="*/ 597 h 1520"/>
                <a:gd name="T78" fmla="*/ 283 w 1424"/>
                <a:gd name="T79" fmla="*/ 645 h 1520"/>
                <a:gd name="T80" fmla="*/ 536 w 1424"/>
                <a:gd name="T81" fmla="*/ 647 h 1520"/>
                <a:gd name="T82" fmla="*/ 254 w 1424"/>
                <a:gd name="T83" fmla="*/ 709 h 1520"/>
                <a:gd name="T84" fmla="*/ 195 w 1424"/>
                <a:gd name="T85" fmla="*/ 1178 h 1520"/>
                <a:gd name="T86" fmla="*/ 154 w 1424"/>
                <a:gd name="T87" fmla="*/ 1476 h 1520"/>
                <a:gd name="T88" fmla="*/ 112 w 1424"/>
                <a:gd name="T89" fmla="*/ 1008 h 1520"/>
                <a:gd name="T90" fmla="*/ 379 w 1424"/>
                <a:gd name="T91" fmla="*/ 1458 h 1520"/>
                <a:gd name="T92" fmla="*/ 304 w 1424"/>
                <a:gd name="T93" fmla="*/ 945 h 1520"/>
                <a:gd name="T94" fmla="*/ 606 w 1424"/>
                <a:gd name="T95" fmla="*/ 1477 h 1520"/>
                <a:gd name="T96" fmla="*/ 528 w 1424"/>
                <a:gd name="T97" fmla="*/ 973 h 1520"/>
                <a:gd name="T98" fmla="*/ 1056 w 1424"/>
                <a:gd name="T99" fmla="*/ 784 h 1520"/>
                <a:gd name="T100" fmla="*/ 954 w 1424"/>
                <a:gd name="T101" fmla="*/ 986 h 1520"/>
                <a:gd name="T102" fmla="*/ 792 w 1424"/>
                <a:gd name="T103" fmla="*/ 1063 h 1520"/>
                <a:gd name="T104" fmla="*/ 1172 w 1424"/>
                <a:gd name="T105" fmla="*/ 1424 h 1520"/>
                <a:gd name="T106" fmla="*/ 871 w 1424"/>
                <a:gd name="T107" fmla="*/ 1426 h 1520"/>
                <a:gd name="T108" fmla="*/ 844 w 1424"/>
                <a:gd name="T109" fmla="*/ 1161 h 1520"/>
                <a:gd name="T110" fmla="*/ 1050 w 1424"/>
                <a:gd name="T111" fmla="*/ 993 h 1520"/>
                <a:gd name="T112" fmla="*/ 1264 w 1424"/>
                <a:gd name="T113" fmla="*/ 1207 h 1520"/>
                <a:gd name="T114" fmla="*/ 1288 w 1424"/>
                <a:gd name="T115" fmla="*/ 449 h 1520"/>
                <a:gd name="T116" fmla="*/ 1375 w 1424"/>
                <a:gd name="T117" fmla="*/ 238 h 1520"/>
                <a:gd name="T118" fmla="*/ 1423 w 1424"/>
                <a:gd name="T119" fmla="*/ 257 h 1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424" h="1520">
                  <a:moveTo>
                    <a:pt x="1300" y="109"/>
                  </a:moveTo>
                  <a:cubicBezTo>
                    <a:pt x="1324" y="94"/>
                    <a:pt x="1345" y="81"/>
                    <a:pt x="1365" y="66"/>
                  </a:cubicBezTo>
                  <a:cubicBezTo>
                    <a:pt x="1369" y="64"/>
                    <a:pt x="1369" y="49"/>
                    <a:pt x="1365" y="44"/>
                  </a:cubicBezTo>
                  <a:cubicBezTo>
                    <a:pt x="1360" y="39"/>
                    <a:pt x="1348" y="35"/>
                    <a:pt x="1342" y="37"/>
                  </a:cubicBezTo>
                  <a:cubicBezTo>
                    <a:pt x="1323" y="46"/>
                    <a:pt x="1304" y="56"/>
                    <a:pt x="1288" y="68"/>
                  </a:cubicBezTo>
                  <a:cubicBezTo>
                    <a:pt x="1282" y="72"/>
                    <a:pt x="1280" y="84"/>
                    <a:pt x="1282" y="91"/>
                  </a:cubicBezTo>
                  <a:cubicBezTo>
                    <a:pt x="1283" y="98"/>
                    <a:pt x="1293" y="102"/>
                    <a:pt x="1300" y="109"/>
                  </a:cubicBezTo>
                  <a:close/>
                  <a:moveTo>
                    <a:pt x="684" y="445"/>
                  </a:moveTo>
                  <a:cubicBezTo>
                    <a:pt x="678" y="449"/>
                    <a:pt x="675" y="461"/>
                    <a:pt x="677" y="468"/>
                  </a:cubicBezTo>
                  <a:cubicBezTo>
                    <a:pt x="678" y="474"/>
                    <a:pt x="688" y="479"/>
                    <a:pt x="696" y="486"/>
                  </a:cubicBezTo>
                  <a:cubicBezTo>
                    <a:pt x="719" y="471"/>
                    <a:pt x="741" y="458"/>
                    <a:pt x="761" y="443"/>
                  </a:cubicBezTo>
                  <a:cubicBezTo>
                    <a:pt x="765" y="440"/>
                    <a:pt x="764" y="425"/>
                    <a:pt x="759" y="420"/>
                  </a:cubicBezTo>
                  <a:cubicBezTo>
                    <a:pt x="755" y="415"/>
                    <a:pt x="742" y="412"/>
                    <a:pt x="736" y="414"/>
                  </a:cubicBezTo>
                  <a:cubicBezTo>
                    <a:pt x="718" y="423"/>
                    <a:pt x="700" y="433"/>
                    <a:pt x="684" y="445"/>
                  </a:cubicBezTo>
                  <a:close/>
                  <a:moveTo>
                    <a:pt x="687" y="75"/>
                  </a:moveTo>
                  <a:cubicBezTo>
                    <a:pt x="702" y="84"/>
                    <a:pt x="717" y="92"/>
                    <a:pt x="731" y="101"/>
                  </a:cubicBezTo>
                  <a:cubicBezTo>
                    <a:pt x="735" y="103"/>
                    <a:pt x="740" y="104"/>
                    <a:pt x="747" y="106"/>
                  </a:cubicBezTo>
                  <a:cubicBezTo>
                    <a:pt x="752" y="102"/>
                    <a:pt x="760" y="98"/>
                    <a:pt x="763" y="91"/>
                  </a:cubicBezTo>
                  <a:cubicBezTo>
                    <a:pt x="768" y="82"/>
                    <a:pt x="765" y="72"/>
                    <a:pt x="755" y="66"/>
                  </a:cubicBezTo>
                  <a:cubicBezTo>
                    <a:pt x="740" y="57"/>
                    <a:pt x="724" y="48"/>
                    <a:pt x="708" y="39"/>
                  </a:cubicBezTo>
                  <a:cubicBezTo>
                    <a:pt x="695" y="32"/>
                    <a:pt x="684" y="35"/>
                    <a:pt x="678" y="45"/>
                  </a:cubicBezTo>
                  <a:cubicBezTo>
                    <a:pt x="671" y="56"/>
                    <a:pt x="675" y="67"/>
                    <a:pt x="687" y="75"/>
                  </a:cubicBezTo>
                  <a:close/>
                  <a:moveTo>
                    <a:pt x="640" y="279"/>
                  </a:moveTo>
                  <a:cubicBezTo>
                    <a:pt x="660" y="280"/>
                    <a:pt x="679" y="280"/>
                    <a:pt x="699" y="279"/>
                  </a:cubicBezTo>
                  <a:cubicBezTo>
                    <a:pt x="711" y="278"/>
                    <a:pt x="719" y="268"/>
                    <a:pt x="718" y="257"/>
                  </a:cubicBezTo>
                  <a:cubicBezTo>
                    <a:pt x="717" y="245"/>
                    <a:pt x="710" y="238"/>
                    <a:pt x="697" y="238"/>
                  </a:cubicBezTo>
                  <a:cubicBezTo>
                    <a:pt x="689" y="237"/>
                    <a:pt x="680" y="238"/>
                    <a:pt x="671" y="238"/>
                  </a:cubicBezTo>
                  <a:cubicBezTo>
                    <a:pt x="661" y="238"/>
                    <a:pt x="652" y="237"/>
                    <a:pt x="642" y="238"/>
                  </a:cubicBezTo>
                  <a:cubicBezTo>
                    <a:pt x="629" y="238"/>
                    <a:pt x="621" y="244"/>
                    <a:pt x="621" y="257"/>
                  </a:cubicBezTo>
                  <a:cubicBezTo>
                    <a:pt x="620" y="270"/>
                    <a:pt x="628" y="278"/>
                    <a:pt x="640" y="279"/>
                  </a:cubicBezTo>
                  <a:close/>
                  <a:moveTo>
                    <a:pt x="1023" y="1079"/>
                  </a:moveTo>
                  <a:cubicBezTo>
                    <a:pt x="936" y="1079"/>
                    <a:pt x="866" y="1149"/>
                    <a:pt x="866" y="1235"/>
                  </a:cubicBezTo>
                  <a:cubicBezTo>
                    <a:pt x="866" y="1321"/>
                    <a:pt x="936" y="1391"/>
                    <a:pt x="1022" y="1391"/>
                  </a:cubicBezTo>
                  <a:cubicBezTo>
                    <a:pt x="1109" y="1391"/>
                    <a:pt x="1178" y="1321"/>
                    <a:pt x="1178" y="1235"/>
                  </a:cubicBezTo>
                  <a:cubicBezTo>
                    <a:pt x="1178" y="1149"/>
                    <a:pt x="1108" y="1079"/>
                    <a:pt x="1023" y="1079"/>
                  </a:cubicBezTo>
                  <a:close/>
                  <a:moveTo>
                    <a:pt x="1021" y="1349"/>
                  </a:moveTo>
                  <a:cubicBezTo>
                    <a:pt x="958" y="1349"/>
                    <a:pt x="908" y="1297"/>
                    <a:pt x="908" y="1234"/>
                  </a:cubicBezTo>
                  <a:cubicBezTo>
                    <a:pt x="909" y="1172"/>
                    <a:pt x="960" y="1121"/>
                    <a:pt x="1022" y="1121"/>
                  </a:cubicBezTo>
                  <a:cubicBezTo>
                    <a:pt x="1085" y="1121"/>
                    <a:pt x="1136" y="1172"/>
                    <a:pt x="1136" y="1235"/>
                  </a:cubicBezTo>
                  <a:cubicBezTo>
                    <a:pt x="1136" y="1298"/>
                    <a:pt x="1085" y="1349"/>
                    <a:pt x="1021" y="1349"/>
                  </a:cubicBezTo>
                  <a:close/>
                  <a:moveTo>
                    <a:pt x="1287" y="1170"/>
                  </a:moveTo>
                  <a:cubicBezTo>
                    <a:pt x="1276" y="1168"/>
                    <a:pt x="1266" y="1166"/>
                    <a:pt x="1255" y="1163"/>
                  </a:cubicBezTo>
                  <a:cubicBezTo>
                    <a:pt x="1251" y="1162"/>
                    <a:pt x="1247" y="1160"/>
                    <a:pt x="1245" y="1156"/>
                  </a:cubicBezTo>
                  <a:cubicBezTo>
                    <a:pt x="1235" y="1139"/>
                    <a:pt x="1230" y="1122"/>
                    <a:pt x="1247" y="1105"/>
                  </a:cubicBezTo>
                  <a:cubicBezTo>
                    <a:pt x="1250" y="1103"/>
                    <a:pt x="1251" y="1100"/>
                    <a:pt x="1253" y="1097"/>
                  </a:cubicBezTo>
                  <a:cubicBezTo>
                    <a:pt x="1263" y="1081"/>
                    <a:pt x="1263" y="1074"/>
                    <a:pt x="1249" y="1060"/>
                  </a:cubicBezTo>
                  <a:cubicBezTo>
                    <a:pt x="1236" y="1047"/>
                    <a:pt x="1223" y="1034"/>
                    <a:pt x="1210" y="1021"/>
                  </a:cubicBezTo>
                  <a:cubicBezTo>
                    <a:pt x="1180" y="991"/>
                    <a:pt x="1180" y="991"/>
                    <a:pt x="1144" y="1015"/>
                  </a:cubicBezTo>
                  <a:cubicBezTo>
                    <a:pt x="1123" y="1029"/>
                    <a:pt x="1096" y="1017"/>
                    <a:pt x="1091" y="992"/>
                  </a:cubicBezTo>
                  <a:cubicBezTo>
                    <a:pt x="1084" y="955"/>
                    <a:pt x="1084" y="955"/>
                    <a:pt x="1049" y="949"/>
                  </a:cubicBezTo>
                  <a:cubicBezTo>
                    <a:pt x="1060" y="928"/>
                    <a:pt x="1072" y="908"/>
                    <a:pt x="1083" y="888"/>
                  </a:cubicBezTo>
                  <a:cubicBezTo>
                    <a:pt x="1090" y="874"/>
                    <a:pt x="1097" y="861"/>
                    <a:pt x="1103" y="847"/>
                  </a:cubicBezTo>
                  <a:cubicBezTo>
                    <a:pt x="1118" y="812"/>
                    <a:pt x="1110" y="780"/>
                    <a:pt x="1084" y="752"/>
                  </a:cubicBezTo>
                  <a:cubicBezTo>
                    <a:pt x="1110" y="734"/>
                    <a:pt x="1109" y="708"/>
                    <a:pt x="1109" y="682"/>
                  </a:cubicBezTo>
                  <a:cubicBezTo>
                    <a:pt x="1148" y="671"/>
                    <a:pt x="1165" y="650"/>
                    <a:pt x="1165" y="611"/>
                  </a:cubicBezTo>
                  <a:cubicBezTo>
                    <a:pt x="1165" y="596"/>
                    <a:pt x="1166" y="582"/>
                    <a:pt x="1165" y="567"/>
                  </a:cubicBezTo>
                  <a:cubicBezTo>
                    <a:pt x="1164" y="534"/>
                    <a:pt x="1173" y="504"/>
                    <a:pt x="1191" y="477"/>
                  </a:cubicBezTo>
                  <a:cubicBezTo>
                    <a:pt x="1206" y="454"/>
                    <a:pt x="1222" y="432"/>
                    <a:pt x="1237" y="410"/>
                  </a:cubicBezTo>
                  <a:cubicBezTo>
                    <a:pt x="1269" y="363"/>
                    <a:pt x="1286" y="312"/>
                    <a:pt x="1287" y="254"/>
                  </a:cubicBezTo>
                  <a:cubicBezTo>
                    <a:pt x="1287" y="180"/>
                    <a:pt x="1263" y="117"/>
                    <a:pt x="1204" y="71"/>
                  </a:cubicBezTo>
                  <a:cubicBezTo>
                    <a:pt x="1131" y="13"/>
                    <a:pt x="1047" y="0"/>
                    <a:pt x="958" y="17"/>
                  </a:cubicBezTo>
                  <a:cubicBezTo>
                    <a:pt x="818" y="43"/>
                    <a:pt x="739" y="156"/>
                    <a:pt x="761" y="296"/>
                  </a:cubicBezTo>
                  <a:cubicBezTo>
                    <a:pt x="768" y="346"/>
                    <a:pt x="791" y="388"/>
                    <a:pt x="819" y="429"/>
                  </a:cubicBezTo>
                  <a:cubicBezTo>
                    <a:pt x="835" y="451"/>
                    <a:pt x="850" y="473"/>
                    <a:pt x="863" y="496"/>
                  </a:cubicBezTo>
                  <a:cubicBezTo>
                    <a:pt x="883" y="529"/>
                    <a:pt x="879" y="567"/>
                    <a:pt x="879" y="603"/>
                  </a:cubicBezTo>
                  <a:cubicBezTo>
                    <a:pt x="879" y="650"/>
                    <a:pt x="891" y="668"/>
                    <a:pt x="936" y="683"/>
                  </a:cubicBezTo>
                  <a:cubicBezTo>
                    <a:pt x="935" y="707"/>
                    <a:pt x="934" y="732"/>
                    <a:pt x="956" y="749"/>
                  </a:cubicBezTo>
                  <a:cubicBezTo>
                    <a:pt x="936" y="780"/>
                    <a:pt x="918" y="809"/>
                    <a:pt x="897" y="838"/>
                  </a:cubicBezTo>
                  <a:cubicBezTo>
                    <a:pt x="843" y="913"/>
                    <a:pt x="769" y="952"/>
                    <a:pt x="675" y="944"/>
                  </a:cubicBezTo>
                  <a:cubicBezTo>
                    <a:pt x="633" y="941"/>
                    <a:pt x="592" y="931"/>
                    <a:pt x="551" y="923"/>
                  </a:cubicBezTo>
                  <a:cubicBezTo>
                    <a:pt x="528" y="919"/>
                    <a:pt x="515" y="903"/>
                    <a:pt x="505" y="882"/>
                  </a:cubicBezTo>
                  <a:cubicBezTo>
                    <a:pt x="502" y="876"/>
                    <a:pt x="502" y="871"/>
                    <a:pt x="508" y="866"/>
                  </a:cubicBezTo>
                  <a:cubicBezTo>
                    <a:pt x="535" y="843"/>
                    <a:pt x="555" y="815"/>
                    <a:pt x="567" y="782"/>
                  </a:cubicBezTo>
                  <a:cubicBezTo>
                    <a:pt x="583" y="740"/>
                    <a:pt x="600" y="698"/>
                    <a:pt x="611" y="654"/>
                  </a:cubicBezTo>
                  <a:cubicBezTo>
                    <a:pt x="626" y="595"/>
                    <a:pt x="620" y="535"/>
                    <a:pt x="604" y="477"/>
                  </a:cubicBezTo>
                  <a:cubicBezTo>
                    <a:pt x="598" y="455"/>
                    <a:pt x="592" y="453"/>
                    <a:pt x="570" y="453"/>
                  </a:cubicBezTo>
                  <a:cubicBezTo>
                    <a:pt x="545" y="454"/>
                    <a:pt x="519" y="454"/>
                    <a:pt x="495" y="451"/>
                  </a:cubicBezTo>
                  <a:cubicBezTo>
                    <a:pt x="455" y="445"/>
                    <a:pt x="416" y="435"/>
                    <a:pt x="377" y="428"/>
                  </a:cubicBezTo>
                  <a:cubicBezTo>
                    <a:pt x="341" y="422"/>
                    <a:pt x="309" y="431"/>
                    <a:pt x="284" y="460"/>
                  </a:cubicBezTo>
                  <a:cubicBezTo>
                    <a:pt x="282" y="463"/>
                    <a:pt x="277" y="465"/>
                    <a:pt x="274" y="465"/>
                  </a:cubicBezTo>
                  <a:cubicBezTo>
                    <a:pt x="238" y="465"/>
                    <a:pt x="203" y="493"/>
                    <a:pt x="196" y="539"/>
                  </a:cubicBezTo>
                  <a:cubicBezTo>
                    <a:pt x="191" y="570"/>
                    <a:pt x="192" y="603"/>
                    <a:pt x="195" y="634"/>
                  </a:cubicBezTo>
                  <a:cubicBezTo>
                    <a:pt x="197" y="661"/>
                    <a:pt x="207" y="687"/>
                    <a:pt x="213" y="714"/>
                  </a:cubicBezTo>
                  <a:cubicBezTo>
                    <a:pt x="224" y="773"/>
                    <a:pt x="248" y="825"/>
                    <a:pt x="292" y="866"/>
                  </a:cubicBezTo>
                  <a:cubicBezTo>
                    <a:pt x="296" y="870"/>
                    <a:pt x="297" y="878"/>
                    <a:pt x="295" y="882"/>
                  </a:cubicBezTo>
                  <a:cubicBezTo>
                    <a:pt x="287" y="903"/>
                    <a:pt x="272" y="917"/>
                    <a:pt x="249" y="924"/>
                  </a:cubicBezTo>
                  <a:cubicBezTo>
                    <a:pt x="198" y="938"/>
                    <a:pt x="146" y="952"/>
                    <a:pt x="95" y="970"/>
                  </a:cubicBezTo>
                  <a:cubicBezTo>
                    <a:pt x="54" y="984"/>
                    <a:pt x="23" y="1013"/>
                    <a:pt x="14" y="1058"/>
                  </a:cubicBezTo>
                  <a:cubicBezTo>
                    <a:pt x="10" y="1074"/>
                    <a:pt x="8" y="1090"/>
                    <a:pt x="7" y="1106"/>
                  </a:cubicBezTo>
                  <a:cubicBezTo>
                    <a:pt x="0" y="1234"/>
                    <a:pt x="4" y="1363"/>
                    <a:pt x="10" y="1492"/>
                  </a:cubicBezTo>
                  <a:cubicBezTo>
                    <a:pt x="11" y="1513"/>
                    <a:pt x="18" y="1519"/>
                    <a:pt x="39" y="1519"/>
                  </a:cubicBezTo>
                  <a:cubicBezTo>
                    <a:pt x="233" y="1519"/>
                    <a:pt x="426" y="1519"/>
                    <a:pt x="620" y="1519"/>
                  </a:cubicBezTo>
                  <a:cubicBezTo>
                    <a:pt x="641" y="1519"/>
                    <a:pt x="648" y="1512"/>
                    <a:pt x="648" y="1491"/>
                  </a:cubicBezTo>
                  <a:cubicBezTo>
                    <a:pt x="648" y="1431"/>
                    <a:pt x="648" y="1371"/>
                    <a:pt x="648" y="1310"/>
                  </a:cubicBezTo>
                  <a:cubicBezTo>
                    <a:pt x="648" y="1272"/>
                    <a:pt x="648" y="1233"/>
                    <a:pt x="648" y="1195"/>
                  </a:cubicBezTo>
                  <a:cubicBezTo>
                    <a:pt x="648" y="1181"/>
                    <a:pt x="653" y="1172"/>
                    <a:pt x="668" y="1169"/>
                  </a:cubicBezTo>
                  <a:cubicBezTo>
                    <a:pt x="712" y="1163"/>
                    <a:pt x="757" y="1156"/>
                    <a:pt x="802" y="1150"/>
                  </a:cubicBezTo>
                  <a:cubicBezTo>
                    <a:pt x="801" y="1160"/>
                    <a:pt x="793" y="1164"/>
                    <a:pt x="782" y="1166"/>
                  </a:cubicBezTo>
                  <a:cubicBezTo>
                    <a:pt x="774" y="1167"/>
                    <a:pt x="766" y="1168"/>
                    <a:pt x="758" y="1170"/>
                  </a:cubicBezTo>
                  <a:cubicBezTo>
                    <a:pt x="745" y="1172"/>
                    <a:pt x="738" y="1180"/>
                    <a:pt x="738" y="1195"/>
                  </a:cubicBezTo>
                  <a:cubicBezTo>
                    <a:pt x="738" y="1222"/>
                    <a:pt x="738" y="1249"/>
                    <a:pt x="738" y="1275"/>
                  </a:cubicBezTo>
                  <a:cubicBezTo>
                    <a:pt x="738" y="1290"/>
                    <a:pt x="745" y="1298"/>
                    <a:pt x="758" y="1300"/>
                  </a:cubicBezTo>
                  <a:cubicBezTo>
                    <a:pt x="768" y="1302"/>
                    <a:pt x="777" y="1303"/>
                    <a:pt x="786" y="1306"/>
                  </a:cubicBezTo>
                  <a:cubicBezTo>
                    <a:pt x="791" y="1308"/>
                    <a:pt x="797" y="1312"/>
                    <a:pt x="800" y="1317"/>
                  </a:cubicBezTo>
                  <a:cubicBezTo>
                    <a:pt x="811" y="1334"/>
                    <a:pt x="812" y="1351"/>
                    <a:pt x="796" y="1366"/>
                  </a:cubicBezTo>
                  <a:cubicBezTo>
                    <a:pt x="793" y="1369"/>
                    <a:pt x="791" y="1373"/>
                    <a:pt x="789" y="1376"/>
                  </a:cubicBezTo>
                  <a:cubicBezTo>
                    <a:pt x="782" y="1387"/>
                    <a:pt x="782" y="1397"/>
                    <a:pt x="792" y="1407"/>
                  </a:cubicBezTo>
                  <a:cubicBezTo>
                    <a:pt x="811" y="1426"/>
                    <a:pt x="831" y="1446"/>
                    <a:pt x="850" y="1465"/>
                  </a:cubicBezTo>
                  <a:cubicBezTo>
                    <a:pt x="860" y="1475"/>
                    <a:pt x="870" y="1475"/>
                    <a:pt x="881" y="1468"/>
                  </a:cubicBezTo>
                  <a:cubicBezTo>
                    <a:pt x="887" y="1464"/>
                    <a:pt x="894" y="1460"/>
                    <a:pt x="900" y="1455"/>
                  </a:cubicBezTo>
                  <a:cubicBezTo>
                    <a:pt x="910" y="1446"/>
                    <a:pt x="919" y="1448"/>
                    <a:pt x="931" y="1452"/>
                  </a:cubicBezTo>
                  <a:cubicBezTo>
                    <a:pt x="946" y="1458"/>
                    <a:pt x="953" y="1466"/>
                    <a:pt x="953" y="1481"/>
                  </a:cubicBezTo>
                  <a:cubicBezTo>
                    <a:pt x="954" y="1487"/>
                    <a:pt x="956" y="1493"/>
                    <a:pt x="957" y="1499"/>
                  </a:cubicBezTo>
                  <a:cubicBezTo>
                    <a:pt x="959" y="1512"/>
                    <a:pt x="967" y="1520"/>
                    <a:pt x="982" y="1519"/>
                  </a:cubicBezTo>
                  <a:cubicBezTo>
                    <a:pt x="1008" y="1519"/>
                    <a:pt x="1035" y="1519"/>
                    <a:pt x="1062" y="1519"/>
                  </a:cubicBezTo>
                  <a:cubicBezTo>
                    <a:pt x="1077" y="1520"/>
                    <a:pt x="1085" y="1512"/>
                    <a:pt x="1087" y="1499"/>
                  </a:cubicBezTo>
                  <a:cubicBezTo>
                    <a:pt x="1089" y="1493"/>
                    <a:pt x="1090" y="1487"/>
                    <a:pt x="1091" y="1481"/>
                  </a:cubicBezTo>
                  <a:cubicBezTo>
                    <a:pt x="1091" y="1466"/>
                    <a:pt x="1099" y="1458"/>
                    <a:pt x="1113" y="1452"/>
                  </a:cubicBezTo>
                  <a:cubicBezTo>
                    <a:pt x="1126" y="1447"/>
                    <a:pt x="1135" y="1447"/>
                    <a:pt x="1146" y="1456"/>
                  </a:cubicBezTo>
                  <a:cubicBezTo>
                    <a:pt x="1151" y="1461"/>
                    <a:pt x="1157" y="1464"/>
                    <a:pt x="1163" y="1468"/>
                  </a:cubicBezTo>
                  <a:cubicBezTo>
                    <a:pt x="1174" y="1475"/>
                    <a:pt x="1184" y="1475"/>
                    <a:pt x="1194" y="1465"/>
                  </a:cubicBezTo>
                  <a:cubicBezTo>
                    <a:pt x="1213" y="1446"/>
                    <a:pt x="1233" y="1427"/>
                    <a:pt x="1252" y="1407"/>
                  </a:cubicBezTo>
                  <a:cubicBezTo>
                    <a:pt x="1262" y="1398"/>
                    <a:pt x="1262" y="1387"/>
                    <a:pt x="1255" y="1376"/>
                  </a:cubicBezTo>
                  <a:cubicBezTo>
                    <a:pt x="1251" y="1371"/>
                    <a:pt x="1248" y="1365"/>
                    <a:pt x="1244" y="1360"/>
                  </a:cubicBezTo>
                  <a:cubicBezTo>
                    <a:pt x="1234" y="1349"/>
                    <a:pt x="1234" y="1339"/>
                    <a:pt x="1240" y="1325"/>
                  </a:cubicBezTo>
                  <a:cubicBezTo>
                    <a:pt x="1245" y="1313"/>
                    <a:pt x="1251" y="1305"/>
                    <a:pt x="1265" y="1304"/>
                  </a:cubicBezTo>
                  <a:cubicBezTo>
                    <a:pt x="1272" y="1304"/>
                    <a:pt x="1280" y="1302"/>
                    <a:pt x="1287" y="1300"/>
                  </a:cubicBezTo>
                  <a:cubicBezTo>
                    <a:pt x="1299" y="1297"/>
                    <a:pt x="1306" y="1290"/>
                    <a:pt x="1306" y="1277"/>
                  </a:cubicBezTo>
                  <a:cubicBezTo>
                    <a:pt x="1306" y="1249"/>
                    <a:pt x="1306" y="1221"/>
                    <a:pt x="1306" y="1193"/>
                  </a:cubicBezTo>
                  <a:cubicBezTo>
                    <a:pt x="1306" y="1180"/>
                    <a:pt x="1300" y="1173"/>
                    <a:pt x="1287" y="1170"/>
                  </a:cubicBezTo>
                  <a:close/>
                  <a:moveTo>
                    <a:pt x="858" y="410"/>
                  </a:moveTo>
                  <a:cubicBezTo>
                    <a:pt x="832" y="374"/>
                    <a:pt x="810" y="337"/>
                    <a:pt x="803" y="292"/>
                  </a:cubicBezTo>
                  <a:cubicBezTo>
                    <a:pt x="783" y="175"/>
                    <a:pt x="848" y="81"/>
                    <a:pt x="965" y="58"/>
                  </a:cubicBezTo>
                  <a:cubicBezTo>
                    <a:pt x="1020" y="47"/>
                    <a:pt x="1074" y="51"/>
                    <a:pt x="1126" y="73"/>
                  </a:cubicBezTo>
                  <a:cubicBezTo>
                    <a:pt x="1215" y="110"/>
                    <a:pt x="1258" y="191"/>
                    <a:pt x="1243" y="287"/>
                  </a:cubicBezTo>
                  <a:cubicBezTo>
                    <a:pt x="1236" y="324"/>
                    <a:pt x="1222" y="357"/>
                    <a:pt x="1202" y="387"/>
                  </a:cubicBezTo>
                  <a:cubicBezTo>
                    <a:pt x="1192" y="402"/>
                    <a:pt x="1182" y="416"/>
                    <a:pt x="1172" y="430"/>
                  </a:cubicBezTo>
                  <a:cubicBezTo>
                    <a:pt x="1146" y="467"/>
                    <a:pt x="1124" y="506"/>
                    <a:pt x="1123" y="554"/>
                  </a:cubicBezTo>
                  <a:cubicBezTo>
                    <a:pt x="1110" y="554"/>
                    <a:pt x="1097" y="554"/>
                    <a:pt x="1083" y="554"/>
                  </a:cubicBezTo>
                  <a:cubicBezTo>
                    <a:pt x="1083" y="548"/>
                    <a:pt x="1083" y="543"/>
                    <a:pt x="1083" y="538"/>
                  </a:cubicBezTo>
                  <a:cubicBezTo>
                    <a:pt x="1083" y="495"/>
                    <a:pt x="1083" y="452"/>
                    <a:pt x="1082" y="409"/>
                  </a:cubicBezTo>
                  <a:cubicBezTo>
                    <a:pt x="1082" y="398"/>
                    <a:pt x="1085" y="392"/>
                    <a:pt x="1096" y="386"/>
                  </a:cubicBezTo>
                  <a:cubicBezTo>
                    <a:pt x="1143" y="362"/>
                    <a:pt x="1170" y="323"/>
                    <a:pt x="1176" y="270"/>
                  </a:cubicBezTo>
                  <a:cubicBezTo>
                    <a:pt x="1177" y="261"/>
                    <a:pt x="1176" y="251"/>
                    <a:pt x="1174" y="243"/>
                  </a:cubicBezTo>
                  <a:cubicBezTo>
                    <a:pt x="1166" y="212"/>
                    <a:pt x="1133" y="197"/>
                    <a:pt x="1107" y="215"/>
                  </a:cubicBezTo>
                  <a:cubicBezTo>
                    <a:pt x="1091" y="226"/>
                    <a:pt x="1076" y="242"/>
                    <a:pt x="1068" y="259"/>
                  </a:cubicBezTo>
                  <a:cubicBezTo>
                    <a:pt x="1055" y="291"/>
                    <a:pt x="1048" y="324"/>
                    <a:pt x="1037" y="360"/>
                  </a:cubicBezTo>
                  <a:cubicBezTo>
                    <a:pt x="1029" y="360"/>
                    <a:pt x="1016" y="360"/>
                    <a:pt x="1004" y="360"/>
                  </a:cubicBezTo>
                  <a:cubicBezTo>
                    <a:pt x="998" y="333"/>
                    <a:pt x="995" y="306"/>
                    <a:pt x="985" y="282"/>
                  </a:cubicBezTo>
                  <a:cubicBezTo>
                    <a:pt x="978" y="262"/>
                    <a:pt x="966" y="243"/>
                    <a:pt x="952" y="226"/>
                  </a:cubicBezTo>
                  <a:cubicBezTo>
                    <a:pt x="936" y="207"/>
                    <a:pt x="913" y="204"/>
                    <a:pt x="895" y="212"/>
                  </a:cubicBezTo>
                  <a:cubicBezTo>
                    <a:pt x="877" y="221"/>
                    <a:pt x="865" y="242"/>
                    <a:pt x="868" y="266"/>
                  </a:cubicBezTo>
                  <a:cubicBezTo>
                    <a:pt x="873" y="321"/>
                    <a:pt x="900" y="362"/>
                    <a:pt x="949" y="387"/>
                  </a:cubicBezTo>
                  <a:cubicBezTo>
                    <a:pt x="959" y="391"/>
                    <a:pt x="962" y="396"/>
                    <a:pt x="962" y="407"/>
                  </a:cubicBezTo>
                  <a:cubicBezTo>
                    <a:pt x="961" y="451"/>
                    <a:pt x="962" y="496"/>
                    <a:pt x="962" y="540"/>
                  </a:cubicBezTo>
                  <a:cubicBezTo>
                    <a:pt x="962" y="544"/>
                    <a:pt x="962" y="549"/>
                    <a:pt x="962" y="554"/>
                  </a:cubicBezTo>
                  <a:cubicBezTo>
                    <a:pt x="947" y="554"/>
                    <a:pt x="934" y="554"/>
                    <a:pt x="921" y="554"/>
                  </a:cubicBezTo>
                  <a:cubicBezTo>
                    <a:pt x="920" y="497"/>
                    <a:pt x="889" y="453"/>
                    <a:pt x="858" y="410"/>
                  </a:cubicBezTo>
                  <a:close/>
                  <a:moveTo>
                    <a:pt x="1086" y="342"/>
                  </a:moveTo>
                  <a:cubicBezTo>
                    <a:pt x="1094" y="306"/>
                    <a:pt x="1099" y="272"/>
                    <a:pt x="1130" y="248"/>
                  </a:cubicBezTo>
                  <a:cubicBezTo>
                    <a:pt x="1142" y="277"/>
                    <a:pt x="1121" y="323"/>
                    <a:pt x="1086" y="342"/>
                  </a:cubicBezTo>
                  <a:close/>
                  <a:moveTo>
                    <a:pt x="1039" y="404"/>
                  </a:moveTo>
                  <a:cubicBezTo>
                    <a:pt x="1039" y="454"/>
                    <a:pt x="1039" y="504"/>
                    <a:pt x="1039" y="554"/>
                  </a:cubicBezTo>
                  <a:cubicBezTo>
                    <a:pt x="1028" y="554"/>
                    <a:pt x="1017" y="554"/>
                    <a:pt x="1004" y="554"/>
                  </a:cubicBezTo>
                  <a:cubicBezTo>
                    <a:pt x="1004" y="504"/>
                    <a:pt x="1004" y="455"/>
                    <a:pt x="1004" y="404"/>
                  </a:cubicBezTo>
                  <a:cubicBezTo>
                    <a:pt x="1016" y="404"/>
                    <a:pt x="1027" y="404"/>
                    <a:pt x="1039" y="404"/>
                  </a:cubicBezTo>
                  <a:close/>
                  <a:moveTo>
                    <a:pt x="956" y="341"/>
                  </a:moveTo>
                  <a:cubicBezTo>
                    <a:pt x="924" y="324"/>
                    <a:pt x="903" y="278"/>
                    <a:pt x="913" y="251"/>
                  </a:cubicBezTo>
                  <a:cubicBezTo>
                    <a:pt x="935" y="259"/>
                    <a:pt x="955" y="300"/>
                    <a:pt x="956" y="341"/>
                  </a:cubicBezTo>
                  <a:close/>
                  <a:moveTo>
                    <a:pt x="956" y="640"/>
                  </a:moveTo>
                  <a:cubicBezTo>
                    <a:pt x="924" y="640"/>
                    <a:pt x="917" y="631"/>
                    <a:pt x="922" y="598"/>
                  </a:cubicBezTo>
                  <a:cubicBezTo>
                    <a:pt x="988" y="598"/>
                    <a:pt x="1055" y="598"/>
                    <a:pt x="1121" y="598"/>
                  </a:cubicBezTo>
                  <a:cubicBezTo>
                    <a:pt x="1129" y="626"/>
                    <a:pt x="1120" y="640"/>
                    <a:pt x="1091" y="640"/>
                  </a:cubicBezTo>
                  <a:cubicBezTo>
                    <a:pt x="1046" y="640"/>
                    <a:pt x="1001" y="640"/>
                    <a:pt x="956" y="640"/>
                  </a:cubicBezTo>
                  <a:close/>
                  <a:moveTo>
                    <a:pt x="1067" y="696"/>
                  </a:moveTo>
                  <a:cubicBezTo>
                    <a:pt x="1067" y="716"/>
                    <a:pt x="1064" y="719"/>
                    <a:pt x="1044" y="719"/>
                  </a:cubicBezTo>
                  <a:cubicBezTo>
                    <a:pt x="1030" y="719"/>
                    <a:pt x="1015" y="719"/>
                    <a:pt x="1001" y="719"/>
                  </a:cubicBezTo>
                  <a:cubicBezTo>
                    <a:pt x="980" y="719"/>
                    <a:pt x="977" y="716"/>
                    <a:pt x="978" y="694"/>
                  </a:cubicBezTo>
                  <a:cubicBezTo>
                    <a:pt x="978" y="691"/>
                    <a:pt x="978" y="687"/>
                    <a:pt x="978" y="682"/>
                  </a:cubicBezTo>
                  <a:cubicBezTo>
                    <a:pt x="993" y="682"/>
                    <a:pt x="1007" y="682"/>
                    <a:pt x="1021" y="682"/>
                  </a:cubicBezTo>
                  <a:cubicBezTo>
                    <a:pt x="1036" y="682"/>
                    <a:pt x="1050" y="682"/>
                    <a:pt x="1067" y="682"/>
                  </a:cubicBezTo>
                  <a:cubicBezTo>
                    <a:pt x="1067" y="688"/>
                    <a:pt x="1067" y="692"/>
                    <a:pt x="1067" y="696"/>
                  </a:cubicBezTo>
                  <a:close/>
                  <a:moveTo>
                    <a:pt x="240" y="637"/>
                  </a:moveTo>
                  <a:cubicBezTo>
                    <a:pt x="233" y="606"/>
                    <a:pt x="229" y="574"/>
                    <a:pt x="237" y="543"/>
                  </a:cubicBezTo>
                  <a:cubicBezTo>
                    <a:pt x="245" y="515"/>
                    <a:pt x="258" y="508"/>
                    <a:pt x="287" y="509"/>
                  </a:cubicBezTo>
                  <a:cubicBezTo>
                    <a:pt x="294" y="510"/>
                    <a:pt x="304" y="504"/>
                    <a:pt x="308" y="498"/>
                  </a:cubicBezTo>
                  <a:cubicBezTo>
                    <a:pt x="324" y="472"/>
                    <a:pt x="347" y="465"/>
                    <a:pt x="376" y="470"/>
                  </a:cubicBezTo>
                  <a:cubicBezTo>
                    <a:pt x="414" y="477"/>
                    <a:pt x="452" y="486"/>
                    <a:pt x="490" y="493"/>
                  </a:cubicBezTo>
                  <a:cubicBezTo>
                    <a:pt x="515" y="497"/>
                    <a:pt x="540" y="497"/>
                    <a:pt x="566" y="500"/>
                  </a:cubicBezTo>
                  <a:cubicBezTo>
                    <a:pt x="577" y="539"/>
                    <a:pt x="578" y="580"/>
                    <a:pt x="575" y="622"/>
                  </a:cubicBezTo>
                  <a:cubicBezTo>
                    <a:pt x="573" y="622"/>
                    <a:pt x="571" y="622"/>
                    <a:pt x="571" y="622"/>
                  </a:cubicBezTo>
                  <a:cubicBezTo>
                    <a:pt x="553" y="593"/>
                    <a:pt x="526" y="587"/>
                    <a:pt x="494" y="594"/>
                  </a:cubicBezTo>
                  <a:cubicBezTo>
                    <a:pt x="466" y="600"/>
                    <a:pt x="437" y="605"/>
                    <a:pt x="408" y="610"/>
                  </a:cubicBezTo>
                  <a:cubicBezTo>
                    <a:pt x="383" y="614"/>
                    <a:pt x="358" y="612"/>
                    <a:pt x="334" y="603"/>
                  </a:cubicBezTo>
                  <a:cubicBezTo>
                    <a:pt x="328" y="601"/>
                    <a:pt x="322" y="599"/>
                    <a:pt x="315" y="597"/>
                  </a:cubicBezTo>
                  <a:cubicBezTo>
                    <a:pt x="278" y="588"/>
                    <a:pt x="261" y="595"/>
                    <a:pt x="244" y="630"/>
                  </a:cubicBezTo>
                  <a:cubicBezTo>
                    <a:pt x="242" y="632"/>
                    <a:pt x="241" y="635"/>
                    <a:pt x="240" y="637"/>
                  </a:cubicBezTo>
                  <a:close/>
                  <a:moveTo>
                    <a:pt x="254" y="709"/>
                  </a:moveTo>
                  <a:cubicBezTo>
                    <a:pt x="254" y="705"/>
                    <a:pt x="254" y="701"/>
                    <a:pt x="255" y="698"/>
                  </a:cubicBezTo>
                  <a:cubicBezTo>
                    <a:pt x="264" y="680"/>
                    <a:pt x="274" y="663"/>
                    <a:pt x="283" y="645"/>
                  </a:cubicBezTo>
                  <a:cubicBezTo>
                    <a:pt x="287" y="636"/>
                    <a:pt x="293" y="635"/>
                    <a:pt x="301" y="637"/>
                  </a:cubicBezTo>
                  <a:cubicBezTo>
                    <a:pt x="318" y="642"/>
                    <a:pt x="335" y="648"/>
                    <a:pt x="353" y="651"/>
                  </a:cubicBezTo>
                  <a:cubicBezTo>
                    <a:pt x="394" y="658"/>
                    <a:pt x="433" y="649"/>
                    <a:pt x="473" y="641"/>
                  </a:cubicBezTo>
                  <a:cubicBezTo>
                    <a:pt x="485" y="638"/>
                    <a:pt x="498" y="636"/>
                    <a:pt x="511" y="633"/>
                  </a:cubicBezTo>
                  <a:cubicBezTo>
                    <a:pt x="523" y="631"/>
                    <a:pt x="532" y="636"/>
                    <a:pt x="536" y="647"/>
                  </a:cubicBezTo>
                  <a:cubicBezTo>
                    <a:pt x="545" y="669"/>
                    <a:pt x="552" y="691"/>
                    <a:pt x="546" y="715"/>
                  </a:cubicBezTo>
                  <a:cubicBezTo>
                    <a:pt x="534" y="762"/>
                    <a:pt x="515" y="805"/>
                    <a:pt x="477" y="838"/>
                  </a:cubicBezTo>
                  <a:cubicBezTo>
                    <a:pt x="455" y="857"/>
                    <a:pt x="430" y="867"/>
                    <a:pt x="401" y="870"/>
                  </a:cubicBezTo>
                  <a:cubicBezTo>
                    <a:pt x="358" y="866"/>
                    <a:pt x="325" y="845"/>
                    <a:pt x="299" y="812"/>
                  </a:cubicBezTo>
                  <a:cubicBezTo>
                    <a:pt x="275" y="782"/>
                    <a:pt x="261" y="747"/>
                    <a:pt x="254" y="709"/>
                  </a:cubicBezTo>
                  <a:close/>
                  <a:moveTo>
                    <a:pt x="379" y="1458"/>
                  </a:moveTo>
                  <a:cubicBezTo>
                    <a:pt x="379" y="1464"/>
                    <a:pt x="379" y="1470"/>
                    <a:pt x="379" y="1477"/>
                  </a:cubicBezTo>
                  <a:cubicBezTo>
                    <a:pt x="318" y="1477"/>
                    <a:pt x="258" y="1477"/>
                    <a:pt x="195" y="1477"/>
                  </a:cubicBezTo>
                  <a:cubicBezTo>
                    <a:pt x="195" y="1471"/>
                    <a:pt x="195" y="1466"/>
                    <a:pt x="195" y="1461"/>
                  </a:cubicBezTo>
                  <a:cubicBezTo>
                    <a:pt x="195" y="1366"/>
                    <a:pt x="195" y="1272"/>
                    <a:pt x="195" y="1178"/>
                  </a:cubicBezTo>
                  <a:cubicBezTo>
                    <a:pt x="195" y="1173"/>
                    <a:pt x="196" y="1169"/>
                    <a:pt x="195" y="1164"/>
                  </a:cubicBezTo>
                  <a:cubicBezTo>
                    <a:pt x="194" y="1153"/>
                    <a:pt x="187" y="1146"/>
                    <a:pt x="176" y="1145"/>
                  </a:cubicBezTo>
                  <a:cubicBezTo>
                    <a:pt x="163" y="1145"/>
                    <a:pt x="156" y="1152"/>
                    <a:pt x="154" y="1164"/>
                  </a:cubicBezTo>
                  <a:cubicBezTo>
                    <a:pt x="153" y="1169"/>
                    <a:pt x="154" y="1174"/>
                    <a:pt x="154" y="1179"/>
                  </a:cubicBezTo>
                  <a:cubicBezTo>
                    <a:pt x="154" y="1277"/>
                    <a:pt x="154" y="1376"/>
                    <a:pt x="154" y="1476"/>
                  </a:cubicBezTo>
                  <a:cubicBezTo>
                    <a:pt x="120" y="1476"/>
                    <a:pt x="87" y="1476"/>
                    <a:pt x="52" y="1476"/>
                  </a:cubicBezTo>
                  <a:cubicBezTo>
                    <a:pt x="51" y="1460"/>
                    <a:pt x="50" y="1443"/>
                    <a:pt x="50" y="1426"/>
                  </a:cubicBezTo>
                  <a:cubicBezTo>
                    <a:pt x="49" y="1320"/>
                    <a:pt x="49" y="1214"/>
                    <a:pt x="49" y="1108"/>
                  </a:cubicBezTo>
                  <a:cubicBezTo>
                    <a:pt x="49" y="1097"/>
                    <a:pt x="51" y="1087"/>
                    <a:pt x="52" y="1077"/>
                  </a:cubicBezTo>
                  <a:cubicBezTo>
                    <a:pt x="57" y="1041"/>
                    <a:pt x="80" y="1019"/>
                    <a:pt x="112" y="1008"/>
                  </a:cubicBezTo>
                  <a:cubicBezTo>
                    <a:pt x="146" y="995"/>
                    <a:pt x="182" y="987"/>
                    <a:pt x="217" y="974"/>
                  </a:cubicBezTo>
                  <a:cubicBezTo>
                    <a:pt x="246" y="964"/>
                    <a:pt x="270" y="963"/>
                    <a:pt x="292" y="990"/>
                  </a:cubicBezTo>
                  <a:cubicBezTo>
                    <a:pt x="310" y="1011"/>
                    <a:pt x="336" y="1022"/>
                    <a:pt x="363" y="1026"/>
                  </a:cubicBezTo>
                  <a:cubicBezTo>
                    <a:pt x="378" y="1029"/>
                    <a:pt x="380" y="1035"/>
                    <a:pt x="380" y="1048"/>
                  </a:cubicBezTo>
                  <a:cubicBezTo>
                    <a:pt x="379" y="1185"/>
                    <a:pt x="379" y="1322"/>
                    <a:pt x="379" y="1458"/>
                  </a:cubicBezTo>
                  <a:close/>
                  <a:moveTo>
                    <a:pt x="304" y="945"/>
                  </a:moveTo>
                  <a:cubicBezTo>
                    <a:pt x="315" y="929"/>
                    <a:pt x="326" y="914"/>
                    <a:pt x="338" y="896"/>
                  </a:cubicBezTo>
                  <a:cubicBezTo>
                    <a:pt x="379" y="916"/>
                    <a:pt x="421" y="917"/>
                    <a:pt x="462" y="896"/>
                  </a:cubicBezTo>
                  <a:cubicBezTo>
                    <a:pt x="474" y="913"/>
                    <a:pt x="485" y="928"/>
                    <a:pt x="497" y="944"/>
                  </a:cubicBezTo>
                  <a:cubicBezTo>
                    <a:pt x="451" y="1004"/>
                    <a:pt x="357" y="1004"/>
                    <a:pt x="304" y="945"/>
                  </a:cubicBezTo>
                  <a:close/>
                  <a:moveTo>
                    <a:pt x="795" y="1103"/>
                  </a:moveTo>
                  <a:cubicBezTo>
                    <a:pt x="754" y="1117"/>
                    <a:pt x="714" y="1124"/>
                    <a:pt x="673" y="1127"/>
                  </a:cubicBezTo>
                  <a:cubicBezTo>
                    <a:pt x="630" y="1130"/>
                    <a:pt x="606" y="1155"/>
                    <a:pt x="606" y="1198"/>
                  </a:cubicBezTo>
                  <a:cubicBezTo>
                    <a:pt x="606" y="1285"/>
                    <a:pt x="606" y="1373"/>
                    <a:pt x="606" y="1460"/>
                  </a:cubicBezTo>
                  <a:cubicBezTo>
                    <a:pt x="606" y="1465"/>
                    <a:pt x="606" y="1471"/>
                    <a:pt x="606" y="1477"/>
                  </a:cubicBezTo>
                  <a:cubicBezTo>
                    <a:pt x="544" y="1477"/>
                    <a:pt x="484" y="1477"/>
                    <a:pt x="422" y="1477"/>
                  </a:cubicBezTo>
                  <a:cubicBezTo>
                    <a:pt x="422" y="1471"/>
                    <a:pt x="421" y="1466"/>
                    <a:pt x="421" y="1461"/>
                  </a:cubicBezTo>
                  <a:cubicBezTo>
                    <a:pt x="421" y="1323"/>
                    <a:pt x="422" y="1184"/>
                    <a:pt x="421" y="1046"/>
                  </a:cubicBezTo>
                  <a:cubicBezTo>
                    <a:pt x="421" y="1035"/>
                    <a:pt x="423" y="1029"/>
                    <a:pt x="436" y="1027"/>
                  </a:cubicBezTo>
                  <a:cubicBezTo>
                    <a:pt x="473" y="1020"/>
                    <a:pt x="503" y="1001"/>
                    <a:pt x="528" y="973"/>
                  </a:cubicBezTo>
                  <a:cubicBezTo>
                    <a:pt x="535" y="965"/>
                    <a:pt x="541" y="964"/>
                    <a:pt x="551" y="967"/>
                  </a:cubicBezTo>
                  <a:cubicBezTo>
                    <a:pt x="610" y="983"/>
                    <a:pt x="670" y="992"/>
                    <a:pt x="731" y="985"/>
                  </a:cubicBezTo>
                  <a:cubicBezTo>
                    <a:pt x="812" y="976"/>
                    <a:pt x="875" y="936"/>
                    <a:pt x="923" y="873"/>
                  </a:cubicBezTo>
                  <a:cubicBezTo>
                    <a:pt x="943" y="847"/>
                    <a:pt x="960" y="820"/>
                    <a:pt x="976" y="793"/>
                  </a:cubicBezTo>
                  <a:cubicBezTo>
                    <a:pt x="995" y="763"/>
                    <a:pt x="1030" y="758"/>
                    <a:pt x="1056" y="784"/>
                  </a:cubicBezTo>
                  <a:cubicBezTo>
                    <a:pt x="1068" y="796"/>
                    <a:pt x="1074" y="812"/>
                    <a:pt x="1065" y="829"/>
                  </a:cubicBezTo>
                  <a:cubicBezTo>
                    <a:pt x="1044" y="868"/>
                    <a:pt x="1022" y="906"/>
                    <a:pt x="1000" y="944"/>
                  </a:cubicBezTo>
                  <a:cubicBezTo>
                    <a:pt x="998" y="948"/>
                    <a:pt x="991" y="950"/>
                    <a:pt x="986" y="950"/>
                  </a:cubicBezTo>
                  <a:cubicBezTo>
                    <a:pt x="965" y="952"/>
                    <a:pt x="960" y="955"/>
                    <a:pt x="956" y="977"/>
                  </a:cubicBezTo>
                  <a:cubicBezTo>
                    <a:pt x="955" y="980"/>
                    <a:pt x="954" y="983"/>
                    <a:pt x="954" y="986"/>
                  </a:cubicBezTo>
                  <a:cubicBezTo>
                    <a:pt x="955" y="1010"/>
                    <a:pt x="938" y="1016"/>
                    <a:pt x="920" y="1022"/>
                  </a:cubicBezTo>
                  <a:cubicBezTo>
                    <a:pt x="916" y="1023"/>
                    <a:pt x="910" y="1021"/>
                    <a:pt x="906" y="1019"/>
                  </a:cubicBezTo>
                  <a:cubicBezTo>
                    <a:pt x="897" y="1014"/>
                    <a:pt x="889" y="1007"/>
                    <a:pt x="880" y="1002"/>
                  </a:cubicBezTo>
                  <a:cubicBezTo>
                    <a:pt x="870" y="995"/>
                    <a:pt x="859" y="996"/>
                    <a:pt x="850" y="1005"/>
                  </a:cubicBezTo>
                  <a:cubicBezTo>
                    <a:pt x="831" y="1024"/>
                    <a:pt x="812" y="1044"/>
                    <a:pt x="792" y="1063"/>
                  </a:cubicBezTo>
                  <a:cubicBezTo>
                    <a:pt x="778" y="1076"/>
                    <a:pt x="785" y="1089"/>
                    <a:pt x="795" y="1103"/>
                  </a:cubicBezTo>
                  <a:close/>
                  <a:moveTo>
                    <a:pt x="1264" y="1263"/>
                  </a:moveTo>
                  <a:cubicBezTo>
                    <a:pt x="1232" y="1262"/>
                    <a:pt x="1213" y="1276"/>
                    <a:pt x="1200" y="1308"/>
                  </a:cubicBezTo>
                  <a:cubicBezTo>
                    <a:pt x="1188" y="1339"/>
                    <a:pt x="1187" y="1363"/>
                    <a:pt x="1212" y="1385"/>
                  </a:cubicBezTo>
                  <a:cubicBezTo>
                    <a:pt x="1198" y="1398"/>
                    <a:pt x="1186" y="1410"/>
                    <a:pt x="1172" y="1424"/>
                  </a:cubicBezTo>
                  <a:cubicBezTo>
                    <a:pt x="1151" y="1402"/>
                    <a:pt x="1127" y="1400"/>
                    <a:pt x="1096" y="1413"/>
                  </a:cubicBezTo>
                  <a:cubicBezTo>
                    <a:pt x="1065" y="1426"/>
                    <a:pt x="1048" y="1443"/>
                    <a:pt x="1051" y="1477"/>
                  </a:cubicBezTo>
                  <a:cubicBezTo>
                    <a:pt x="1031" y="1477"/>
                    <a:pt x="1014" y="1477"/>
                    <a:pt x="995" y="1477"/>
                  </a:cubicBezTo>
                  <a:cubicBezTo>
                    <a:pt x="995" y="1446"/>
                    <a:pt x="981" y="1426"/>
                    <a:pt x="949" y="1413"/>
                  </a:cubicBezTo>
                  <a:cubicBezTo>
                    <a:pt x="919" y="1402"/>
                    <a:pt x="894" y="1400"/>
                    <a:pt x="871" y="1426"/>
                  </a:cubicBezTo>
                  <a:cubicBezTo>
                    <a:pt x="857" y="1412"/>
                    <a:pt x="845" y="1400"/>
                    <a:pt x="832" y="1386"/>
                  </a:cubicBezTo>
                  <a:cubicBezTo>
                    <a:pt x="855" y="1364"/>
                    <a:pt x="857" y="1340"/>
                    <a:pt x="844" y="1309"/>
                  </a:cubicBezTo>
                  <a:cubicBezTo>
                    <a:pt x="831" y="1278"/>
                    <a:pt x="813" y="1262"/>
                    <a:pt x="780" y="1263"/>
                  </a:cubicBezTo>
                  <a:cubicBezTo>
                    <a:pt x="780" y="1244"/>
                    <a:pt x="780" y="1227"/>
                    <a:pt x="780" y="1207"/>
                  </a:cubicBezTo>
                  <a:cubicBezTo>
                    <a:pt x="814" y="1209"/>
                    <a:pt x="831" y="1192"/>
                    <a:pt x="844" y="1161"/>
                  </a:cubicBezTo>
                  <a:cubicBezTo>
                    <a:pt x="856" y="1131"/>
                    <a:pt x="857" y="1107"/>
                    <a:pt x="832" y="1085"/>
                  </a:cubicBezTo>
                  <a:cubicBezTo>
                    <a:pt x="846" y="1072"/>
                    <a:pt x="859" y="1061"/>
                    <a:pt x="873" y="1047"/>
                  </a:cubicBezTo>
                  <a:cubicBezTo>
                    <a:pt x="893" y="1067"/>
                    <a:pt x="916" y="1071"/>
                    <a:pt x="948" y="1057"/>
                  </a:cubicBezTo>
                  <a:cubicBezTo>
                    <a:pt x="979" y="1044"/>
                    <a:pt x="995" y="1027"/>
                    <a:pt x="994" y="993"/>
                  </a:cubicBezTo>
                  <a:cubicBezTo>
                    <a:pt x="1013" y="993"/>
                    <a:pt x="1030" y="993"/>
                    <a:pt x="1050" y="993"/>
                  </a:cubicBezTo>
                  <a:cubicBezTo>
                    <a:pt x="1049" y="1026"/>
                    <a:pt x="1064" y="1044"/>
                    <a:pt x="1095" y="1057"/>
                  </a:cubicBezTo>
                  <a:cubicBezTo>
                    <a:pt x="1127" y="1069"/>
                    <a:pt x="1150" y="1069"/>
                    <a:pt x="1173" y="1045"/>
                  </a:cubicBezTo>
                  <a:cubicBezTo>
                    <a:pt x="1187" y="1058"/>
                    <a:pt x="1199" y="1071"/>
                    <a:pt x="1212" y="1084"/>
                  </a:cubicBezTo>
                  <a:cubicBezTo>
                    <a:pt x="1188" y="1107"/>
                    <a:pt x="1187" y="1131"/>
                    <a:pt x="1200" y="1162"/>
                  </a:cubicBezTo>
                  <a:cubicBezTo>
                    <a:pt x="1213" y="1192"/>
                    <a:pt x="1230" y="1209"/>
                    <a:pt x="1264" y="1207"/>
                  </a:cubicBezTo>
                  <a:cubicBezTo>
                    <a:pt x="1264" y="1226"/>
                    <a:pt x="1264" y="1243"/>
                    <a:pt x="1264" y="1263"/>
                  </a:cubicBezTo>
                  <a:close/>
                  <a:moveTo>
                    <a:pt x="1360" y="444"/>
                  </a:moveTo>
                  <a:cubicBezTo>
                    <a:pt x="1343" y="433"/>
                    <a:pt x="1326" y="423"/>
                    <a:pt x="1309" y="414"/>
                  </a:cubicBezTo>
                  <a:cubicBezTo>
                    <a:pt x="1295" y="407"/>
                    <a:pt x="1280" y="417"/>
                    <a:pt x="1279" y="435"/>
                  </a:cubicBezTo>
                  <a:cubicBezTo>
                    <a:pt x="1281" y="438"/>
                    <a:pt x="1283" y="446"/>
                    <a:pt x="1288" y="449"/>
                  </a:cubicBezTo>
                  <a:cubicBezTo>
                    <a:pt x="1305" y="460"/>
                    <a:pt x="1322" y="471"/>
                    <a:pt x="1341" y="480"/>
                  </a:cubicBezTo>
                  <a:cubicBezTo>
                    <a:pt x="1351" y="485"/>
                    <a:pt x="1361" y="481"/>
                    <a:pt x="1367" y="470"/>
                  </a:cubicBezTo>
                  <a:cubicBezTo>
                    <a:pt x="1372" y="460"/>
                    <a:pt x="1370" y="450"/>
                    <a:pt x="1360" y="444"/>
                  </a:cubicBezTo>
                  <a:close/>
                  <a:moveTo>
                    <a:pt x="1402" y="238"/>
                  </a:moveTo>
                  <a:cubicBezTo>
                    <a:pt x="1393" y="237"/>
                    <a:pt x="1384" y="238"/>
                    <a:pt x="1375" y="238"/>
                  </a:cubicBezTo>
                  <a:cubicBezTo>
                    <a:pt x="1365" y="238"/>
                    <a:pt x="1356" y="237"/>
                    <a:pt x="1347" y="238"/>
                  </a:cubicBezTo>
                  <a:cubicBezTo>
                    <a:pt x="1334" y="238"/>
                    <a:pt x="1327" y="245"/>
                    <a:pt x="1326" y="257"/>
                  </a:cubicBezTo>
                  <a:cubicBezTo>
                    <a:pt x="1325" y="268"/>
                    <a:pt x="1333" y="279"/>
                    <a:pt x="1346" y="279"/>
                  </a:cubicBezTo>
                  <a:cubicBezTo>
                    <a:pt x="1365" y="280"/>
                    <a:pt x="1384" y="280"/>
                    <a:pt x="1404" y="279"/>
                  </a:cubicBezTo>
                  <a:cubicBezTo>
                    <a:pt x="1416" y="278"/>
                    <a:pt x="1424" y="270"/>
                    <a:pt x="1423" y="257"/>
                  </a:cubicBezTo>
                  <a:cubicBezTo>
                    <a:pt x="1423" y="244"/>
                    <a:pt x="1415" y="238"/>
                    <a:pt x="140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3D54E4-6C35-1005-E747-049572061E2E}"/>
              </a:ext>
            </a:extLst>
          </p:cNvPr>
          <p:cNvGrpSpPr/>
          <p:nvPr/>
        </p:nvGrpSpPr>
        <p:grpSpPr>
          <a:xfrm>
            <a:off x="695324" y="2202819"/>
            <a:ext cx="5579323" cy="1461982"/>
            <a:chOff x="695324" y="3474360"/>
            <a:chExt cx="5579323" cy="146198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32A3B6-774F-086B-80AB-BA1CD812C41A}"/>
                </a:ext>
              </a:extLst>
            </p:cNvPr>
            <p:cNvSpPr/>
            <p:nvPr/>
          </p:nvSpPr>
          <p:spPr>
            <a:xfrm>
              <a:off x="695324" y="4074568"/>
              <a:ext cx="3919707" cy="86177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s-ES_tradnl" sz="1400" noProof="1">
                  <a:latin typeface="Segoe UI" panose="020B0502040204020203" pitchFamily="34" charset="0"/>
                  <a:cs typeface="Segoe UI" panose="020B0502040204020203" pitchFamily="34" charset="0"/>
                </a:rPr>
                <a:t>El Clúster 0 concentra la mayor carga energética relativa (5%) con el menor ingreso, lo que evidencia que la vulnerabilidad responde a la relación gasto-ingreso y no al acceso energético.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3D40CF-F8D2-237F-3AC2-2FC685185703}"/>
                </a:ext>
              </a:extLst>
            </p:cNvPr>
            <p:cNvSpPr txBox="1"/>
            <p:nvPr/>
          </p:nvSpPr>
          <p:spPr>
            <a:xfrm>
              <a:off x="695324" y="3474360"/>
              <a:ext cx="5579323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6000" b="0">
                  <a:solidFill>
                    <a:schemeClr val="bg1"/>
                  </a:solidFill>
                  <a:latin typeface="+mj-lt"/>
                </a:defRPr>
              </a:lvl1pPr>
            </a:lstStyle>
            <a:p>
              <a:r>
                <a:rPr lang="es-ES_tradnl" sz="2400" b="1" noProof="1">
                  <a:solidFill>
                    <a:schemeClr val="accent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Carga sin acceso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593F2F-EAFE-E832-EA52-5CE04BD819BD}"/>
              </a:ext>
            </a:extLst>
          </p:cNvPr>
          <p:cNvGrpSpPr/>
          <p:nvPr/>
        </p:nvGrpSpPr>
        <p:grpSpPr>
          <a:xfrm>
            <a:off x="3098718" y="4183840"/>
            <a:ext cx="2100656" cy="2051403"/>
            <a:chOff x="3098718" y="4183840"/>
            <a:chExt cx="2100656" cy="205140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9C9254-DCAD-EB81-1966-C4A05FE54164}"/>
                </a:ext>
              </a:extLst>
            </p:cNvPr>
            <p:cNvSpPr txBox="1"/>
            <p:nvPr/>
          </p:nvSpPr>
          <p:spPr>
            <a:xfrm>
              <a:off x="3098719" y="5373469"/>
              <a:ext cx="2100655" cy="86177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4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s-EC" dirty="0"/>
                <a:t>La vulnerabilidad se explica por la relación entre gasto e ingreso, no por el acceso a la energía.</a:t>
              </a:r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B136446C-F296-F4C3-E725-3111DE4291B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98718" y="4183840"/>
              <a:ext cx="440547" cy="441664"/>
            </a:xfrm>
            <a:custGeom>
              <a:avLst/>
              <a:gdLst>
                <a:gd name="T0" fmla="*/ 194 w 197"/>
                <a:gd name="T1" fmla="*/ 2 h 197"/>
                <a:gd name="T2" fmla="*/ 191 w 197"/>
                <a:gd name="T3" fmla="*/ 0 h 197"/>
                <a:gd name="T4" fmla="*/ 187 w 197"/>
                <a:gd name="T5" fmla="*/ 2 h 197"/>
                <a:gd name="T6" fmla="*/ 3 w 197"/>
                <a:gd name="T7" fmla="*/ 123 h 197"/>
                <a:gd name="T8" fmla="*/ 0 w 197"/>
                <a:gd name="T9" fmla="*/ 130 h 197"/>
                <a:gd name="T10" fmla="*/ 3 w 197"/>
                <a:gd name="T11" fmla="*/ 134 h 197"/>
                <a:gd name="T12" fmla="*/ 51 w 197"/>
                <a:gd name="T13" fmla="*/ 154 h 197"/>
                <a:gd name="T14" fmla="*/ 74 w 197"/>
                <a:gd name="T15" fmla="*/ 194 h 197"/>
                <a:gd name="T16" fmla="*/ 80 w 197"/>
                <a:gd name="T17" fmla="*/ 197 h 197"/>
                <a:gd name="T18" fmla="*/ 85 w 197"/>
                <a:gd name="T19" fmla="*/ 194 h 197"/>
                <a:gd name="T20" fmla="*/ 98 w 197"/>
                <a:gd name="T21" fmla="*/ 171 h 197"/>
                <a:gd name="T22" fmla="*/ 157 w 197"/>
                <a:gd name="T23" fmla="*/ 195 h 197"/>
                <a:gd name="T24" fmla="*/ 160 w 197"/>
                <a:gd name="T25" fmla="*/ 197 h 197"/>
                <a:gd name="T26" fmla="*/ 162 w 197"/>
                <a:gd name="T27" fmla="*/ 195 h 197"/>
                <a:gd name="T28" fmla="*/ 165 w 197"/>
                <a:gd name="T29" fmla="*/ 190 h 197"/>
                <a:gd name="T30" fmla="*/ 197 w 197"/>
                <a:gd name="T31" fmla="*/ 6 h 197"/>
                <a:gd name="T32" fmla="*/ 194 w 197"/>
                <a:gd name="T33" fmla="*/ 2 h 197"/>
                <a:gd name="T34" fmla="*/ 56 w 197"/>
                <a:gd name="T35" fmla="*/ 142 h 197"/>
                <a:gd name="T36" fmla="*/ 19 w 197"/>
                <a:gd name="T37" fmla="*/ 128 h 197"/>
                <a:gd name="T38" fmla="*/ 162 w 197"/>
                <a:gd name="T39" fmla="*/ 32 h 197"/>
                <a:gd name="T40" fmla="*/ 58 w 197"/>
                <a:gd name="T41" fmla="*/ 142 h 197"/>
                <a:gd name="T42" fmla="*/ 56 w 197"/>
                <a:gd name="T43" fmla="*/ 142 h 197"/>
                <a:gd name="T44" fmla="*/ 155 w 197"/>
                <a:gd name="T45" fmla="*/ 181 h 197"/>
                <a:gd name="T46" fmla="*/ 103 w 197"/>
                <a:gd name="T47" fmla="*/ 160 h 197"/>
                <a:gd name="T48" fmla="*/ 98 w 197"/>
                <a:gd name="T49" fmla="*/ 160 h 197"/>
                <a:gd name="T50" fmla="*/ 179 w 197"/>
                <a:gd name="T51" fmla="*/ 35 h 197"/>
                <a:gd name="T52" fmla="*/ 155 w 197"/>
                <a:gd name="T53" fmla="*/ 181 h 197"/>
                <a:gd name="T54" fmla="*/ 80 w 197"/>
                <a:gd name="T55" fmla="*/ 178 h 197"/>
                <a:gd name="T56" fmla="*/ 62 w 197"/>
                <a:gd name="T57" fmla="*/ 147 h 197"/>
                <a:gd name="T58" fmla="*/ 179 w 197"/>
                <a:gd name="T59" fmla="*/ 22 h 197"/>
                <a:gd name="T60" fmla="*/ 80 w 197"/>
                <a:gd name="T61" fmla="*/ 17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7" h="197">
                  <a:moveTo>
                    <a:pt x="194" y="2"/>
                  </a:moveTo>
                  <a:cubicBezTo>
                    <a:pt x="192" y="0"/>
                    <a:pt x="191" y="0"/>
                    <a:pt x="191" y="0"/>
                  </a:cubicBezTo>
                  <a:cubicBezTo>
                    <a:pt x="189" y="0"/>
                    <a:pt x="187" y="0"/>
                    <a:pt x="187" y="2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0" y="125"/>
                    <a:pt x="0" y="126"/>
                    <a:pt x="0" y="130"/>
                  </a:cubicBezTo>
                  <a:cubicBezTo>
                    <a:pt x="0" y="131"/>
                    <a:pt x="2" y="133"/>
                    <a:pt x="3" y="134"/>
                  </a:cubicBezTo>
                  <a:cubicBezTo>
                    <a:pt x="51" y="154"/>
                    <a:pt x="51" y="154"/>
                    <a:pt x="51" y="154"/>
                  </a:cubicBezTo>
                  <a:cubicBezTo>
                    <a:pt x="74" y="194"/>
                    <a:pt x="74" y="194"/>
                    <a:pt x="74" y="194"/>
                  </a:cubicBezTo>
                  <a:cubicBezTo>
                    <a:pt x="75" y="195"/>
                    <a:pt x="77" y="197"/>
                    <a:pt x="80" y="197"/>
                  </a:cubicBezTo>
                  <a:cubicBezTo>
                    <a:pt x="82" y="197"/>
                    <a:pt x="83" y="195"/>
                    <a:pt x="85" y="194"/>
                  </a:cubicBezTo>
                  <a:cubicBezTo>
                    <a:pt x="98" y="171"/>
                    <a:pt x="98" y="171"/>
                    <a:pt x="98" y="171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9" y="197"/>
                    <a:pt x="159" y="197"/>
                    <a:pt x="160" y="197"/>
                  </a:cubicBezTo>
                  <a:cubicBezTo>
                    <a:pt x="162" y="195"/>
                    <a:pt x="162" y="195"/>
                    <a:pt x="162" y="195"/>
                  </a:cubicBezTo>
                  <a:cubicBezTo>
                    <a:pt x="163" y="195"/>
                    <a:pt x="165" y="194"/>
                    <a:pt x="165" y="190"/>
                  </a:cubicBezTo>
                  <a:cubicBezTo>
                    <a:pt x="197" y="6"/>
                    <a:pt x="197" y="6"/>
                    <a:pt x="197" y="6"/>
                  </a:cubicBezTo>
                  <a:cubicBezTo>
                    <a:pt x="197" y="5"/>
                    <a:pt x="196" y="2"/>
                    <a:pt x="194" y="2"/>
                  </a:cubicBezTo>
                  <a:close/>
                  <a:moveTo>
                    <a:pt x="56" y="142"/>
                  </a:moveTo>
                  <a:cubicBezTo>
                    <a:pt x="19" y="128"/>
                    <a:pt x="19" y="128"/>
                    <a:pt x="19" y="128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58" y="142"/>
                    <a:pt x="58" y="142"/>
                    <a:pt x="58" y="142"/>
                  </a:cubicBezTo>
                  <a:lnTo>
                    <a:pt x="56" y="142"/>
                  </a:lnTo>
                  <a:close/>
                  <a:moveTo>
                    <a:pt x="155" y="181"/>
                  </a:moveTo>
                  <a:cubicBezTo>
                    <a:pt x="103" y="160"/>
                    <a:pt x="103" y="160"/>
                    <a:pt x="103" y="160"/>
                  </a:cubicBezTo>
                  <a:cubicBezTo>
                    <a:pt x="98" y="160"/>
                    <a:pt x="98" y="160"/>
                    <a:pt x="98" y="160"/>
                  </a:cubicBezTo>
                  <a:cubicBezTo>
                    <a:pt x="179" y="35"/>
                    <a:pt x="179" y="35"/>
                    <a:pt x="179" y="35"/>
                  </a:cubicBezTo>
                  <a:lnTo>
                    <a:pt x="155" y="181"/>
                  </a:lnTo>
                  <a:close/>
                  <a:moveTo>
                    <a:pt x="80" y="178"/>
                  </a:moveTo>
                  <a:cubicBezTo>
                    <a:pt x="62" y="147"/>
                    <a:pt x="62" y="147"/>
                    <a:pt x="62" y="147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80" y="178"/>
                    <a:pt x="80" y="178"/>
                    <a:pt x="80" y="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0A4828C-8BFD-940B-D01B-0EF1EC0CB1B7}"/>
                </a:ext>
              </a:extLst>
            </p:cNvPr>
            <p:cNvSpPr txBox="1"/>
            <p:nvPr/>
          </p:nvSpPr>
          <p:spPr>
            <a:xfrm>
              <a:off x="3098719" y="4939744"/>
              <a:ext cx="1778330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4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s-ES_tradnl" sz="1800" b="1" noProof="1"/>
                <a:t>Categóricas</a:t>
              </a:r>
              <a:endParaRPr lang="en-US" sz="1800" b="1" dirty="0"/>
            </a:p>
          </p:txBody>
        </p:sp>
      </p:grp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D84142D-3B8E-DE87-2D8D-E5585D41C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004515"/>
              </p:ext>
            </p:extLst>
          </p:nvPr>
        </p:nvGraphicFramePr>
        <p:xfrm>
          <a:off x="5096744" y="2222750"/>
          <a:ext cx="7010400" cy="13011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84564614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2667245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396739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8026723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503406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 dirty="0">
                          <a:effectLst/>
                        </a:rPr>
                        <a:t>Clúster</a:t>
                      </a:r>
                      <a:endParaRPr lang="es-EC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Proporción del gasto</a:t>
                      </a:r>
                      <a:br>
                        <a:rPr lang="es-EC" sz="1200" u="none" strike="noStrike">
                          <a:effectLst/>
                        </a:rPr>
                      </a:br>
                      <a:r>
                        <a:rPr lang="es-EC" sz="1200" u="none" strike="noStrike">
                          <a:effectLst/>
                        </a:rPr>
                        <a:t>energético sobre el</a:t>
                      </a:r>
                      <a:br>
                        <a:rPr lang="es-EC" sz="1200" u="none" strike="noStrike">
                          <a:effectLst/>
                        </a:rPr>
                      </a:br>
                      <a:r>
                        <a:rPr lang="es-EC" sz="1200" u="none" strike="noStrike">
                          <a:effectLst/>
                        </a:rPr>
                        <a:t>gasto total del hogar</a:t>
                      </a:r>
                      <a:endParaRPr lang="es-EC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Gasto total bruto</a:t>
                      </a:r>
                      <a:br>
                        <a:rPr lang="es-EC" sz="1200" u="none" strike="noStrike">
                          <a:effectLst/>
                        </a:rPr>
                      </a:br>
                      <a:r>
                        <a:rPr lang="es-EC" sz="1200" u="none" strike="noStrike">
                          <a:effectLst/>
                        </a:rPr>
                        <a:t>del hogar (S/, anual)</a:t>
                      </a:r>
                      <a:endParaRPr lang="es-EC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Ingreso total bruto</a:t>
                      </a:r>
                      <a:br>
                        <a:rPr lang="es-EC" sz="1200" u="none" strike="noStrike">
                          <a:effectLst/>
                        </a:rPr>
                      </a:br>
                      <a:r>
                        <a:rPr lang="es-EC" sz="1200" u="none" strike="noStrike">
                          <a:effectLst/>
                        </a:rPr>
                        <a:t>del hogar (S/, anual)</a:t>
                      </a:r>
                      <a:endParaRPr lang="es-EC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N° de miembros</a:t>
                      </a:r>
                      <a:br>
                        <a:rPr lang="es-EC" sz="1200" u="none" strike="noStrike">
                          <a:effectLst/>
                        </a:rPr>
                      </a:br>
                      <a:r>
                        <a:rPr lang="es-EC" sz="1200" u="none" strike="noStrike">
                          <a:effectLst/>
                        </a:rPr>
                        <a:t>del hogar</a:t>
                      </a:r>
                      <a:endParaRPr lang="es-EC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433297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Clúster 0</a:t>
                      </a:r>
                      <a:endParaRPr lang="es-EC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0,05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17709,394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20725,52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2,097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16167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Clúster 1</a:t>
                      </a:r>
                      <a:endParaRPr lang="es-EC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0,029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75831,455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116601,394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4,68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221033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Clúster 2</a:t>
                      </a:r>
                      <a:endParaRPr lang="es-EC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0,033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34365,4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42364,704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 dirty="0">
                          <a:effectLst/>
                        </a:rPr>
                        <a:t>4,27</a:t>
                      </a:r>
                      <a:endParaRPr lang="es-EC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0800960"/>
                  </a:ext>
                </a:extLst>
              </a:tr>
            </a:tbl>
          </a:graphicData>
        </a:graphic>
      </p:graphicFrame>
      <p:sp>
        <p:nvSpPr>
          <p:cNvPr id="11" name="TextBox 9">
            <a:extLst>
              <a:ext uri="{FF2B5EF4-FFF2-40B4-BE49-F238E27FC236}">
                <a16:creationId xmlns:a16="http://schemas.microsoft.com/office/drawing/2014/main" id="{0AD748DD-5FB3-2B4A-17F7-78077DF93E14}"/>
              </a:ext>
            </a:extLst>
          </p:cNvPr>
          <p:cNvSpPr txBox="1"/>
          <p:nvPr/>
        </p:nvSpPr>
        <p:spPr>
          <a:xfrm>
            <a:off x="5096745" y="1844834"/>
            <a:ext cx="7010400" cy="261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s-EC" sz="1700" b="1" dirty="0"/>
              <a:t>Media de las variables numéricas del modelo de cada uno de los 3 clústeres</a:t>
            </a:r>
            <a:endParaRPr lang="en-US" sz="17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92370C2B-915A-53B9-E8C0-494D47ED2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352710"/>
              </p:ext>
            </p:extLst>
          </p:nvPr>
        </p:nvGraphicFramePr>
        <p:xfrm>
          <a:off x="5120784" y="4179433"/>
          <a:ext cx="6986359" cy="120015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111466">
                  <a:extLst>
                    <a:ext uri="{9D8B030D-6E8A-4147-A177-3AD203B41FA5}">
                      <a16:colId xmlns:a16="http://schemas.microsoft.com/office/drawing/2014/main" val="1936152558"/>
                    </a:ext>
                  </a:extLst>
                </a:gridCol>
                <a:gridCol w="1429028">
                  <a:extLst>
                    <a:ext uri="{9D8B030D-6E8A-4147-A177-3AD203B41FA5}">
                      <a16:colId xmlns:a16="http://schemas.microsoft.com/office/drawing/2014/main" val="4088785563"/>
                    </a:ext>
                  </a:extLst>
                </a:gridCol>
                <a:gridCol w="1270247">
                  <a:extLst>
                    <a:ext uri="{9D8B030D-6E8A-4147-A177-3AD203B41FA5}">
                      <a16:colId xmlns:a16="http://schemas.microsoft.com/office/drawing/2014/main" val="761929097"/>
                    </a:ext>
                  </a:extLst>
                </a:gridCol>
                <a:gridCol w="1429028">
                  <a:extLst>
                    <a:ext uri="{9D8B030D-6E8A-4147-A177-3AD203B41FA5}">
                      <a16:colId xmlns:a16="http://schemas.microsoft.com/office/drawing/2014/main" val="3561154793"/>
                    </a:ext>
                  </a:extLst>
                </a:gridCol>
                <a:gridCol w="1746590">
                  <a:extLst>
                    <a:ext uri="{9D8B030D-6E8A-4147-A177-3AD203B41FA5}">
                      <a16:colId xmlns:a16="http://schemas.microsoft.com/office/drawing/2014/main" val="166978635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 dirty="0">
                          <a:effectLst/>
                        </a:rPr>
                        <a:t>Clúster</a:t>
                      </a:r>
                      <a:endParaRPr lang="es-EC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Condición de</a:t>
                      </a:r>
                      <a:br>
                        <a:rPr lang="es-EC" sz="1200" u="none" strike="noStrike">
                          <a:effectLst/>
                        </a:rPr>
                      </a:br>
                      <a:r>
                        <a:rPr lang="es-EC" sz="1200" u="none" strike="noStrike">
                          <a:effectLst/>
                        </a:rPr>
                        <a:t>pobreza monetaria</a:t>
                      </a:r>
                      <a:endParaRPr lang="es-EC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Área urbana/rural</a:t>
                      </a:r>
                      <a:endParaRPr lang="es-EC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Alumbrado por</a:t>
                      </a:r>
                      <a:br>
                        <a:rPr lang="es-EC" sz="1200" u="none" strike="noStrike">
                          <a:effectLst/>
                        </a:rPr>
                      </a:br>
                      <a:r>
                        <a:rPr lang="es-EC" sz="1200" u="none" strike="noStrike">
                          <a:effectLst/>
                        </a:rPr>
                        <a:t>electricidad</a:t>
                      </a:r>
                      <a:endParaRPr lang="es-EC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Combustible de mayor</a:t>
                      </a:r>
                      <a:br>
                        <a:rPr lang="es-EC" sz="1200" u="none" strike="noStrike">
                          <a:effectLst/>
                        </a:rPr>
                      </a:br>
                      <a:r>
                        <a:rPr lang="es-EC" sz="1200" u="none" strike="noStrike">
                          <a:effectLst/>
                        </a:rPr>
                        <a:t>frecuencia para cocinar</a:t>
                      </a:r>
                      <a:endParaRPr lang="es-EC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475714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Clúster 0</a:t>
                      </a:r>
                      <a:endParaRPr lang="es-EC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No Pobre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Urbana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Electricidad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Gas GLP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4250671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Clúster 1</a:t>
                      </a:r>
                      <a:endParaRPr lang="es-EC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No Pobre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Urbana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Electricidad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Gas GLP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538144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Clúster 2</a:t>
                      </a:r>
                      <a:endParaRPr lang="es-EC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No Pobre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Urbana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>
                          <a:effectLst/>
                        </a:rPr>
                        <a:t>Electricidad</a:t>
                      </a:r>
                      <a:endParaRPr lang="es-EC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200" u="none" strike="noStrike" dirty="0">
                          <a:effectLst/>
                        </a:rPr>
                        <a:t>Gas GLP</a:t>
                      </a:r>
                      <a:endParaRPr lang="es-EC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345795"/>
                  </a:ext>
                </a:extLst>
              </a:tr>
            </a:tbl>
          </a:graphicData>
        </a:graphic>
      </p:graphicFrame>
      <p:sp>
        <p:nvSpPr>
          <p:cNvPr id="15" name="TextBox 9">
            <a:extLst>
              <a:ext uri="{FF2B5EF4-FFF2-40B4-BE49-F238E27FC236}">
                <a16:creationId xmlns:a16="http://schemas.microsoft.com/office/drawing/2014/main" id="{270057B3-A0BD-C94D-B559-4F8E30C336AC}"/>
              </a:ext>
            </a:extLst>
          </p:cNvPr>
          <p:cNvSpPr txBox="1"/>
          <p:nvPr/>
        </p:nvSpPr>
        <p:spPr>
          <a:xfrm>
            <a:off x="5138966" y="3839460"/>
            <a:ext cx="7010400" cy="261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s-EC" sz="1700" b="1" dirty="0"/>
              <a:t>Media de las variables numéricas del modelo de cada uno de los 3 clústeres</a:t>
            </a:r>
            <a:endParaRPr lang="en-US" sz="17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51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0000" decel="4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0000" decel="4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6" presetClass="entr" presetSubtype="4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accel="20000" decel="8000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accel="10000" decel="4000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accel="10000" decel="40000" fill="hold" nodeType="withEffect">
                                  <p:stCondLst>
                                    <p:cond delay="6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" grpId="0" animBg="1"/>
      <p:bldP spid="10" grpId="0" animBg="1"/>
      <p:bldP spid="2" grpId="0"/>
      <p:bldP spid="11" grpId="0"/>
      <p:bldP spid="11" grpId="1"/>
      <p:bldP spid="15" grpId="0"/>
      <p:bldP spid="1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66E71-8767-BD4A-1247-4AD08DEE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8E0A584-2ADC-9AB0-B329-094C577C8B3B}"/>
              </a:ext>
            </a:extLst>
          </p:cNvPr>
          <p:cNvSpPr txBox="1"/>
          <p:nvPr/>
        </p:nvSpPr>
        <p:spPr>
          <a:xfrm>
            <a:off x="1786673" y="3396581"/>
            <a:ext cx="3760692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s-ES_tradnl" sz="1400" noProof="1">
                <a:latin typeface="Calibri" panose="020F0502020204030204" pitchFamily="34" charset="0"/>
                <a:ea typeface="Atyp Display Light" panose="00000400000000000000" pitchFamily="2" charset="0"/>
                <a:cs typeface="Calibri" panose="020F0502020204030204" pitchFamily="34" charset="0"/>
              </a:rPr>
              <a:t>C0 agrupa hogares no pobres monetariamente (80,5%) pero con la mayor carga energética (5,1%), perfil invisible para el MEPI.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FBD8E5-1F4F-A85D-5293-768F92A0F3D0}"/>
              </a:ext>
            </a:extLst>
          </p:cNvPr>
          <p:cNvSpPr txBox="1"/>
          <p:nvPr/>
        </p:nvSpPr>
        <p:spPr>
          <a:xfrm>
            <a:off x="1786674" y="4281029"/>
            <a:ext cx="3760691" cy="95410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s-EC" sz="1400" dirty="0"/>
              <a:t>Las variables de acceso energético son casi idénticas entre los clústeres, lo que confirma que la vulnerabilidad se expresa en la asequibilidad, no en el acceso.</a:t>
            </a:r>
            <a:endParaRPr lang="en-US" sz="1400" dirty="0">
              <a:latin typeface="Segoe UI" panose="020B0502040204020203" pitchFamily="34" charset="0"/>
              <a:ea typeface="Atyp Display Light" panose="000004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0F6225-9F35-1A1D-7C92-CE19F8986283}"/>
              </a:ext>
            </a:extLst>
          </p:cNvPr>
          <p:cNvSpPr txBox="1"/>
          <p:nvPr/>
        </p:nvSpPr>
        <p:spPr>
          <a:xfrm>
            <a:off x="1786673" y="5333807"/>
            <a:ext cx="3755398" cy="95410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s-EC" sz="1400" dirty="0"/>
              <a:t>C2 presenta el mayor hacinamiento (7,1%) y la mayor dependencia económica (0,9%), lo que revela un segundo tipo de vulnerabilidad estructural que el MEPI tampoco distingue.</a:t>
            </a:r>
            <a:endParaRPr lang="en-US" sz="1400" dirty="0">
              <a:latin typeface="Segoe UI" panose="020B0502040204020203" pitchFamily="34" charset="0"/>
              <a:ea typeface="Atyp Display Light" panose="000004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573517-2C19-B61A-E5DD-0A08585072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960438"/>
            <a:ext cx="5256212" cy="838200"/>
          </a:xfrm>
        </p:spPr>
        <p:txBody>
          <a:bodyPr/>
          <a:lstStyle/>
          <a:p>
            <a:r>
              <a:rPr lang="es-ES_tradnl" noProof="1"/>
              <a:t>Perfiles de clústeres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8E0345-029E-BD6F-3EB4-DD748913F3F9}"/>
              </a:ext>
            </a:extLst>
          </p:cNvPr>
          <p:cNvGrpSpPr/>
          <p:nvPr/>
        </p:nvGrpSpPr>
        <p:grpSpPr>
          <a:xfrm>
            <a:off x="839788" y="1948357"/>
            <a:ext cx="4701041" cy="1067844"/>
            <a:chOff x="788630" y="1747871"/>
            <a:chExt cx="4701041" cy="1067844"/>
          </a:xfrm>
        </p:grpSpPr>
        <p:sp>
          <p:nvSpPr>
            <p:cNvPr id="9" name="Text Placeholder 8">
              <a:extLst>
                <a:ext uri="{FF2B5EF4-FFF2-40B4-BE49-F238E27FC236}">
                  <a16:creationId xmlns:a16="http://schemas.microsoft.com/office/drawing/2014/main" id="{4F528197-70E9-2281-C53E-45C41E2A2FC7}"/>
                </a:ext>
              </a:extLst>
            </p:cNvPr>
            <p:cNvSpPr txBox="1">
              <a:spLocks/>
            </p:cNvSpPr>
            <p:nvPr/>
          </p:nvSpPr>
          <p:spPr>
            <a:xfrm>
              <a:off x="788630" y="1747871"/>
              <a:ext cx="3384690" cy="276999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Futura Lt BT" panose="020B04020202040203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00000"/>
                </a:lnSpc>
                <a:defRPr/>
              </a:pPr>
              <a:r>
                <a:rPr lang="es-EC" sz="1800" dirty="0">
                  <a:solidFill>
                    <a:schemeClr val="tx1"/>
                  </a:solidFill>
                </a:rPr>
                <a:t>Vulnerabilidad oculta:</a:t>
              </a:r>
              <a:endParaRPr kumimoji="0" lang="es-ES_tradnl" sz="180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6539FE-F651-2805-3196-8BC40A672E45}"/>
                </a:ext>
              </a:extLst>
            </p:cNvPr>
            <p:cNvSpPr txBox="1"/>
            <p:nvPr/>
          </p:nvSpPr>
          <p:spPr>
            <a:xfrm>
              <a:off x="788630" y="2123218"/>
              <a:ext cx="4701041" cy="6924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457200"/>
              <a:r>
                <a:rPr lang="es-EC" sz="1500" dirty="0"/>
                <a:t>El clustering identifica hogares no pobres monetariamente pero con alta carga energética (C0: 5.1%) y vulnerabilidad estructural (C2), perfiles invisibles para el MEPI.</a:t>
              </a:r>
              <a:endParaRPr lang="en-US" sz="15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C136F11-40C8-EEEE-3387-5A05FADCD08D}"/>
              </a:ext>
            </a:extLst>
          </p:cNvPr>
          <p:cNvGrpSpPr/>
          <p:nvPr/>
        </p:nvGrpSpPr>
        <p:grpSpPr>
          <a:xfrm>
            <a:off x="823270" y="3431735"/>
            <a:ext cx="670250" cy="670250"/>
            <a:chOff x="823270" y="3431735"/>
            <a:chExt cx="670250" cy="6702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90268E-5C8E-86B2-F622-0631EE27CFFC}"/>
                </a:ext>
              </a:extLst>
            </p:cNvPr>
            <p:cNvSpPr/>
            <p:nvPr/>
          </p:nvSpPr>
          <p:spPr>
            <a:xfrm>
              <a:off x="823270" y="3431735"/>
              <a:ext cx="670250" cy="670250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602D5AF-FB33-04C1-6514-4AD7A620E29F}"/>
                </a:ext>
              </a:extLst>
            </p:cNvPr>
            <p:cNvSpPr/>
            <p:nvPr/>
          </p:nvSpPr>
          <p:spPr>
            <a:xfrm>
              <a:off x="874475" y="3482940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15" name="Graphic 14" descr="Family with girl con relleno sólido">
              <a:extLst>
                <a:ext uri="{FF2B5EF4-FFF2-40B4-BE49-F238E27FC236}">
                  <a16:creationId xmlns:a16="http://schemas.microsoft.com/office/drawing/2014/main" id="{F4A735FA-86B5-CF7B-4536-D514C4D776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24194" y="3632659"/>
              <a:ext cx="268403" cy="268403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9BF40C-2973-19B4-D3DB-6D673BA7A025}"/>
              </a:ext>
            </a:extLst>
          </p:cNvPr>
          <p:cNvGrpSpPr/>
          <p:nvPr/>
        </p:nvGrpSpPr>
        <p:grpSpPr>
          <a:xfrm>
            <a:off x="823270" y="4422958"/>
            <a:ext cx="670250" cy="670250"/>
            <a:chOff x="823270" y="4422958"/>
            <a:chExt cx="670250" cy="67025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6C2C79F-E90B-6948-CE21-3C62B0E169FA}"/>
                </a:ext>
              </a:extLst>
            </p:cNvPr>
            <p:cNvSpPr/>
            <p:nvPr/>
          </p:nvSpPr>
          <p:spPr>
            <a:xfrm>
              <a:off x="823270" y="4422958"/>
              <a:ext cx="670250" cy="67025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E89EB96-6372-4F35-85BC-E0EBF6B84F01}"/>
                </a:ext>
              </a:extLst>
            </p:cNvPr>
            <p:cNvSpPr/>
            <p:nvPr/>
          </p:nvSpPr>
          <p:spPr>
            <a:xfrm>
              <a:off x="874475" y="4474163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20" name="Graphic 19" descr="Coins con relleno sólido">
              <a:extLst>
                <a:ext uri="{FF2B5EF4-FFF2-40B4-BE49-F238E27FC236}">
                  <a16:creationId xmlns:a16="http://schemas.microsoft.com/office/drawing/2014/main" id="{A2FE6EBA-C82A-7E84-EB0F-C21AF16272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24194" y="4623882"/>
              <a:ext cx="268403" cy="268403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DE7657-878F-B122-DC4E-E71A40A3BF60}"/>
              </a:ext>
            </a:extLst>
          </p:cNvPr>
          <p:cNvGrpSpPr/>
          <p:nvPr/>
        </p:nvGrpSpPr>
        <p:grpSpPr>
          <a:xfrm>
            <a:off x="823270" y="5414181"/>
            <a:ext cx="670250" cy="670250"/>
            <a:chOff x="823270" y="5414181"/>
            <a:chExt cx="670250" cy="6702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B897BCA-7BE0-71CE-8959-E74C517608A6}"/>
                </a:ext>
              </a:extLst>
            </p:cNvPr>
            <p:cNvSpPr/>
            <p:nvPr/>
          </p:nvSpPr>
          <p:spPr>
            <a:xfrm>
              <a:off x="823270" y="5414181"/>
              <a:ext cx="670250" cy="670250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E153D26-DBE8-90D5-3D1B-8DD7812FE8FE}"/>
                </a:ext>
              </a:extLst>
            </p:cNvPr>
            <p:cNvSpPr/>
            <p:nvPr/>
          </p:nvSpPr>
          <p:spPr>
            <a:xfrm>
              <a:off x="874475" y="5465386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25" name="Graphic 24" descr="Fuel con relleno sólido">
              <a:extLst>
                <a:ext uri="{FF2B5EF4-FFF2-40B4-BE49-F238E27FC236}">
                  <a16:creationId xmlns:a16="http://schemas.microsoft.com/office/drawing/2014/main" id="{CE4AC15F-AB74-6070-D9BE-9A4F20D61E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24194" y="5615105"/>
              <a:ext cx="268403" cy="268403"/>
            </a:xfrm>
            <a:prstGeom prst="rect">
              <a:avLst/>
            </a:prstGeom>
          </p:spPr>
        </p:pic>
      </p:grpSp>
      <p:sp>
        <p:nvSpPr>
          <p:cNvPr id="32" name="Rectangle: Single Corner Rounded 31">
            <a:extLst>
              <a:ext uri="{FF2B5EF4-FFF2-40B4-BE49-F238E27FC236}">
                <a16:creationId xmlns:a16="http://schemas.microsoft.com/office/drawing/2014/main" id="{31A54EBF-EE67-2346-76BE-BB6C32072576}"/>
              </a:ext>
            </a:extLst>
          </p:cNvPr>
          <p:cNvSpPr/>
          <p:nvPr/>
        </p:nvSpPr>
        <p:spPr>
          <a:xfrm rot="10800000">
            <a:off x="8055979" y="-1"/>
            <a:ext cx="4136019" cy="5564640"/>
          </a:xfrm>
          <a:prstGeom prst="round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latin typeface="Segoe UI" panose="020B0502040204020203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B5CA0B85-CB02-2EA3-810A-48964A4AA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829" y="866166"/>
            <a:ext cx="6438404" cy="529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20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7" grpId="0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532B0-1BB4-78CD-DCCF-4BD6105A4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EA554C-9872-0E2E-78D4-5474CBC7A143}"/>
              </a:ext>
            </a:extLst>
          </p:cNvPr>
          <p:cNvSpPr txBox="1"/>
          <p:nvPr/>
        </p:nvSpPr>
        <p:spPr>
          <a:xfrm>
            <a:off x="1786673" y="3289806"/>
            <a:ext cx="3760692" cy="95410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s-ES_tradnl" sz="1400" noProof="1">
                <a:latin typeface="Calibri" panose="020F0502020204030204" pitchFamily="34" charset="0"/>
                <a:ea typeface="Atyp Display Light" panose="00000400000000000000" pitchFamily="2" charset="0"/>
                <a:cs typeface="Calibri" panose="020F0502020204030204" pitchFamily="34" charset="0"/>
              </a:rPr>
              <a:t>Los tres clústeres están dominados por hogares no monetariamente pobres (80–97%), lo que confirma que la pobreza energética no se solapa con la pobreza de ingresos.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08B8D4-9912-5DFD-32D1-2833D405B13F}"/>
              </a:ext>
            </a:extLst>
          </p:cNvPr>
          <p:cNvSpPr txBox="1"/>
          <p:nvPr/>
        </p:nvSpPr>
        <p:spPr>
          <a:xfrm>
            <a:off x="1786674" y="4388751"/>
            <a:ext cx="3760691" cy="73866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s-EC" sz="1400" dirty="0"/>
              <a:t>El MEPI clasifica como no pobres energéticos al 62,7% de C0, ignorando que ese clúster tiene la mayor carga energética.</a:t>
            </a:r>
            <a:endParaRPr lang="en-US" sz="1400" dirty="0">
              <a:latin typeface="Segoe UI" panose="020B0502040204020203" pitchFamily="34" charset="0"/>
              <a:ea typeface="Atyp Display Light" panose="000004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2E5C76-A510-62EC-28E2-8A9BE89346EA}"/>
              </a:ext>
            </a:extLst>
          </p:cNvPr>
          <p:cNvSpPr txBox="1"/>
          <p:nvPr/>
        </p:nvSpPr>
        <p:spPr>
          <a:xfrm>
            <a:off x="1786673" y="5333807"/>
            <a:ext cx="3755398" cy="95410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s-EC" sz="1400" dirty="0"/>
              <a:t>C0 concentra la mayor proporción de pobres energéticos según el MEPI (37,3%), pero incluso allí más de la mitad queda fuera del radar del índice.</a:t>
            </a:r>
            <a:endParaRPr lang="en-US" sz="1400" dirty="0">
              <a:latin typeface="Segoe UI" panose="020B0502040204020203" pitchFamily="34" charset="0"/>
              <a:ea typeface="Atyp Display Light" panose="000004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699F823-92A6-7AB9-74E6-BD3C821B9A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960438"/>
            <a:ext cx="5256212" cy="838200"/>
          </a:xfrm>
        </p:spPr>
        <p:txBody>
          <a:bodyPr/>
          <a:lstStyle/>
          <a:p>
            <a:r>
              <a:rPr lang="es-ES_tradnl" noProof="1"/>
              <a:t>Pobreza por clústeres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B185220-6E7F-FCC0-9C5B-B08C55108886}"/>
              </a:ext>
            </a:extLst>
          </p:cNvPr>
          <p:cNvGrpSpPr/>
          <p:nvPr/>
        </p:nvGrpSpPr>
        <p:grpSpPr>
          <a:xfrm>
            <a:off x="839788" y="1948357"/>
            <a:ext cx="4701041" cy="1067844"/>
            <a:chOff x="788630" y="1747871"/>
            <a:chExt cx="4701041" cy="1067844"/>
          </a:xfrm>
        </p:grpSpPr>
        <p:sp>
          <p:nvSpPr>
            <p:cNvPr id="9" name="Text Placeholder 8">
              <a:extLst>
                <a:ext uri="{FF2B5EF4-FFF2-40B4-BE49-F238E27FC236}">
                  <a16:creationId xmlns:a16="http://schemas.microsoft.com/office/drawing/2014/main" id="{021AE958-46CF-FE2B-700A-69DFB13A407E}"/>
                </a:ext>
              </a:extLst>
            </p:cNvPr>
            <p:cNvSpPr txBox="1">
              <a:spLocks/>
            </p:cNvSpPr>
            <p:nvPr/>
          </p:nvSpPr>
          <p:spPr>
            <a:xfrm>
              <a:off x="788630" y="1747871"/>
              <a:ext cx="3384690" cy="276999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Futura Lt BT" panose="020B04020202040203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00000"/>
                </a:lnSpc>
                <a:defRPr/>
              </a:pPr>
              <a:r>
                <a:rPr lang="es-EC" sz="1800" dirty="0">
                  <a:solidFill>
                    <a:schemeClr val="tx1"/>
                  </a:solidFill>
                </a:rPr>
                <a:t>Vulnerabilidad oculta:</a:t>
              </a:r>
              <a:endParaRPr kumimoji="0" lang="es-ES_tradnl" sz="180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216BED-46E9-BC8E-27F9-BFDE1B1C85FF}"/>
                </a:ext>
              </a:extLst>
            </p:cNvPr>
            <p:cNvSpPr txBox="1"/>
            <p:nvPr/>
          </p:nvSpPr>
          <p:spPr>
            <a:xfrm>
              <a:off x="788630" y="2123218"/>
              <a:ext cx="4701041" cy="6924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457200"/>
              <a:r>
                <a:rPr lang="es-EC" sz="1500" dirty="0"/>
                <a:t>El clustering identifica hogares no pobres monetariamente pero con alta carga energética (C0: 5,1%) y vulnerabilidad estructural (C2), perfiles invisibles para el MEPI.</a:t>
              </a:r>
              <a:endParaRPr lang="en-US" sz="15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9484C6-A1B6-C160-2CC1-D4E298AF5D65}"/>
              </a:ext>
            </a:extLst>
          </p:cNvPr>
          <p:cNvGrpSpPr/>
          <p:nvPr/>
        </p:nvGrpSpPr>
        <p:grpSpPr>
          <a:xfrm>
            <a:off x="823270" y="3431735"/>
            <a:ext cx="670250" cy="670250"/>
            <a:chOff x="823270" y="3431735"/>
            <a:chExt cx="670250" cy="6702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3DC157B-58C1-6150-F90A-7210079A0661}"/>
                </a:ext>
              </a:extLst>
            </p:cNvPr>
            <p:cNvSpPr/>
            <p:nvPr/>
          </p:nvSpPr>
          <p:spPr>
            <a:xfrm>
              <a:off x="823270" y="3431735"/>
              <a:ext cx="670250" cy="670250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47C9337-152D-8277-AB35-C8A80C7B0A57}"/>
                </a:ext>
              </a:extLst>
            </p:cNvPr>
            <p:cNvSpPr/>
            <p:nvPr/>
          </p:nvSpPr>
          <p:spPr>
            <a:xfrm>
              <a:off x="874475" y="3482940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15" name="Graphic 14" descr="Family with girl con relleno sólido">
              <a:extLst>
                <a:ext uri="{FF2B5EF4-FFF2-40B4-BE49-F238E27FC236}">
                  <a16:creationId xmlns:a16="http://schemas.microsoft.com/office/drawing/2014/main" id="{CFAF105E-3962-25AF-FF71-962EB6972F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24194" y="3632659"/>
              <a:ext cx="268403" cy="268403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1BA7668-0EBE-FFB7-05F0-07857B7B1D0F}"/>
              </a:ext>
            </a:extLst>
          </p:cNvPr>
          <p:cNvGrpSpPr/>
          <p:nvPr/>
        </p:nvGrpSpPr>
        <p:grpSpPr>
          <a:xfrm>
            <a:off x="823270" y="4422958"/>
            <a:ext cx="670250" cy="670250"/>
            <a:chOff x="823270" y="4422958"/>
            <a:chExt cx="670250" cy="67025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1DCF10D-D9AC-1037-4C2B-EE3EA9F22218}"/>
                </a:ext>
              </a:extLst>
            </p:cNvPr>
            <p:cNvSpPr/>
            <p:nvPr/>
          </p:nvSpPr>
          <p:spPr>
            <a:xfrm>
              <a:off x="823270" y="4422958"/>
              <a:ext cx="670250" cy="67025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FC5D51F-32B8-423D-BC61-048E86DC06E7}"/>
                </a:ext>
              </a:extLst>
            </p:cNvPr>
            <p:cNvSpPr/>
            <p:nvPr/>
          </p:nvSpPr>
          <p:spPr>
            <a:xfrm>
              <a:off x="874475" y="4474163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20" name="Graphic 19" descr="Coins con relleno sólido">
              <a:extLst>
                <a:ext uri="{FF2B5EF4-FFF2-40B4-BE49-F238E27FC236}">
                  <a16:creationId xmlns:a16="http://schemas.microsoft.com/office/drawing/2014/main" id="{317D0614-699A-A587-9671-DC67D21C8F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24194" y="4623882"/>
              <a:ext cx="268403" cy="268403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F97F908-A182-AB4A-4E08-DF0D74920575}"/>
              </a:ext>
            </a:extLst>
          </p:cNvPr>
          <p:cNvGrpSpPr/>
          <p:nvPr/>
        </p:nvGrpSpPr>
        <p:grpSpPr>
          <a:xfrm>
            <a:off x="823270" y="5414181"/>
            <a:ext cx="670250" cy="670250"/>
            <a:chOff x="823270" y="5414181"/>
            <a:chExt cx="670250" cy="6702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84024E4-9E39-B3C0-35B0-D47F83CEED42}"/>
                </a:ext>
              </a:extLst>
            </p:cNvPr>
            <p:cNvSpPr/>
            <p:nvPr/>
          </p:nvSpPr>
          <p:spPr>
            <a:xfrm>
              <a:off x="823270" y="5414181"/>
              <a:ext cx="670250" cy="670250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C2B2D37-08B0-225B-1FAE-FC1F7F5964E6}"/>
                </a:ext>
              </a:extLst>
            </p:cNvPr>
            <p:cNvSpPr/>
            <p:nvPr/>
          </p:nvSpPr>
          <p:spPr>
            <a:xfrm>
              <a:off x="874475" y="5465386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25" name="Graphic 24" descr="Fuel con relleno sólido">
              <a:extLst>
                <a:ext uri="{FF2B5EF4-FFF2-40B4-BE49-F238E27FC236}">
                  <a16:creationId xmlns:a16="http://schemas.microsoft.com/office/drawing/2014/main" id="{C27AE3D1-19D1-582D-5B15-7779A05090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24194" y="5615105"/>
              <a:ext cx="268403" cy="268403"/>
            </a:xfrm>
            <a:prstGeom prst="rect">
              <a:avLst/>
            </a:prstGeom>
          </p:spPr>
        </p:pic>
      </p:grpSp>
      <p:sp>
        <p:nvSpPr>
          <p:cNvPr id="32" name="Rectangle: Single Corner Rounded 31">
            <a:extLst>
              <a:ext uri="{FF2B5EF4-FFF2-40B4-BE49-F238E27FC236}">
                <a16:creationId xmlns:a16="http://schemas.microsoft.com/office/drawing/2014/main" id="{38D7E1E1-3CF5-2313-6CC1-02696DC3BD8C}"/>
              </a:ext>
            </a:extLst>
          </p:cNvPr>
          <p:cNvSpPr/>
          <p:nvPr/>
        </p:nvSpPr>
        <p:spPr>
          <a:xfrm rot="10800000">
            <a:off x="8055979" y="-1"/>
            <a:ext cx="4136019" cy="5564640"/>
          </a:xfrm>
          <a:prstGeom prst="round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latin typeface="Segoe UI" panose="020B0502040204020203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F8E92BE-51BD-9458-D445-EEA7BD64D1FE}"/>
              </a:ext>
            </a:extLst>
          </p:cNvPr>
          <p:cNvGrpSpPr/>
          <p:nvPr/>
        </p:nvGrpSpPr>
        <p:grpSpPr>
          <a:xfrm>
            <a:off x="6130579" y="272734"/>
            <a:ext cx="5716690" cy="6312532"/>
            <a:chOff x="6319953" y="245650"/>
            <a:chExt cx="5716690" cy="6312532"/>
          </a:xfrm>
        </p:grpSpPr>
        <p:pic>
          <p:nvPicPr>
            <p:cNvPr id="6146" name="Picture 2">
              <a:extLst>
                <a:ext uri="{FF2B5EF4-FFF2-40B4-BE49-F238E27FC236}">
                  <a16:creationId xmlns:a16="http://schemas.microsoft.com/office/drawing/2014/main" id="{C73DB996-C304-932D-EBA9-AD32B78FAF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9953" y="245650"/>
              <a:ext cx="5716689" cy="31509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48" name="Picture 4">
              <a:extLst>
                <a:ext uri="{FF2B5EF4-FFF2-40B4-BE49-F238E27FC236}">
                  <a16:creationId xmlns:a16="http://schemas.microsoft.com/office/drawing/2014/main" id="{E49C70C3-BFA8-99B9-FEA6-E234B04F73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9953" y="3396581"/>
              <a:ext cx="5716690" cy="3161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6959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7" grpId="0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A person carrying books and a backpack&#10;&#10;Description automatically generated">
            <a:extLst>
              <a:ext uri="{FF2B5EF4-FFF2-40B4-BE49-F238E27FC236}">
                <a16:creationId xmlns:a16="http://schemas.microsoft.com/office/drawing/2014/main" id="{A0DD2D25-C714-6E93-2F4F-55D1212AE43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36" t="3317" r="21435" b="3317"/>
          <a:stretch/>
        </p:blipFill>
        <p:spPr>
          <a:xfrm>
            <a:off x="1588" y="2"/>
            <a:ext cx="6949440" cy="685146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9192C4-64B4-8F0F-E44C-EDDA4383E1D4}"/>
              </a:ext>
            </a:extLst>
          </p:cNvPr>
          <p:cNvSpPr txBox="1"/>
          <p:nvPr/>
        </p:nvSpPr>
        <p:spPr>
          <a:xfrm>
            <a:off x="7613383" y="703701"/>
            <a:ext cx="3669387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1218987"/>
            <a:r>
              <a:rPr lang="es-ES_tradnl" sz="4400" b="1" noProof="1">
                <a:solidFill>
                  <a:prstClr val="white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Conclusiones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5FBB0-8135-3028-2E5D-368FF281722E}"/>
              </a:ext>
            </a:extLst>
          </p:cNvPr>
          <p:cNvSpPr/>
          <p:nvPr/>
        </p:nvSpPr>
        <p:spPr>
          <a:xfrm>
            <a:off x="7613383" y="1533378"/>
            <a:ext cx="3674514" cy="102694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defTabSz="1218987">
              <a:lnSpc>
                <a:spcPct val="110000"/>
              </a:lnSpc>
            </a:pPr>
            <a:r>
              <a:rPr lang="es-ES_tradnl" sz="1600" noProof="1">
                <a:solidFill>
                  <a:prstClr val="white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El clustering identifica hogares no pobres monetariamente, pero con alta carga energética que el MEPI no captura.</a:t>
            </a:r>
            <a:endParaRPr lang="es-ES_tradnl" sz="1600" noProof="1">
              <a:solidFill>
                <a:prstClr val="white"/>
              </a:solidFill>
              <a:latin typeface="Segoe UI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3FC913-0F02-498B-4954-2F07638B8AC5}"/>
              </a:ext>
            </a:extLst>
          </p:cNvPr>
          <p:cNvSpPr/>
          <p:nvPr/>
        </p:nvSpPr>
        <p:spPr>
          <a:xfrm>
            <a:off x="7613384" y="2978331"/>
            <a:ext cx="744583" cy="744583"/>
          </a:xfrm>
          <a:prstGeom prst="ellipse">
            <a:avLst/>
          </a:prstGeom>
          <a:solidFill>
            <a:srgbClr val="FE98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US" sz="240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7E03DF-BF00-13FD-6BB3-7BBB48773A50}"/>
              </a:ext>
            </a:extLst>
          </p:cNvPr>
          <p:cNvSpPr/>
          <p:nvPr/>
        </p:nvSpPr>
        <p:spPr>
          <a:xfrm>
            <a:off x="8693751" y="2752837"/>
            <a:ext cx="2855992" cy="11268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defTabSz="1218987">
              <a:lnSpc>
                <a:spcPct val="110000"/>
              </a:lnSpc>
            </a:pPr>
            <a:r>
              <a:rPr lang="es-ES_tradnl" sz="1400" noProof="1">
                <a:solidFill>
                  <a:prstClr val="white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Hogares monetariamente pobres, pero con alta carga energética (C0: 5,1%), invisibles para el MEPI en un 62,7%.</a:t>
            </a:r>
            <a:endParaRPr lang="es-ES_tradnl" sz="1400" noProof="1">
              <a:solidFill>
                <a:prstClr val="white"/>
              </a:solidFill>
              <a:latin typeface="Segoe UI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1164BEB-E849-9872-39FF-3248C0983A5D}"/>
              </a:ext>
            </a:extLst>
          </p:cNvPr>
          <p:cNvSpPr/>
          <p:nvPr/>
        </p:nvSpPr>
        <p:spPr>
          <a:xfrm>
            <a:off x="7613384" y="4088674"/>
            <a:ext cx="744583" cy="744583"/>
          </a:xfrm>
          <a:prstGeom prst="ellipse">
            <a:avLst/>
          </a:prstGeom>
          <a:solidFill>
            <a:srgbClr val="FE98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US" sz="240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3A0581-DE4A-71CB-940C-4431C9430FF7}"/>
              </a:ext>
            </a:extLst>
          </p:cNvPr>
          <p:cNvSpPr/>
          <p:nvPr/>
        </p:nvSpPr>
        <p:spPr>
          <a:xfrm>
            <a:off x="8693751" y="3979061"/>
            <a:ext cx="3139020" cy="96380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defTabSz="1218987">
              <a:lnSpc>
                <a:spcPct val="110000"/>
              </a:lnSpc>
            </a:pPr>
            <a:r>
              <a:rPr lang="es-ES_tradnl" sz="1400" noProof="1">
                <a:solidFill>
                  <a:prstClr val="white"/>
                </a:solidFill>
                <a:latin typeface="Segoe UI"/>
                <a:ea typeface="Open Sans" panose="020B0606030504020204" pitchFamily="34" charset="0"/>
                <a:cs typeface="Open Sans" panose="020B0606030504020204" pitchFamily="34" charset="0"/>
              </a:rPr>
              <a:t>El C0 tiene el menor ingreso (S/ 21,305) pero la mayor carga energética (5,1%), con 80,5% clasificado como no pobre monetariamente.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082B6C0-137C-7F2A-B260-126E6272B64D}"/>
              </a:ext>
            </a:extLst>
          </p:cNvPr>
          <p:cNvSpPr/>
          <p:nvPr/>
        </p:nvSpPr>
        <p:spPr>
          <a:xfrm>
            <a:off x="7613384" y="5199017"/>
            <a:ext cx="744583" cy="744583"/>
          </a:xfrm>
          <a:prstGeom prst="ellipse">
            <a:avLst/>
          </a:prstGeom>
          <a:solidFill>
            <a:srgbClr val="FE98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US" sz="240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B4BDFB-A618-95EA-FEA5-26A202FE3982}"/>
              </a:ext>
            </a:extLst>
          </p:cNvPr>
          <p:cNvSpPr/>
          <p:nvPr/>
        </p:nvSpPr>
        <p:spPr>
          <a:xfrm>
            <a:off x="8693751" y="5199017"/>
            <a:ext cx="3139020" cy="74458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defTabSz="1218987">
              <a:lnSpc>
                <a:spcPct val="110000"/>
              </a:lnSpc>
            </a:pPr>
            <a:r>
              <a:rPr lang="es-ES_tradnl" sz="1400" noProof="1">
                <a:solidFill>
                  <a:prstClr val="white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Los resultados disponibles no permiten responderla: no se realizó un análisis intraclúster </a:t>
            </a:r>
            <a:r>
              <a:rPr lang="es-ES_tradnl" sz="1400" noProof="1">
                <a:solidFill>
                  <a:prstClr val="white"/>
                </a:solidFill>
                <a:latin typeface="Segoe UI"/>
                <a:ea typeface="Open Sans" panose="020B0606030504020204" pitchFamily="34" charset="0"/>
                <a:cs typeface="Open Sans" panose="020B0606030504020204" pitchFamily="34" charset="0"/>
              </a:rPr>
              <a:t>por área.</a:t>
            </a:r>
          </a:p>
        </p:txBody>
      </p:sp>
      <p:pic>
        <p:nvPicPr>
          <p:cNvPr id="43" name="Graphic 42" descr="Graduation cap outline">
            <a:extLst>
              <a:ext uri="{FF2B5EF4-FFF2-40B4-BE49-F238E27FC236}">
                <a16:creationId xmlns:a16="http://schemas.microsoft.com/office/drawing/2014/main" id="{2DD225A6-861B-FB3C-838E-9F46AD061F7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7409" y="5383042"/>
            <a:ext cx="376530" cy="376530"/>
          </a:xfrm>
          <a:prstGeom prst="rect">
            <a:avLst/>
          </a:prstGeom>
        </p:spPr>
      </p:pic>
      <p:pic>
        <p:nvPicPr>
          <p:cNvPr id="45" name="Graphic 44" descr="Hourglass Finished outline">
            <a:extLst>
              <a:ext uri="{FF2B5EF4-FFF2-40B4-BE49-F238E27FC236}">
                <a16:creationId xmlns:a16="http://schemas.microsoft.com/office/drawing/2014/main" id="{11E16234-F6DD-107F-0A4A-F7A5293B159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7409" y="4272699"/>
            <a:ext cx="376530" cy="376530"/>
          </a:xfrm>
          <a:prstGeom prst="rect">
            <a:avLst/>
          </a:prstGeom>
        </p:spPr>
      </p:pic>
      <p:pic>
        <p:nvPicPr>
          <p:cNvPr id="47" name="Graphic 46" descr="Closed book outline">
            <a:extLst>
              <a:ext uri="{FF2B5EF4-FFF2-40B4-BE49-F238E27FC236}">
                <a16:creationId xmlns:a16="http://schemas.microsoft.com/office/drawing/2014/main" id="{FBA4DA4D-AB03-8E23-B0CB-19406EB5941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7409" y="3162356"/>
            <a:ext cx="376530" cy="3765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1ACC5E-6BB1-A1A5-E724-F314C350ED76}"/>
              </a:ext>
            </a:extLst>
          </p:cNvPr>
          <p:cNvSpPr/>
          <p:nvPr/>
        </p:nvSpPr>
        <p:spPr>
          <a:xfrm>
            <a:off x="0" y="6530"/>
            <a:ext cx="7176119" cy="6858000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US" sz="2400">
              <a:solidFill>
                <a:prstClr val="white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3599775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28E19A6-AF52-91C5-48AD-6777DDA8799A}"/>
              </a:ext>
            </a:extLst>
          </p:cNvPr>
          <p:cNvSpPr txBox="1"/>
          <p:nvPr/>
        </p:nvSpPr>
        <p:spPr>
          <a:xfrm>
            <a:off x="4608786" y="2967335"/>
            <a:ext cx="2974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5400" b="1" dirty="0">
                <a:solidFill>
                  <a:schemeClr val="bg1"/>
                </a:solidFill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ustom 691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053982"/>
      </a:accent1>
      <a:accent2>
        <a:srgbClr val="4965A5"/>
      </a:accent2>
      <a:accent3>
        <a:srgbClr val="DFE2EA"/>
      </a:accent3>
      <a:accent4>
        <a:srgbClr val="EEEEEB"/>
      </a:accent4>
      <a:accent5>
        <a:srgbClr val="FE9809"/>
      </a:accent5>
      <a:accent6>
        <a:srgbClr val="E2201D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1244</Words>
  <Application>Microsoft Macintosh PowerPoint</Application>
  <PresentationFormat>Panorámica</PresentationFormat>
  <Paragraphs>212</Paragraphs>
  <Slides>12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Open Sans</vt:lpstr>
      <vt:lpstr>Segoe UI</vt:lpstr>
      <vt:lpstr>Segoe UI Black</vt:lpstr>
      <vt:lpstr>Times New Roman</vt:lpstr>
      <vt:lpstr>Tema de Office</vt:lpstr>
      <vt:lpstr>Office Theme</vt:lpstr>
      <vt:lpstr>POBREZA ENERGÉTICA EN EL PERÚ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Gonzalo Pasiche Manrique</dc:creator>
  <cp:lastModifiedBy>Daniela Sánchez</cp:lastModifiedBy>
  <cp:revision>40</cp:revision>
  <dcterms:created xsi:type="dcterms:W3CDTF">2026-07-30T20:56:47Z</dcterms:created>
  <dcterms:modified xsi:type="dcterms:W3CDTF">2026-09-09T00:54:25Z</dcterms:modified>
</cp:coreProperties>
</file>